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0058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5  ·  AI Systems Engineering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4944" y="1408176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Evaluation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Advanced RAG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4944" y="3236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what works — and fixing what doesn't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4187952"/>
            <a:ext cx="2743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41513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Evaluate RAG?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" y="4517136"/>
            <a:ext cx="274320" cy="25603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44805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&amp; Keyword Coverage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" y="4846320"/>
            <a:ext cx="274320" cy="25603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48097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" y="5175504"/>
            <a:ext cx="274320" cy="25603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51389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5504688"/>
            <a:ext cx="274320" cy="25603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546811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" y="5833872"/>
            <a:ext cx="274320" cy="25603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57972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645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Raman Global University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20848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Centre of Excellence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487168"/>
            <a:ext cx="5303520" cy="36576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596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~1.5 hours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035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learn: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493008"/>
            <a:ext cx="201168" cy="20116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338328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RAG retrieval with MRR and keyword coverage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968496"/>
            <a:ext cx="201168" cy="20116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85876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answer quality using LLM-as-Judge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443984"/>
            <a:ext cx="201168" cy="20116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433425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when embedding similarity ≠ relevance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4919472"/>
            <a:ext cx="201168" cy="20116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80974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vague queries into effective search queries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5394960"/>
            <a:ext cx="201168" cy="20116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528523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retrieved documents for better precision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Evaluate RAG?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can fail in different ways — each failure mode requires a different fix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2286000" cy="347472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88336" y="1078992"/>
            <a:ext cx="2743200" cy="347472"/>
          </a:xfrm>
          <a:prstGeom prst="rect">
            <a:avLst/>
          </a:prstGeom>
          <a:solidFill>
            <a:srgbClr val="555566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68112" y="1078992"/>
            <a:ext cx="3474720" cy="34747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79408" y="1078992"/>
            <a:ext cx="2834640" cy="34747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9408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You'd Know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499616"/>
            <a:ext cx="2286000" cy="91440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499616"/>
            <a:ext cx="64008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49961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88336" y="1499616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1591056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documents retrieved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68112" y="1499616"/>
            <a:ext cx="347472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1591056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policy query returns product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79408" y="1499616"/>
            <a:ext cx="2834640" cy="914400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7424" y="1591056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MRR  ·  Low keyword coverage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523744"/>
            <a:ext cx="22860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523744"/>
            <a:ext cx="64008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5237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688336" y="2523744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2615184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docs, but LLM gives wrong answer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68112" y="2523744"/>
            <a:ext cx="347472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615184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contain correct info — LLM hallucinates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79408" y="2523744"/>
            <a:ext cx="2834640" cy="914400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7424" y="2615184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accuracy score from judge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547872"/>
            <a:ext cx="2286000" cy="914400"/>
          </a:xfrm>
          <a:prstGeom prst="rect">
            <a:avLst/>
          </a:prstGeom>
          <a:solidFill>
            <a:srgbClr val="F5F0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547872"/>
            <a:ext cx="64008" cy="9144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478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88336" y="3547872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3639312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doesn't actually help the user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68112" y="3547872"/>
            <a:ext cx="347472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3639312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correct but misses the point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79408" y="3547872"/>
            <a:ext cx="2834640" cy="914400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07424" y="363931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relevance score from judge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11430000" cy="438912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46177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can't improve what you can't measure" — evaluation tells you </a:t>
            </a:r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pipeline is breaking so you can target your fixes.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Sides of RAG Evaluation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 and answer quality separately — they fail for different reasons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5394960" cy="4169664"/>
          </a:xfrm>
          <a:prstGeom prst="rect">
            <a:avLst/>
          </a:prstGeom>
          <a:solidFill>
            <a:srgbClr val="EEF3FF"/>
          </a:solidFill>
          <a:ln w="25400">
            <a:solidFill>
              <a:srgbClr val="1B5E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78992"/>
            <a:ext cx="5394960" cy="420624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789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157276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the right documents?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956816"/>
            <a:ext cx="5065776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956816"/>
            <a:ext cx="64008" cy="1243584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084832"/>
            <a:ext cx="566928" cy="56692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2066544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2395728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 — measures how high the first relevant document appears in the 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383280"/>
            <a:ext cx="5065776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64008" cy="1243584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511296"/>
            <a:ext cx="566928" cy="56692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3493008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Coverage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89888" y="3822192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retrieved documents contain the expected keywords from the ground-truth answer?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078992"/>
            <a:ext cx="5394960" cy="4169664"/>
          </a:xfrm>
          <a:prstGeom prst="rect">
            <a:avLst/>
          </a:prstGeom>
          <a:solidFill>
            <a:srgbClr val="F0FFF4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078992"/>
            <a:ext cx="539496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07899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QUALITY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28816" y="157276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generate a good answer?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65392" y="1956816"/>
            <a:ext cx="506577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1956816"/>
            <a:ext cx="6400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5088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48272" y="234086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information factually correct compared to the reference answer?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65392" y="2907792"/>
            <a:ext cx="506577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2907792"/>
            <a:ext cx="64008" cy="822960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05088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48272" y="329184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cover all key points present in the reference?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65392" y="3858768"/>
            <a:ext cx="506577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3858768"/>
            <a:ext cx="64008" cy="822960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48272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05088" y="39136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48272" y="4242816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actually address the question the user asked?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70448" y="283464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91A"/>
                </a:solidFill>
              </a:rPr>
              <a:t>↕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760720" y="3218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— Mean Reciprocal Rank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high the first relevant document appears in search results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512064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 →  Reciprocal Rank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5120640" cy="621792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63040"/>
            <a:ext cx="64008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554480"/>
            <a:ext cx="100584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5544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1554480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1/1 = 1.00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5120640" cy="621792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76272"/>
            <a:ext cx="64008" cy="62179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67712"/>
            <a:ext cx="1005840" cy="420624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677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22677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1/2 = 0.50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512064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89504"/>
            <a:ext cx="64008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2980944"/>
            <a:ext cx="1005840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9809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64208" y="298094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1/3 = 0.33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5120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02736"/>
            <a:ext cx="6400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694176"/>
            <a:ext cx="1005840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6941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64208" y="369417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5760" y="4352544"/>
            <a:ext cx="5120640" cy="40233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5254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Average Reciprocal Rank across all test queries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078992"/>
            <a:ext cx="5943600" cy="329184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10789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"Who founded TechSolutions?"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52160" y="1481328"/>
            <a:ext cx="5943600" cy="694944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25312" y="1572768"/>
            <a:ext cx="384048" cy="4937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1572768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1591056"/>
            <a:ext cx="5266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"TechSolutions India was founded in 2018 by Priya Sharma..."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789920" y="1609344"/>
            <a:ext cx="804672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0" y="1609344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 = 1.0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52160" y="2267712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25312" y="2359152"/>
            <a:ext cx="384048" cy="493776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359152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0" y="2377440"/>
            <a:ext cx="5266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"Priya Sharma is the CEO and co-founder, education IIT Delhi..."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52160" y="3054096"/>
            <a:ext cx="5943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25312" y="3145536"/>
            <a:ext cx="384048" cy="493776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3145536"/>
            <a:ext cx="384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0" y="3163824"/>
            <a:ext cx="5266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"Major clients include HDFC Bank, Tata Motors..."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895344"/>
            <a:ext cx="5943600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38953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rank position affects score: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52160" y="4224528"/>
            <a:ext cx="1901952" cy="56692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2245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 at rank 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43600" y="45171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845552" y="4224528"/>
            <a:ext cx="1901952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36992" y="42245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 at rank 2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36992" y="45171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838944" y="4224528"/>
            <a:ext cx="1901952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30384" y="422452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 at rank 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930384" y="45171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Coverage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retrieval metric — did the retrieved documents contain the expected keywords?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11430000" cy="51206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7899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</a:t>
            </a:r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found  ÷  total expected keywords  ×  100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3108960" cy="347472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0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11296" y="1700784"/>
            <a:ext cx="3474720" cy="34747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700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Keywords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22592" y="1700784"/>
            <a:ext cx="1463040" cy="34747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1700784"/>
            <a:ext cx="325526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170078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3108960" cy="822960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03120"/>
            <a:ext cx="6400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5798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 founded TechSolutions?"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11296" y="210312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2157984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 ·  Sharma  ·  Rahul  ·  Verma  ·  2018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22592" y="2103120"/>
            <a:ext cx="1463040" cy="822960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21579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22208" y="2103120"/>
            <a:ext cx="3255264" cy="822960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2267712"/>
            <a:ext cx="512064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2267712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35440" y="2267712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65760" y="3072384"/>
            <a:ext cx="310896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072384"/>
            <a:ext cx="64008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12724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leave policy?"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11296" y="3072384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3127248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·  paid  ·  10  ·  sick  ·  leaves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22592" y="3072384"/>
            <a:ext cx="146304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1272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22208" y="3072384"/>
            <a:ext cx="3255264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13648" y="3236976"/>
            <a:ext cx="512064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23697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35440" y="323697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365760" y="3785616"/>
            <a:ext cx="11430000" cy="512064"/>
          </a:xfrm>
          <a:prstGeom prst="rect">
            <a:avLst/>
          </a:prstGeom>
          <a:solidFill>
            <a:srgbClr val="FFF8E1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785616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37856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Leave policy: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doc is in the results (60% coverage) but was ranked </a:t>
            </a:r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answer will be incomplete unless we fix retrieval ordering.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407408"/>
            <a:ext cx="11430000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44074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MRR + Keyword Coverage together: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4736592"/>
            <a:ext cx="3730752" cy="56692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736592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73659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coverage + High MRR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502920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working well 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87952" y="4736592"/>
            <a:ext cx="3730752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87952" y="4736592"/>
            <a:ext cx="64008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473659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coverage + Low MRR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370832" y="502920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docs found but ranked poorly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10144" y="4736592"/>
            <a:ext cx="3730752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10144" y="4736592"/>
            <a:ext cx="64008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93024" y="473659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coverage + Low MRR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193024" y="502920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docs retrieved entirely — fix embeddings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— Scoring Answer Quality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to rate generated answers against a reference — fast, scalable, no human labeling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3730752" cy="129844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78992"/>
            <a:ext cx="3730752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07008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0700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5568" y="1572768"/>
            <a:ext cx="5486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572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190195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information factually correct compared to the reference answer?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87952" y="1078992"/>
            <a:ext cx="3730752" cy="1298448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1078992"/>
            <a:ext cx="3730752" cy="6400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1207008"/>
            <a:ext cx="475488" cy="475488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20700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572768"/>
            <a:ext cx="548640" cy="25603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72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52544" y="190195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cover all key points present in the reference?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10144" y="1078992"/>
            <a:ext cx="3730752" cy="1298448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1078992"/>
            <a:ext cx="3730752" cy="6400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4736" y="1207008"/>
            <a:ext cx="475488" cy="475488"/>
          </a:xfrm>
          <a:prstGeom prst="ellipse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59952" y="120700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759952" y="1572768"/>
            <a:ext cx="548640" cy="25603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1572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–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74736" y="190195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actually address the question the user asked?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2487168"/>
            <a:ext cx="11430000" cy="31089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248716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Incomplete Answer Gets Caught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2871216"/>
            <a:ext cx="7680960" cy="566928"/>
          </a:xfrm>
          <a:prstGeom prst="rect">
            <a:avLst/>
          </a:prstGeom>
          <a:solidFill>
            <a:srgbClr val="EEF3FF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871216"/>
            <a:ext cx="64008" cy="566928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2962656"/>
            <a:ext cx="1426464" cy="384048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29626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84832" y="2962656"/>
            <a:ext cx="5833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founded TechSolutions India and when?"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529584"/>
            <a:ext cx="7680960" cy="56692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529584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" y="3621024"/>
            <a:ext cx="1426464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62102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Answer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084832" y="3621024"/>
            <a:ext cx="5833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"Priya Sharma and Rahul Verma founded TechSolutions India in 2018 in Bhubaneswar."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187952"/>
            <a:ext cx="7680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187952"/>
            <a:ext cx="64008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" y="4279392"/>
            <a:ext cx="1426464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279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Answer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84832" y="4279392"/>
            <a:ext cx="5833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"TechSolutions India was founded by Priya Sharma in 2018."  — missing Rahul Verma!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2871216"/>
            <a:ext cx="3566160" cy="56692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2944368"/>
            <a:ext cx="658368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294436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07424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 Facts are correct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29600" y="3529584"/>
            <a:ext cx="35661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21040" y="3602736"/>
            <a:ext cx="658368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360273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07424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 Missing Rahul Verma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229600" y="4187952"/>
            <a:ext cx="3566160" cy="566928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21040" y="4261104"/>
            <a:ext cx="658368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0" y="426110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07424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 Answers the question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" y="4882896"/>
            <a:ext cx="11430000" cy="40233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" y="4882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scalable — correlates well with human judgment. But LLM judges can prefer longer or more verbose answers. For production scale, see the </a:t>
            </a:r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framework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Basic RAG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assumes embedding similarity = relevance. In practice, this breaks down.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53949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78992"/>
            <a:ext cx="5248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1 — Embeddings Miss Nuance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5394960" cy="1536192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54480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Bi-encoders embed query and document independently — they never see each other's words. Relevance depends entirely on how close the two vectors land in embedding space.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2212848"/>
            <a:ext cx="640080" cy="31089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128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43584" y="221284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has advanced degrees?"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2633472"/>
            <a:ext cx="640080" cy="310896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633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43584" y="2633472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holds a PhD from IISc Bangalore"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5394960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72384"/>
            <a:ext cx="64008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0723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cosine similarity — PhD and "advanced degree" mean the same thing, but the vectors are far apart.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078992"/>
            <a:ext cx="57607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0789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2 — Users Don't Write Search Queries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481328"/>
            <a:ext cx="237744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481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users actually ask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49056" y="1481328"/>
            <a:ext cx="3346704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148132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retrieves better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1847088"/>
            <a:ext cx="2377440" cy="676656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192024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get if I join?"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20116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0" y="1847088"/>
            <a:ext cx="3108960" cy="67665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1920240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 compensation packages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633472"/>
            <a:ext cx="2377440" cy="676656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70662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the big boss"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27980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686800" y="2633472"/>
            <a:ext cx="3108960" cy="67665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96528" y="2706624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founder TechSolutions India leadership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419856"/>
            <a:ext cx="2377440" cy="676656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493008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money can I make extra?"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358444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686800" y="3419856"/>
            <a:ext cx="3108960" cy="67665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96528" y="3493008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bonus salary compensation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626864"/>
            <a:ext cx="11430000" cy="49377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626864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fixes: </a:t>
            </a:r>
            <a:pPr indent="0" marL="0">
              <a:buNone/>
            </a:pPr>
            <a:r>
              <a:rPr lang="en-US" sz="110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solves Problem 2 (vocabulary gap).  </a:t>
            </a:r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solves Problem 1 (bi-encoder misses nuance). They solve different things — and work well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Rewriting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 user's natural-language question into a more effective search query before retrieval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11430000" cy="40233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 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078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Rewrite Query 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078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Docs 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078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0" y="10789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72768"/>
            <a:ext cx="3291840" cy="32918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727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94176" y="1572768"/>
            <a:ext cx="4023360" cy="329184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572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Rewritten Query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1572768"/>
            <a:ext cx="4023360" cy="329184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1572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Helps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9568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56816"/>
            <a:ext cx="64008" cy="65836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0299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get if I join?"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94176" y="19568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2029968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 compensation TechSolutions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54112" y="19568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2029968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domain-specific terms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70662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706624"/>
            <a:ext cx="64008" cy="65836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7977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the big boss"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94176" y="270662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277977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founder TechSolutions India leadership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54112" y="270662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82128" y="277977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slang with formal terms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45643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56432"/>
            <a:ext cx="64008" cy="65836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295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money can I make extra?"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94176" y="345643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529584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bonus salary compensation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54112" y="345643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3529584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colloquial phrasing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206240"/>
            <a:ext cx="32918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206240"/>
            <a:ext cx="64008" cy="65836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2793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she study?" (after asking about Priya)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94176" y="4206240"/>
            <a:ext cx="402336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22192" y="427939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 education university degree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54112" y="4206240"/>
            <a:ext cx="402336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427939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Coreference resolution — resolves 'she'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12880" y="437083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891A"/>
                </a:solidFill>
              </a:rPr>
              <a:t>★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65760" y="4736592"/>
            <a:ext cx="11430000" cy="475488"/>
          </a:xfrm>
          <a:prstGeom prst="rect">
            <a:avLst/>
          </a:prstGeom>
          <a:solidFill>
            <a:srgbClr val="FFF8E1"/>
          </a:solidFill>
          <a:ln w="19050">
            <a:solidFill>
              <a:srgbClr val="D489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736592"/>
            <a:ext cx="64008" cy="47548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" y="473659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Row 4 is the key insight —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rewriter uses conversation history to resolve the pronoun "she" into "Priya Sharma". Without this, the query returns nothing useful.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 — Bi-encoder vs Cross-encoder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independent encoding fails, and how joint encoding fixes 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5577840" cy="34747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Bi-encoder  (Retrieval)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5577840" cy="475488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813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84832" y="148132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document embedded separately → cosine similarity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99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84832" y="202996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(~10ms for entire knowledge base)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78608"/>
            <a:ext cx="5577840" cy="475488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786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84832" y="257860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272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Fails when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84832" y="312724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words express the same meaning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577840" cy="475488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758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84832" y="367588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10,000+ docs easily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1078992"/>
            <a:ext cx="5577840" cy="34747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0789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  (Reranking)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1481328"/>
            <a:ext cx="5577840" cy="475488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14813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148132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document read together as one input → joint reasoning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2029968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0299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28432" y="202996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(~200ms per query-doc pair)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578608"/>
            <a:ext cx="5577840" cy="475488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25786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28432" y="257860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3127248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31272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Fails when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28432" y="312724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— sees both texts in full context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675888"/>
            <a:ext cx="5577840" cy="475488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6758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28432" y="3675888"/>
            <a:ext cx="3730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top-k only (5–20 docs)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261104"/>
            <a:ext cx="114300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26110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bi-encoder fails: the PhD example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590288"/>
            <a:ext cx="2761488" cy="676656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590288"/>
            <a:ext cx="64008" cy="67665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864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has advanced degrees?"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5120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advanced, degrees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18688" y="4590288"/>
            <a:ext cx="2761488" cy="676656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18688" y="4590288"/>
            <a:ext cx="64008" cy="676656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01568" y="4864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holds a PhD from IISc Bangalore"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401568" y="5120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PhD, IISc, Bangalore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71616" y="4590288"/>
            <a:ext cx="2761488" cy="676656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71616" y="4590288"/>
            <a:ext cx="64008" cy="6766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Bi-encoder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54496" y="4864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cosine similarity — different words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54496" y="5120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match ✗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924544" y="4590288"/>
            <a:ext cx="2761488" cy="67665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24544" y="4590288"/>
            <a:ext cx="64008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07424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107424" y="4864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both together — knows PhD = advanced degree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107424" y="5120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match ✓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Retrieve-then-Rerank Cascade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bi-encoders + accuracy of cross-encoders — the best of both worlds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828800" cy="658368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389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78608" y="1371600"/>
            <a:ext cx="2011680" cy="65836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Bi-encoder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~10ms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90288" y="1389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D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74336" y="1371600"/>
            <a:ext cx="1463040" cy="65836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371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results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37376" y="1389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D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21424" y="1371600"/>
            <a:ext cx="2194560" cy="65836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3716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 ~200ms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15984" y="138988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A8D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00032" y="1371600"/>
            <a:ext cx="201168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Reranked Top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00032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 first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76272"/>
            <a:ext cx="11430000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1762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use cross-encoders for everything?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2505456"/>
            <a:ext cx="114300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542032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Cross-encoders score one (query, doc) pair at a time. With 10,000 docs that's 10,000 forward passes — too slow for real-time search. The cascade gives us fast scanning with bi-encoders, then precise reordering with a cross-encoder on just the top 5.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182112"/>
            <a:ext cx="11430000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1821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reranking helps — and when it doesn't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3511296"/>
            <a:ext cx="5577840" cy="113385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511296"/>
            <a:ext cx="64008" cy="11338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621024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3856" y="36210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 HELPS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133088"/>
            <a:ext cx="5248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were retrieved but ranked poorly. Reranking pushes them to the top. Fixes precision.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3511296"/>
            <a:ext cx="5577840" cy="1133856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3511296"/>
            <a:ext cx="64008" cy="113385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621024"/>
            <a:ext cx="475488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4576" y="36210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 DOESN'T HELP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4133088"/>
            <a:ext cx="5248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weren't retrieved at all. Reranking 5 wrong docs still gives 5 wrong docs. Fixes recall instead: use better embeddings or query rewriting.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736592"/>
            <a:ext cx="11430000" cy="40233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47365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improves </a:t>
            </a:r>
            <a:pPr indent="0" marL="0">
              <a:buNone/>
            </a:pPr>
            <a:r>
              <a:rPr lang="en-US" sz="1100" b="1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(ordering quality).  Query rewriting improves </a:t>
            </a:r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(whether the right doc was found). They solve different problems — use both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RAG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all techniques together: rewrite → retrieve broad → rerank → use narrow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1676400" cy="47548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42160" y="1097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16480" y="1078992"/>
            <a:ext cx="1676400" cy="47548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648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Query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92880" y="1097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7200" y="1078992"/>
            <a:ext cx="1676400" cy="475488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720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Top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0" y="1097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078992"/>
            <a:ext cx="1676400" cy="475488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94320" y="1097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68640" y="1078992"/>
            <a:ext cx="16764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864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→ LLM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45040" y="109728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D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19360" y="1078992"/>
            <a:ext cx="1676400" cy="475488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19360" y="1078992"/>
            <a:ext cx="167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1627632"/>
            <a:ext cx="11430000" cy="512064"/>
          </a:xfrm>
          <a:prstGeom prst="rect">
            <a:avLst/>
          </a:prstGeom>
          <a:solidFill>
            <a:srgbClr val="FFF8E1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627632"/>
            <a:ext cx="64008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1627632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→ 3?  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"Lost in the Middle" research shows LLMs perform best when key information is at the </a:t>
            </a:r>
            <a:pPr indent="0" marL="0">
              <a:buNone/>
            </a:pPr>
            <a:r>
              <a:rPr lang="en-US" sz="1050" b="1" dirty="0">
                <a:solidFill>
                  <a:srgbClr val="0D2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or end</a:t>
            </a:r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context, not buried in the middle. Retrieve broad for recall, rerank, then pass only the best 3 to the LLM.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231136"/>
            <a:ext cx="1143000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223113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RAG vs Advanced RAG — side-by-side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2596896"/>
            <a:ext cx="384048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968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42816" y="2596896"/>
            <a:ext cx="3566160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2816" y="25968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RAG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45552" y="2596896"/>
            <a:ext cx="39319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25968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RAG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962656"/>
            <a:ext cx="3840480" cy="768096"/>
          </a:xfrm>
          <a:prstGeom prst="rect">
            <a:avLst/>
          </a:prstGeom>
          <a:solidFill>
            <a:srgbClr val="EEF3FF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962656"/>
            <a:ext cx="64008" cy="76809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017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get if I join?"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42816" y="2962656"/>
            <a:ext cx="3566160" cy="768096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017520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office locations, project history. Misses employee benefits.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45552" y="2962656"/>
            <a:ext cx="3931920" cy="76809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301752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→ "employee benefits compensation" → retrieves health insurance, learning budget, bonus docs 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840480"/>
            <a:ext cx="3840480" cy="768096"/>
          </a:xfrm>
          <a:prstGeom prst="rect">
            <a:avLst/>
          </a:prstGeom>
          <a:solidFill>
            <a:srgbClr val="EEF3FF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840480"/>
            <a:ext cx="64008" cy="76809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8953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went to the best schools?"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42816" y="3840480"/>
            <a:ext cx="3566160" cy="768096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3895344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company overview. Misses leadership education bios.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845552" y="3840480"/>
            <a:ext cx="3931920" cy="768096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73568" y="3895344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→ "education qualifications university" → retrieves Priya (IIT+Stanford), Rahul (BITS+IIM), Vikram (MIT) ✓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94944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4944"/>
            <a:ext cx="12188952" cy="5029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365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What — and Key Takeaways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418320" y="365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Systems Engineering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804672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techniques where they matter: cost and latency increase with each addition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Raman Global University  ·  AI Centre of Excellence  ·  Unit 5: RAG Evaluation &amp; Advanced RAG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246888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1078992"/>
            <a:ext cx="2194560" cy="310896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10789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02352" y="1078992"/>
            <a:ext cx="1828800" cy="310896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1078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67728" y="1078992"/>
            <a:ext cx="1828800" cy="310896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1078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33104" y="1078992"/>
            <a:ext cx="1463040" cy="310896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1078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444752"/>
            <a:ext cx="246888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444752"/>
            <a:ext cx="64008" cy="438912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4447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RAG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71216" y="144475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2656" y="1444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well-phrased queries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02352" y="144475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4447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67728" y="144475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14447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33104" y="144475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14447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1956816"/>
            <a:ext cx="2468880" cy="438912"/>
          </a:xfrm>
          <a:prstGeom prst="rect">
            <a:avLst/>
          </a:prstGeom>
          <a:solidFill>
            <a:srgbClr val="E6F5F7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1956816"/>
            <a:ext cx="64008" cy="438912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9568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7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Reranking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71216" y="195681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2656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retrieval, precision-critical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02352" y="195681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19568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+100–500ms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67728" y="195681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19568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LLM call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33104" y="195681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24544" y="19568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2468880"/>
            <a:ext cx="246888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468880"/>
            <a:ext cx="64008" cy="438912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Query Rewriting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71216" y="2468880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2656" y="24688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UI, vague queries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02352" y="246888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24688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+100–300ms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67728" y="246888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24688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LLM call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833104" y="246888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4544" y="2468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2980944"/>
            <a:ext cx="2468880" cy="438912"/>
          </a:xfrm>
          <a:prstGeom prst="rect">
            <a:avLst/>
          </a:prstGeom>
          <a:solidFill>
            <a:srgbClr val="EFF8E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2980944"/>
            <a:ext cx="64008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9809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(Production)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71216" y="2980944"/>
            <a:ext cx="2194560" cy="438912"/>
          </a:xfrm>
          <a:prstGeom prst="rect">
            <a:avLst/>
          </a:prstGeom>
          <a:solidFill>
            <a:srgbClr val="EFF8E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62656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chatbots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02352" y="2980944"/>
            <a:ext cx="1828800" cy="438912"/>
          </a:xfrm>
          <a:prstGeom prst="rect">
            <a:avLst/>
          </a:prstGeom>
          <a:solidFill>
            <a:srgbClr val="EFF8E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93792" y="29809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+200–800ms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67728" y="2980944"/>
            <a:ext cx="1828800" cy="438912"/>
          </a:xfrm>
          <a:prstGeom prst="rect">
            <a:avLst/>
          </a:prstGeom>
          <a:solidFill>
            <a:srgbClr val="EFF8E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9168" y="29809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LLM calls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833104" y="2980944"/>
            <a:ext cx="1463040" cy="438912"/>
          </a:xfrm>
          <a:prstGeom prst="rect">
            <a:avLst/>
          </a:prstGeom>
          <a:solidFill>
            <a:srgbClr val="EFF8E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24544" y="29809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833104" y="1444752"/>
            <a:ext cx="29260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33104" y="1444752"/>
            <a:ext cx="29260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4544" y="14447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833104" y="1956816"/>
            <a:ext cx="29260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24544" y="19568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833104" y="2468880"/>
            <a:ext cx="29260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24544" y="2468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833104" y="2980944"/>
            <a:ext cx="29260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24544" y="29809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65760" y="3566160"/>
            <a:ext cx="11430000" cy="256032"/>
          </a:xfrm>
          <a:prstGeom prst="rect">
            <a:avLst/>
          </a:prstGeom>
          <a:solidFill>
            <a:srgbClr val="0D2349"/>
          </a:solidFill>
          <a:ln w="12700">
            <a:solidFill>
              <a:srgbClr val="0D234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" y="35661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65760" y="3877056"/>
            <a:ext cx="114300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" y="3877056"/>
            <a:ext cx="64008" cy="365760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8640" y="3950208"/>
            <a:ext cx="237744" cy="237744"/>
          </a:xfrm>
          <a:prstGeom prst="ellipse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14400" y="391363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and answer quality separately to pinpoint failures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5760" y="4297680"/>
            <a:ext cx="64008" cy="365760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8640" y="4370832"/>
            <a:ext cx="237744" cy="237744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4370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14400" y="433425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≠ relevance — cross-encoders catch what bi-encoders miss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365760" y="4718304"/>
            <a:ext cx="114300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5760" y="4718304"/>
            <a:ext cx="64008" cy="36576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" y="4791456"/>
            <a:ext cx="237744" cy="237744"/>
          </a:xfrm>
          <a:prstGeom prst="ellipse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4791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4400" y="4754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write search queries — query rewriting bridges the vocabulary gap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365760" y="5138928"/>
            <a:ext cx="1143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" y="5138928"/>
            <a:ext cx="64008" cy="365760"/>
          </a:xfrm>
          <a:prstGeom prst="rect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" y="5212080"/>
            <a:ext cx="237744" cy="237744"/>
          </a:xfrm>
          <a:prstGeom prst="ellipse">
            <a:avLst/>
          </a:prstGeom>
          <a:solidFill>
            <a:srgbClr val="1B5E9B"/>
          </a:solidFill>
          <a:ln w="12700">
            <a:solidFill>
              <a:srgbClr val="1B5E9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" y="5212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14400" y="51755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broad (5), use narrow (3) — keeps LLM context focused, avoids "lost in middle"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365760" y="5559552"/>
            <a:ext cx="1143000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5760" y="5559552"/>
            <a:ext cx="64008" cy="365760"/>
          </a:xfrm>
          <a:prstGeom prst="rect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48640" y="5632704"/>
            <a:ext cx="237744" cy="237744"/>
          </a:xfrm>
          <a:prstGeom prst="ellipse">
            <a:avLst/>
          </a:prstGeom>
          <a:solidFill>
            <a:srgbClr val="00879E"/>
          </a:solidFill>
          <a:ln w="12700">
            <a:solidFill>
              <a:srgbClr val="00879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5632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14400" y="559612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adds latency and cost — apply reranking for precision, rewriting for conversation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2026-03-07T02:15:59Z</dcterms:created>
  <dcterms:modified xsi:type="dcterms:W3CDTF">2026-03-07T02:15:59Z</dcterms:modified>
</cp:coreProperties>
</file>