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class we built a RAG system with keyword search and saw its limitations. Today we learn how embeddings and semantic search fix those limitations. By the end, you'll understand the technology well enough to build a semantic search engine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class we built a RAG system with keyword search and saw its limitations. Today we learn how embeddings and semantic search fix those limitations. Walk through each topic briefly — students should see the logical progression from the RAG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up the RAG notebook if possible and show the 'Who founded the company?' failure live. This is the exact problem embeddings solve. The students saw this limitation — now we show them the fix. The third row is the one that matters — it's a semantic failure, not a data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let the math intimidate students. The key insight is simple: similar meaning → similar numbers. Show the first two vectors and point out how close the individual numbers are. Then contrast with the third — completely different numbers because the meaning is completely different. The word 'vectors' just means 'lists of numbers' — nothing scary.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local geography — students know exactly how close Cuttack is to Bhubaneswar versus how far Mumbai is. That intuition maps directly to how embeddings work. Two texts about AI topics are 'close' like neighboring cities. An AI text and a cooking text are 'far apart' like cities in different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rows from top to bottom. Notice how the bar gets shorter as the topics get more different. The green rows have long bars, the red rows are almost empty. Row 3 is the one to dwell on — 'CEO' and 'founded' look nothing alike as words, yet the score is 0.48 because embeddings understood the semantic link. This is exactly what keyword search cannot do, and exactly what fixes our RAG retrieval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 the two arrows ('deep learning' and 'machine learning') point in almost the same direction — tiny gap, score 0.87. Right panel: 'machine learning' goes straight up, 'cooking recipes' shoots off horizontally — a full 90° gap, score 0.08. The message: cosine similarity measures the gap between directions. Zero gap = score 1. Big gap = score near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insight. Row 3 is the magic — keyword search fails here because there are no common words, but embeddings capture the semantic connection between 'CEO' and 'founded.' This is exactly what will fix our RAG retrieval. Have students look at rows 4 and 5 — completely unrelated topics score near zero, exactly as we'd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student project or prototype, the free local models are perfect. In production, companies often use API models for better quality. The notebook will let students try both — local with SentenceTransformer and API with LiteLLM. Emphasize: always start with free local models when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aha slide. Walk through both paths slowly. Keyword search looks for exact words and misses. Semantic search understands that 'founded' is related to 'CEO and founder' even without shared keywords. Ask students: which approach would you want for a real chatbot? This moment should make the whole lecture feel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two phases. The setup phase is slow but runs only once. The search phase is fast and runs every time a user asks a question. This is why vector databases exist — to make that search phase efficient even with millions of documents. Ask: why embed documents only once and not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if you're studying for an exam, do you read the whole textbook at once or focus on specific chapters? Chunking is like breaking a textbook into chapters so you can find the right one quickly. Overlap ensures you don't lose context at the boundaries — if a key sentence spans the chunk boundary, it's captured in at least one chunk.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may wonder why we need a special database. The answer is: regular databases search for exact matches. We need to find the most similar vectors — that's a fundamentally different operation. Chroma handles this efficiently. Mention that what they learn today scales — the same patterns apply to enterprise vector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don't need to understand how t-SNE works mathematically — just that it squashes 384 dimensions into 2 while keeping similar things close. The notebook generates a real plot with matplotlib. Point out the clusters: company info groups together, product info groups together. That visual proof makes embeddings feel concrete and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point and ask students to explain it in their own words. The most important takeaway is #3 — semantic search is the whole reason we learned embeddings. If students understand that 'embeddings let us search by meaning,' they've got the core concept. The others follow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notebook now. Start with the embedding creation — students need to see that calling the model is just 2-3 lines of code. Then the similarity comparison makes embeddings tangible. The Chroma section ties it all together into a working search engine. The big test in Section 5 — 'Who founded the company?' correctly returning Priya — is the payoff for the whole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349"/>
        </a:solidFill>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1A4B8C"/>
          </a:solidFill>
          <a:ln w="12700">
            <a:solidFill>
              <a:srgbClr val="1A4B8C"/>
            </a:solidFill>
            <a:prstDash val="solid"/>
          </a:ln>
        </p:spPr>
      </p:sp>
      <p:sp>
        <p:nvSpPr>
          <p:cNvPr id="3" name="Shape 1"/>
          <p:cNvSpPr/>
          <p:nvPr/>
        </p:nvSpPr>
        <p:spPr>
          <a:xfrm>
            <a:off x="6035040" y="0"/>
            <a:ext cx="274320" cy="5143500"/>
          </a:xfrm>
          <a:prstGeom prst="rect">
            <a:avLst/>
          </a:prstGeom>
          <a:solidFill>
            <a:srgbClr val="D4891A"/>
          </a:solidFill>
          <a:ln w="12700">
            <a:solidFill>
              <a:srgbClr val="D4891A"/>
            </a:solidFill>
            <a:prstDash val="solid"/>
          </a:ln>
        </p:spPr>
      </p:sp>
      <p:sp>
        <p:nvSpPr>
          <p:cNvPr id="4" name="Shape 2"/>
          <p:cNvSpPr/>
          <p:nvPr/>
        </p:nvSpPr>
        <p:spPr>
          <a:xfrm>
            <a:off x="0" y="3383280"/>
            <a:ext cx="5852160" cy="54864"/>
          </a:xfrm>
          <a:prstGeom prst="rect">
            <a:avLst/>
          </a:prstGeom>
          <a:solidFill>
            <a:srgbClr val="00879E"/>
          </a:solidFill>
          <a:ln w="12700">
            <a:solidFill>
              <a:srgbClr val="00879E"/>
            </a:solidFill>
            <a:prstDash val="solid"/>
          </a:ln>
        </p:spPr>
      </p:sp>
      <p:sp>
        <p:nvSpPr>
          <p:cNvPr id="5" name="Shape 3"/>
          <p:cNvSpPr/>
          <p:nvPr/>
        </p:nvSpPr>
        <p:spPr>
          <a:xfrm>
            <a:off x="457200" y="502920"/>
            <a:ext cx="1737360" cy="384048"/>
          </a:xfrm>
          <a:prstGeom prst="roundRect">
            <a:avLst>
              <a:gd name="adj" fmla="val 14286"/>
            </a:avLst>
          </a:prstGeom>
          <a:solidFill>
            <a:srgbClr val="D4891A"/>
          </a:solidFill>
          <a:ln w="12700">
            <a:solidFill>
              <a:srgbClr val="D4891A"/>
            </a:solidFill>
            <a:prstDash val="solid"/>
          </a:ln>
        </p:spPr>
      </p:sp>
      <p:sp>
        <p:nvSpPr>
          <p:cNvPr id="6" name="Text 4"/>
          <p:cNvSpPr/>
          <p:nvPr/>
        </p:nvSpPr>
        <p:spPr>
          <a:xfrm>
            <a:off x="457200" y="502920"/>
            <a:ext cx="1737360" cy="384048"/>
          </a:xfrm>
          <a:prstGeom prst="rect">
            <a:avLst/>
          </a:prstGeom>
          <a:noFill/>
          <a:ln/>
        </p:spPr>
        <p:txBody>
          <a:bodyPr wrap="square" lIns="0" tIns="0" rIns="0" bIns="0" rtlCol="0" anchor="ctr"/>
          <a:lstStyle/>
          <a:p>
            <a:pPr algn="ctr" indent="0" marL="0">
              <a:buNone/>
            </a:pPr>
            <a:r>
              <a:rPr lang="en-US" sz="1300" b="1" dirty="0">
                <a:solidFill>
                  <a:srgbClr val="0D2349"/>
                </a:solidFill>
                <a:latin typeface="Trebuchet MS" pitchFamily="34" charset="0"/>
                <a:ea typeface="Trebuchet MS" pitchFamily="34" charset="-122"/>
                <a:cs typeface="Trebuchet MS" pitchFamily="34" charset="-120"/>
              </a:rPr>
              <a:t>UNIT 4</a:t>
            </a:r>
            <a:endParaRPr lang="en-US" sz="1300" dirty="0"/>
          </a:p>
        </p:txBody>
      </p:sp>
      <p:sp>
        <p:nvSpPr>
          <p:cNvPr id="7" name="Text 5"/>
          <p:cNvSpPr/>
          <p:nvPr/>
        </p:nvSpPr>
        <p:spPr>
          <a:xfrm>
            <a:off x="457200" y="1024128"/>
            <a:ext cx="5394960" cy="1600200"/>
          </a:xfrm>
          <a:prstGeom prst="rect">
            <a:avLst/>
          </a:prstGeom>
          <a:noFill/>
          <a:ln/>
        </p:spPr>
        <p:txBody>
          <a:bodyPr wrap="square" lIns="0" tIns="0" rIns="0" bIns="0" rtlCol="0" anchor="t"/>
          <a:lstStyle/>
          <a:p>
            <a:pPr indent="0" marL="0">
              <a:buNone/>
            </a:pPr>
            <a:r>
              <a:rPr lang="en-US" sz="3800" b="1" dirty="0">
                <a:solidFill>
                  <a:srgbClr val="FFFFFF"/>
                </a:solidFill>
                <a:latin typeface="Trebuchet MS" pitchFamily="34" charset="0"/>
                <a:ea typeface="Trebuchet MS" pitchFamily="34" charset="-122"/>
                <a:cs typeface="Trebuchet MS" pitchFamily="34" charset="-120"/>
              </a:rPr>
              <a:t>Vector Embeddings</a:t>
            </a:r>
            <a:endParaRPr lang="en-US" sz="3800" dirty="0"/>
          </a:p>
          <a:p>
            <a:pPr indent="0" marL="0">
              <a:buNone/>
            </a:pPr>
            <a:r>
              <a:rPr lang="en-US" sz="3800" b="1" dirty="0">
                <a:solidFill>
                  <a:srgbClr val="FFFFFF"/>
                </a:solidFill>
                <a:latin typeface="Trebuchet MS" pitchFamily="34" charset="0"/>
                <a:ea typeface="Trebuchet MS" pitchFamily="34" charset="-122"/>
                <a:cs typeface="Trebuchet MS" pitchFamily="34" charset="-120"/>
              </a:rPr>
              <a:t>&amp; Semantic Search</a:t>
            </a:r>
            <a:endParaRPr lang="en-US" sz="3800" dirty="0"/>
          </a:p>
        </p:txBody>
      </p:sp>
      <p:sp>
        <p:nvSpPr>
          <p:cNvPr id="8" name="Text 6"/>
          <p:cNvSpPr/>
          <p:nvPr/>
        </p:nvSpPr>
        <p:spPr>
          <a:xfrm>
            <a:off x="457200" y="2798064"/>
            <a:ext cx="5303520" cy="365760"/>
          </a:xfrm>
          <a:prstGeom prst="rect">
            <a:avLst/>
          </a:prstGeom>
          <a:noFill/>
          <a:ln/>
        </p:spPr>
        <p:txBody>
          <a:bodyPr wrap="square" lIns="0" tIns="0" rIns="0" bIns="0" rtlCol="0" anchor="ctr"/>
          <a:lstStyle/>
          <a:p>
            <a:pPr indent="0" marL="0">
              <a:buNone/>
            </a:pPr>
            <a:r>
              <a:rPr lang="en-US" sz="1500" dirty="0">
                <a:solidFill>
                  <a:srgbClr val="F2A829"/>
                </a:solidFill>
                <a:latin typeface="Calibri" pitchFamily="34" charset="0"/>
                <a:ea typeface="Calibri" pitchFamily="34" charset="-122"/>
                <a:cs typeface="Calibri" pitchFamily="34" charset="-120"/>
              </a:rPr>
              <a:t>AI Systems Engineering 1</a:t>
            </a:r>
            <a:endParaRPr lang="en-US" sz="1500" dirty="0"/>
          </a:p>
        </p:txBody>
      </p:sp>
      <p:sp>
        <p:nvSpPr>
          <p:cNvPr id="9" name="Text 7"/>
          <p:cNvSpPr/>
          <p:nvPr/>
        </p:nvSpPr>
        <p:spPr>
          <a:xfrm>
            <a:off x="457200" y="3182112"/>
            <a:ext cx="5303520" cy="274320"/>
          </a:xfrm>
          <a:prstGeom prst="rect">
            <a:avLst/>
          </a:prstGeom>
          <a:noFill/>
          <a:ln/>
        </p:spPr>
        <p:txBody>
          <a:bodyPr wrap="square" lIns="0" tIns="0" rIns="0" bIns="0" rtlCol="0" anchor="ctr"/>
          <a:lstStyle/>
          <a:p>
            <a:pPr indent="0" marL="0">
              <a:buNone/>
            </a:pPr>
            <a:r>
              <a:rPr lang="en-US" sz="1100" dirty="0">
                <a:solidFill>
                  <a:srgbClr val="8896AB"/>
                </a:solidFill>
                <a:latin typeface="Calibri" pitchFamily="34" charset="0"/>
                <a:ea typeface="Calibri" pitchFamily="34" charset="-122"/>
                <a:cs typeface="Calibri" pitchFamily="34" charset="-120"/>
              </a:rPr>
              <a:t>CV Raman Global University, Bhubaneswar</a:t>
            </a:r>
            <a:endParaRPr lang="en-US" sz="1100" dirty="0"/>
          </a:p>
        </p:txBody>
      </p:sp>
      <p:sp>
        <p:nvSpPr>
          <p:cNvPr id="10" name="Text 8"/>
          <p:cNvSpPr/>
          <p:nvPr/>
        </p:nvSpPr>
        <p:spPr>
          <a:xfrm>
            <a:off x="457200" y="3456432"/>
            <a:ext cx="5303520" cy="274320"/>
          </a:xfrm>
          <a:prstGeom prst="rect">
            <a:avLst/>
          </a:prstGeom>
          <a:noFill/>
          <a:ln/>
        </p:spPr>
        <p:txBody>
          <a:bodyPr wrap="square" lIns="0" tIns="0" rIns="0" bIns="0" rtlCol="0" anchor="ctr"/>
          <a:lstStyle/>
          <a:p>
            <a:pPr indent="0" marL="0">
              <a:buNone/>
            </a:pPr>
            <a:r>
              <a:rPr lang="en-US" sz="1100" dirty="0">
                <a:solidFill>
                  <a:srgbClr val="00879E"/>
                </a:solidFill>
                <a:latin typeface="Calibri" pitchFamily="34" charset="0"/>
                <a:ea typeface="Calibri" pitchFamily="34" charset="-122"/>
                <a:cs typeface="Calibri" pitchFamily="34" charset="-120"/>
              </a:rPr>
              <a:t>AI Centre of Excellence</a:t>
            </a:r>
            <a:endParaRPr lang="en-US" sz="1100" dirty="0"/>
          </a:p>
        </p:txBody>
      </p:sp>
      <p:sp>
        <p:nvSpPr>
          <p:cNvPr id="11" name="Shape 9"/>
          <p:cNvSpPr/>
          <p:nvPr/>
        </p:nvSpPr>
        <p:spPr>
          <a:xfrm>
            <a:off x="6309360" y="566928"/>
            <a:ext cx="2651760" cy="54864"/>
          </a:xfrm>
          <a:prstGeom prst="rect">
            <a:avLst/>
          </a:prstGeom>
          <a:solidFill>
            <a:srgbClr val="00879E"/>
          </a:solidFill>
          <a:ln w="12700">
            <a:solidFill>
              <a:srgbClr val="00879E"/>
            </a:solidFill>
            <a:prstDash val="solid"/>
          </a:ln>
        </p:spPr>
      </p:sp>
      <p:sp>
        <p:nvSpPr>
          <p:cNvPr id="12" name="Text 10"/>
          <p:cNvSpPr/>
          <p:nvPr/>
        </p:nvSpPr>
        <p:spPr>
          <a:xfrm>
            <a:off x="6309360" y="640080"/>
            <a:ext cx="2651760" cy="512064"/>
          </a:xfrm>
          <a:prstGeom prst="rect">
            <a:avLst/>
          </a:prstGeom>
          <a:noFill/>
          <a:ln/>
        </p:spPr>
        <p:txBody>
          <a:bodyPr wrap="square" lIns="0" tIns="0" rIns="0" bIns="0" rtlCol="0" anchor="ctr"/>
          <a:lstStyle/>
          <a:p>
            <a:pPr algn="ctr" indent="0" marL="0">
              <a:buNone/>
            </a:pPr>
            <a:r>
              <a:rPr lang="en-US" sz="1300" dirty="0">
                <a:solidFill>
                  <a:srgbClr val="F2A829"/>
                </a:solidFill>
                <a:latin typeface="Calibri" pitchFamily="34" charset="0"/>
                <a:ea typeface="Calibri" pitchFamily="34" charset="-122"/>
                <a:cs typeface="Calibri" pitchFamily="34" charset="-120"/>
              </a:rPr>
              <a:t>Embeddings</a:t>
            </a:r>
            <a:endParaRPr lang="en-US" sz="1300" dirty="0"/>
          </a:p>
        </p:txBody>
      </p:sp>
      <p:sp>
        <p:nvSpPr>
          <p:cNvPr id="13" name="Shape 11"/>
          <p:cNvSpPr/>
          <p:nvPr/>
        </p:nvSpPr>
        <p:spPr>
          <a:xfrm>
            <a:off x="6309360" y="1389888"/>
            <a:ext cx="2651760" cy="54864"/>
          </a:xfrm>
          <a:prstGeom prst="rect">
            <a:avLst/>
          </a:prstGeom>
          <a:solidFill>
            <a:srgbClr val="00879E"/>
          </a:solidFill>
          <a:ln w="12700">
            <a:solidFill>
              <a:srgbClr val="00879E"/>
            </a:solidFill>
            <a:prstDash val="solid"/>
          </a:ln>
        </p:spPr>
      </p:sp>
      <p:sp>
        <p:nvSpPr>
          <p:cNvPr id="14" name="Text 12"/>
          <p:cNvSpPr/>
          <p:nvPr/>
        </p:nvSpPr>
        <p:spPr>
          <a:xfrm>
            <a:off x="6309360" y="1463040"/>
            <a:ext cx="2651760" cy="512064"/>
          </a:xfrm>
          <a:prstGeom prst="rect">
            <a:avLst/>
          </a:prstGeom>
          <a:noFill/>
          <a:ln/>
        </p:spPr>
        <p:txBody>
          <a:bodyPr wrap="square" lIns="0" tIns="0" rIns="0" bIns="0" rtlCol="0" anchor="ctr"/>
          <a:lstStyle/>
          <a:p>
            <a:pPr algn="ctr" indent="0" marL="0">
              <a:buNone/>
            </a:pPr>
            <a:r>
              <a:rPr lang="en-US" sz="1300" dirty="0">
                <a:solidFill>
                  <a:srgbClr val="F2A829"/>
                </a:solidFill>
                <a:latin typeface="Calibri" pitchFamily="34" charset="0"/>
                <a:ea typeface="Calibri" pitchFamily="34" charset="-122"/>
                <a:cs typeface="Calibri" pitchFamily="34" charset="-120"/>
              </a:rPr>
              <a:t>Cosine Similarity</a:t>
            </a:r>
            <a:endParaRPr lang="en-US" sz="1300" dirty="0"/>
          </a:p>
        </p:txBody>
      </p:sp>
      <p:sp>
        <p:nvSpPr>
          <p:cNvPr id="15" name="Shape 13"/>
          <p:cNvSpPr/>
          <p:nvPr/>
        </p:nvSpPr>
        <p:spPr>
          <a:xfrm>
            <a:off x="6309360" y="2212848"/>
            <a:ext cx="2651760" cy="54864"/>
          </a:xfrm>
          <a:prstGeom prst="rect">
            <a:avLst/>
          </a:prstGeom>
          <a:solidFill>
            <a:srgbClr val="00879E"/>
          </a:solidFill>
          <a:ln w="12700">
            <a:solidFill>
              <a:srgbClr val="00879E"/>
            </a:solidFill>
            <a:prstDash val="solid"/>
          </a:ln>
        </p:spPr>
      </p:sp>
      <p:sp>
        <p:nvSpPr>
          <p:cNvPr id="16" name="Text 14"/>
          <p:cNvSpPr/>
          <p:nvPr/>
        </p:nvSpPr>
        <p:spPr>
          <a:xfrm>
            <a:off x="6309360" y="2286000"/>
            <a:ext cx="2651760" cy="512064"/>
          </a:xfrm>
          <a:prstGeom prst="rect">
            <a:avLst/>
          </a:prstGeom>
          <a:noFill/>
          <a:ln/>
        </p:spPr>
        <p:txBody>
          <a:bodyPr wrap="square" lIns="0" tIns="0" rIns="0" bIns="0" rtlCol="0" anchor="ctr"/>
          <a:lstStyle/>
          <a:p>
            <a:pPr algn="ctr" indent="0" marL="0">
              <a:buNone/>
            </a:pPr>
            <a:r>
              <a:rPr lang="en-US" sz="1300" dirty="0">
                <a:solidFill>
                  <a:srgbClr val="F2A829"/>
                </a:solidFill>
                <a:latin typeface="Calibri" pitchFamily="34" charset="0"/>
                <a:ea typeface="Calibri" pitchFamily="34" charset="-122"/>
                <a:cs typeface="Calibri" pitchFamily="34" charset="-120"/>
              </a:rPr>
              <a:t>Semantic Search</a:t>
            </a:r>
            <a:endParaRPr lang="en-US" sz="1300" dirty="0"/>
          </a:p>
        </p:txBody>
      </p:sp>
      <p:sp>
        <p:nvSpPr>
          <p:cNvPr id="17" name="Shape 15"/>
          <p:cNvSpPr/>
          <p:nvPr/>
        </p:nvSpPr>
        <p:spPr>
          <a:xfrm>
            <a:off x="6309360" y="3035808"/>
            <a:ext cx="2651760" cy="54864"/>
          </a:xfrm>
          <a:prstGeom prst="rect">
            <a:avLst/>
          </a:prstGeom>
          <a:solidFill>
            <a:srgbClr val="00879E"/>
          </a:solidFill>
          <a:ln w="12700">
            <a:solidFill>
              <a:srgbClr val="00879E"/>
            </a:solidFill>
            <a:prstDash val="solid"/>
          </a:ln>
        </p:spPr>
      </p:sp>
      <p:sp>
        <p:nvSpPr>
          <p:cNvPr id="18" name="Text 16"/>
          <p:cNvSpPr/>
          <p:nvPr/>
        </p:nvSpPr>
        <p:spPr>
          <a:xfrm>
            <a:off x="6309360" y="3108960"/>
            <a:ext cx="2651760" cy="512064"/>
          </a:xfrm>
          <a:prstGeom prst="rect">
            <a:avLst/>
          </a:prstGeom>
          <a:noFill/>
          <a:ln/>
        </p:spPr>
        <p:txBody>
          <a:bodyPr wrap="square" lIns="0" tIns="0" rIns="0" bIns="0" rtlCol="0" anchor="ctr"/>
          <a:lstStyle/>
          <a:p>
            <a:pPr algn="ctr" indent="0" marL="0">
              <a:buNone/>
            </a:pPr>
            <a:r>
              <a:rPr lang="en-US" sz="1300" dirty="0">
                <a:solidFill>
                  <a:srgbClr val="F2A829"/>
                </a:solidFill>
                <a:latin typeface="Calibri" pitchFamily="34" charset="0"/>
                <a:ea typeface="Calibri" pitchFamily="34" charset="-122"/>
                <a:cs typeface="Calibri" pitchFamily="34" charset="-120"/>
              </a:rPr>
              <a:t>Chroma DB</a:t>
            </a:r>
            <a:endParaRPr lang="en-US" sz="1300" dirty="0"/>
          </a:p>
        </p:txBody>
      </p:sp>
      <p:sp>
        <p:nvSpPr>
          <p:cNvPr id="19" name="Shape 17"/>
          <p:cNvSpPr/>
          <p:nvPr/>
        </p:nvSpPr>
        <p:spPr>
          <a:xfrm>
            <a:off x="6309360" y="3858768"/>
            <a:ext cx="2651760" cy="54864"/>
          </a:xfrm>
          <a:prstGeom prst="rect">
            <a:avLst/>
          </a:prstGeom>
          <a:solidFill>
            <a:srgbClr val="00879E"/>
          </a:solidFill>
          <a:ln w="12700">
            <a:solidFill>
              <a:srgbClr val="00879E"/>
            </a:solidFill>
            <a:prstDash val="solid"/>
          </a:ln>
        </p:spPr>
      </p:sp>
      <p:sp>
        <p:nvSpPr>
          <p:cNvPr id="20" name="Text 18"/>
          <p:cNvSpPr/>
          <p:nvPr/>
        </p:nvSpPr>
        <p:spPr>
          <a:xfrm>
            <a:off x="6309360" y="3931920"/>
            <a:ext cx="2651760" cy="512064"/>
          </a:xfrm>
          <a:prstGeom prst="rect">
            <a:avLst/>
          </a:prstGeom>
          <a:noFill/>
          <a:ln/>
        </p:spPr>
        <p:txBody>
          <a:bodyPr wrap="square" lIns="0" tIns="0" rIns="0" bIns="0" rtlCol="0" anchor="ctr"/>
          <a:lstStyle/>
          <a:p>
            <a:pPr algn="ctr" indent="0" marL="0">
              <a:buNone/>
            </a:pPr>
            <a:r>
              <a:rPr lang="en-US" sz="1300" dirty="0">
                <a:solidFill>
                  <a:srgbClr val="F2A829"/>
                </a:solidFill>
                <a:latin typeface="Calibri" pitchFamily="34" charset="0"/>
                <a:ea typeface="Calibri" pitchFamily="34" charset="-122"/>
                <a:cs typeface="Calibri" pitchFamily="34" charset="-120"/>
              </a:rPr>
              <a:t>t-SNE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349"/>
          </a:solidFill>
          <a:ln w="12700">
            <a:solidFill>
              <a:srgbClr val="0D234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What We'll Cover Today</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Shape 4"/>
          <p:cNvSpPr/>
          <p:nvPr/>
        </p:nvSpPr>
        <p:spPr>
          <a:xfrm>
            <a:off x="0" y="4937760"/>
            <a:ext cx="9144000" cy="205740"/>
          </a:xfrm>
          <a:prstGeom prst="rect">
            <a:avLst/>
          </a:prstGeom>
          <a:solidFill>
            <a:srgbClr val="0D2349"/>
          </a:solidFill>
          <a:ln w="12700">
            <a:solidFill>
              <a:srgbClr val="0D2349"/>
            </a:solidFill>
            <a:prstDash val="solid"/>
          </a:ln>
        </p:spPr>
      </p:sp>
      <p:sp>
        <p:nvSpPr>
          <p:cNvPr id="7" name="Text 5"/>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8" name="Shape 6"/>
          <p:cNvSpPr/>
          <p:nvPr/>
        </p:nvSpPr>
        <p:spPr>
          <a:xfrm>
            <a:off x="347472" y="1051560"/>
            <a:ext cx="402336" cy="402336"/>
          </a:xfrm>
          <a:prstGeom prst="ellipse">
            <a:avLst/>
          </a:prstGeom>
          <a:solidFill>
            <a:srgbClr val="D4891A"/>
          </a:solidFill>
          <a:ln w="12700">
            <a:solidFill>
              <a:srgbClr val="D4891A"/>
            </a:solidFill>
            <a:prstDash val="solid"/>
          </a:ln>
        </p:spPr>
      </p:sp>
      <p:sp>
        <p:nvSpPr>
          <p:cNvPr id="9" name="Text 7"/>
          <p:cNvSpPr/>
          <p:nvPr/>
        </p:nvSpPr>
        <p:spPr>
          <a:xfrm>
            <a:off x="347472" y="10515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1</a:t>
            </a:r>
            <a:endParaRPr lang="en-US" sz="1300" dirty="0"/>
          </a:p>
        </p:txBody>
      </p:sp>
      <p:sp>
        <p:nvSpPr>
          <p:cNvPr id="10" name="Shape 8"/>
          <p:cNvSpPr/>
          <p:nvPr/>
        </p:nvSpPr>
        <p:spPr>
          <a:xfrm>
            <a:off x="877824" y="960120"/>
            <a:ext cx="8266176" cy="585216"/>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11" name="Shape 9"/>
          <p:cNvSpPr/>
          <p:nvPr/>
        </p:nvSpPr>
        <p:spPr>
          <a:xfrm>
            <a:off x="877824" y="960120"/>
            <a:ext cx="64008" cy="585216"/>
          </a:xfrm>
          <a:prstGeom prst="rect">
            <a:avLst/>
          </a:prstGeom>
          <a:solidFill>
            <a:srgbClr val="D4891A"/>
          </a:solidFill>
          <a:ln w="12700">
            <a:solidFill>
              <a:srgbClr val="D4891A"/>
            </a:solidFill>
            <a:prstDash val="solid"/>
          </a:ln>
        </p:spPr>
      </p:sp>
      <p:sp>
        <p:nvSpPr>
          <p:cNvPr id="12" name="Text 10"/>
          <p:cNvSpPr/>
          <p:nvPr/>
        </p:nvSpPr>
        <p:spPr>
          <a:xfrm>
            <a:off x="1060704" y="1014984"/>
            <a:ext cx="7863840" cy="256032"/>
          </a:xfrm>
          <a:prstGeom prst="rect">
            <a:avLst/>
          </a:prstGeom>
          <a:noFill/>
          <a:ln/>
        </p:spPr>
        <p:txBody>
          <a:bodyPr wrap="square" lIns="0" tIns="0" rIns="0" bIns="0" rtlCol="0" anchor="ctr"/>
          <a:lstStyle/>
          <a:p>
            <a:pPr indent="0" marL="0">
              <a:buNone/>
            </a:pPr>
            <a:r>
              <a:rPr lang="en-US" sz="1300" b="1" dirty="0">
                <a:solidFill>
                  <a:srgbClr val="2D3A4A"/>
                </a:solidFill>
                <a:latin typeface="Trebuchet MS" pitchFamily="34" charset="0"/>
                <a:ea typeface="Trebuchet MS" pitchFamily="34" charset="-122"/>
                <a:cs typeface="Trebuchet MS" pitchFamily="34" charset="-120"/>
              </a:rPr>
              <a:t>Recap: Where Keyword Search Fails</a:t>
            </a:r>
            <a:endParaRPr lang="en-US" sz="1300" dirty="0"/>
          </a:p>
        </p:txBody>
      </p:sp>
      <p:sp>
        <p:nvSpPr>
          <p:cNvPr id="13" name="Text 11"/>
          <p:cNvSpPr/>
          <p:nvPr/>
        </p:nvSpPr>
        <p:spPr>
          <a:xfrm>
            <a:off x="1060704" y="1289304"/>
            <a:ext cx="7863840" cy="201168"/>
          </a:xfrm>
          <a:prstGeom prst="rect">
            <a:avLst/>
          </a:prstGeom>
          <a:noFill/>
          <a:ln/>
        </p:spPr>
        <p:txBody>
          <a:bodyPr wrap="square" lIns="0" tIns="0" rIns="0" bIns="0" rtlCol="0" anchor="ctr"/>
          <a:lstStyle/>
          <a:p>
            <a:pPr indent="0" marL="0">
              <a:buNone/>
            </a:pPr>
            <a:r>
              <a:rPr lang="en-US" sz="1000" dirty="0">
                <a:solidFill>
                  <a:srgbClr val="8896AB"/>
                </a:solidFill>
                <a:latin typeface="Calibri" pitchFamily="34" charset="0"/>
                <a:ea typeface="Calibri" pitchFamily="34" charset="-122"/>
                <a:cs typeface="Calibri" pitchFamily="34" charset="-120"/>
              </a:rPr>
              <a:t>The exact limitation we hit in the RAG notebook</a:t>
            </a:r>
            <a:endParaRPr lang="en-US" sz="1000" dirty="0"/>
          </a:p>
        </p:txBody>
      </p:sp>
      <p:sp>
        <p:nvSpPr>
          <p:cNvPr id="14" name="Shape 12"/>
          <p:cNvSpPr/>
          <p:nvPr/>
        </p:nvSpPr>
        <p:spPr>
          <a:xfrm>
            <a:off x="347472" y="1719072"/>
            <a:ext cx="402336" cy="402336"/>
          </a:xfrm>
          <a:prstGeom prst="ellipse">
            <a:avLst/>
          </a:prstGeom>
          <a:solidFill>
            <a:srgbClr val="00879E"/>
          </a:solidFill>
          <a:ln w="12700">
            <a:solidFill>
              <a:srgbClr val="00879E"/>
            </a:solidFill>
            <a:prstDash val="solid"/>
          </a:ln>
        </p:spPr>
      </p:sp>
      <p:sp>
        <p:nvSpPr>
          <p:cNvPr id="15" name="Text 13"/>
          <p:cNvSpPr/>
          <p:nvPr/>
        </p:nvSpPr>
        <p:spPr>
          <a:xfrm>
            <a:off x="347472" y="17190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2</a:t>
            </a:r>
            <a:endParaRPr lang="en-US" sz="1300" dirty="0"/>
          </a:p>
        </p:txBody>
      </p:sp>
      <p:sp>
        <p:nvSpPr>
          <p:cNvPr id="16" name="Shape 14"/>
          <p:cNvSpPr/>
          <p:nvPr/>
        </p:nvSpPr>
        <p:spPr>
          <a:xfrm>
            <a:off x="877824" y="1627632"/>
            <a:ext cx="8266176" cy="585216"/>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17" name="Shape 15"/>
          <p:cNvSpPr/>
          <p:nvPr/>
        </p:nvSpPr>
        <p:spPr>
          <a:xfrm>
            <a:off x="877824" y="1627632"/>
            <a:ext cx="64008" cy="585216"/>
          </a:xfrm>
          <a:prstGeom prst="rect">
            <a:avLst/>
          </a:prstGeom>
          <a:solidFill>
            <a:srgbClr val="00879E"/>
          </a:solidFill>
          <a:ln w="12700">
            <a:solidFill>
              <a:srgbClr val="00879E"/>
            </a:solidFill>
            <a:prstDash val="solid"/>
          </a:ln>
        </p:spPr>
      </p:sp>
      <p:sp>
        <p:nvSpPr>
          <p:cNvPr id="18" name="Text 16"/>
          <p:cNvSpPr/>
          <p:nvPr/>
        </p:nvSpPr>
        <p:spPr>
          <a:xfrm>
            <a:off x="1060704" y="1682496"/>
            <a:ext cx="7863840" cy="256032"/>
          </a:xfrm>
          <a:prstGeom prst="rect">
            <a:avLst/>
          </a:prstGeom>
          <a:noFill/>
          <a:ln/>
        </p:spPr>
        <p:txBody>
          <a:bodyPr wrap="square" lIns="0" tIns="0" rIns="0" bIns="0" rtlCol="0" anchor="ctr"/>
          <a:lstStyle/>
          <a:p>
            <a:pPr indent="0" marL="0">
              <a:buNone/>
            </a:pPr>
            <a:r>
              <a:rPr lang="en-US" sz="1300" b="1" dirty="0">
                <a:solidFill>
                  <a:srgbClr val="2D3A4A"/>
                </a:solidFill>
                <a:latin typeface="Trebuchet MS" pitchFamily="34" charset="0"/>
                <a:ea typeface="Trebuchet MS" pitchFamily="34" charset="-122"/>
                <a:cs typeface="Trebuchet MS" pitchFamily="34" charset="-120"/>
              </a:rPr>
              <a:t>What Are Embeddings?</a:t>
            </a:r>
            <a:endParaRPr lang="en-US" sz="1300" dirty="0"/>
          </a:p>
        </p:txBody>
      </p:sp>
      <p:sp>
        <p:nvSpPr>
          <p:cNvPr id="19" name="Text 17"/>
          <p:cNvSpPr/>
          <p:nvPr/>
        </p:nvSpPr>
        <p:spPr>
          <a:xfrm>
            <a:off x="1060704" y="1956816"/>
            <a:ext cx="7863840" cy="201168"/>
          </a:xfrm>
          <a:prstGeom prst="rect">
            <a:avLst/>
          </a:prstGeom>
          <a:noFill/>
          <a:ln/>
        </p:spPr>
        <p:txBody>
          <a:bodyPr wrap="square" lIns="0" tIns="0" rIns="0" bIns="0" rtlCol="0" anchor="ctr"/>
          <a:lstStyle/>
          <a:p>
            <a:pPr indent="0" marL="0">
              <a:buNone/>
            </a:pPr>
            <a:r>
              <a:rPr lang="en-US" sz="1000" dirty="0">
                <a:solidFill>
                  <a:srgbClr val="8896AB"/>
                </a:solidFill>
                <a:latin typeface="Calibri" pitchFamily="34" charset="0"/>
                <a:ea typeface="Calibri" pitchFamily="34" charset="-122"/>
                <a:cs typeface="Calibri" pitchFamily="34" charset="-120"/>
              </a:rPr>
              <a:t>Text → numbers that capture meaning</a:t>
            </a:r>
            <a:endParaRPr lang="en-US" sz="1000" dirty="0"/>
          </a:p>
        </p:txBody>
      </p:sp>
      <p:sp>
        <p:nvSpPr>
          <p:cNvPr id="20" name="Shape 18"/>
          <p:cNvSpPr/>
          <p:nvPr/>
        </p:nvSpPr>
        <p:spPr>
          <a:xfrm>
            <a:off x="347472" y="2386584"/>
            <a:ext cx="402336" cy="402336"/>
          </a:xfrm>
          <a:prstGeom prst="ellipse">
            <a:avLst/>
          </a:prstGeom>
          <a:solidFill>
            <a:srgbClr val="D4891A"/>
          </a:solidFill>
          <a:ln w="12700">
            <a:solidFill>
              <a:srgbClr val="D4891A"/>
            </a:solidFill>
            <a:prstDash val="solid"/>
          </a:ln>
        </p:spPr>
      </p:sp>
      <p:sp>
        <p:nvSpPr>
          <p:cNvPr id="21" name="Text 19"/>
          <p:cNvSpPr/>
          <p:nvPr/>
        </p:nvSpPr>
        <p:spPr>
          <a:xfrm>
            <a:off x="347472" y="23865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3</a:t>
            </a:r>
            <a:endParaRPr lang="en-US" sz="1300" dirty="0"/>
          </a:p>
        </p:txBody>
      </p:sp>
      <p:sp>
        <p:nvSpPr>
          <p:cNvPr id="22" name="Shape 20"/>
          <p:cNvSpPr/>
          <p:nvPr/>
        </p:nvSpPr>
        <p:spPr>
          <a:xfrm>
            <a:off x="877824" y="2295144"/>
            <a:ext cx="8266176" cy="585216"/>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23" name="Shape 21"/>
          <p:cNvSpPr/>
          <p:nvPr/>
        </p:nvSpPr>
        <p:spPr>
          <a:xfrm>
            <a:off x="877824" y="2295144"/>
            <a:ext cx="64008" cy="585216"/>
          </a:xfrm>
          <a:prstGeom prst="rect">
            <a:avLst/>
          </a:prstGeom>
          <a:solidFill>
            <a:srgbClr val="D4891A"/>
          </a:solidFill>
          <a:ln w="12700">
            <a:solidFill>
              <a:srgbClr val="D4891A"/>
            </a:solidFill>
            <a:prstDash val="solid"/>
          </a:ln>
        </p:spPr>
      </p:sp>
      <p:sp>
        <p:nvSpPr>
          <p:cNvPr id="24" name="Text 22"/>
          <p:cNvSpPr/>
          <p:nvPr/>
        </p:nvSpPr>
        <p:spPr>
          <a:xfrm>
            <a:off x="1060704" y="2350008"/>
            <a:ext cx="7863840" cy="256032"/>
          </a:xfrm>
          <a:prstGeom prst="rect">
            <a:avLst/>
          </a:prstGeom>
          <a:noFill/>
          <a:ln/>
        </p:spPr>
        <p:txBody>
          <a:bodyPr wrap="square" lIns="0" tIns="0" rIns="0" bIns="0" rtlCol="0" anchor="ctr"/>
          <a:lstStyle/>
          <a:p>
            <a:pPr indent="0" marL="0">
              <a:buNone/>
            </a:pPr>
            <a:r>
              <a:rPr lang="en-US" sz="1300" b="1" dirty="0">
                <a:solidFill>
                  <a:srgbClr val="2D3A4A"/>
                </a:solidFill>
                <a:latin typeface="Trebuchet MS" pitchFamily="34" charset="0"/>
                <a:ea typeface="Trebuchet MS" pitchFamily="34" charset="-122"/>
                <a:cs typeface="Trebuchet MS" pitchFamily="34" charset="-120"/>
              </a:rPr>
              <a:t>Cosine Similarity</a:t>
            </a:r>
            <a:endParaRPr lang="en-US" sz="1300" dirty="0"/>
          </a:p>
        </p:txBody>
      </p:sp>
      <p:sp>
        <p:nvSpPr>
          <p:cNvPr id="25" name="Text 23"/>
          <p:cNvSpPr/>
          <p:nvPr/>
        </p:nvSpPr>
        <p:spPr>
          <a:xfrm>
            <a:off x="1060704" y="2624328"/>
            <a:ext cx="7863840" cy="201168"/>
          </a:xfrm>
          <a:prstGeom prst="rect">
            <a:avLst/>
          </a:prstGeom>
          <a:noFill/>
          <a:ln/>
        </p:spPr>
        <p:txBody>
          <a:bodyPr wrap="square" lIns="0" tIns="0" rIns="0" bIns="0" rtlCol="0" anchor="ctr"/>
          <a:lstStyle/>
          <a:p>
            <a:pPr indent="0" marL="0">
              <a:buNone/>
            </a:pPr>
            <a:r>
              <a:rPr lang="en-US" sz="1000" dirty="0">
                <a:solidFill>
                  <a:srgbClr val="8896AB"/>
                </a:solidFill>
                <a:latin typeface="Calibri" pitchFamily="34" charset="0"/>
                <a:ea typeface="Calibri" pitchFamily="34" charset="-122"/>
                <a:cs typeface="Calibri" pitchFamily="34" charset="-120"/>
              </a:rPr>
              <a:t>Measuring how close two meanings are</a:t>
            </a:r>
            <a:endParaRPr lang="en-US" sz="1000" dirty="0"/>
          </a:p>
        </p:txBody>
      </p:sp>
      <p:sp>
        <p:nvSpPr>
          <p:cNvPr id="26" name="Shape 24"/>
          <p:cNvSpPr/>
          <p:nvPr/>
        </p:nvSpPr>
        <p:spPr>
          <a:xfrm>
            <a:off x="347472" y="3054096"/>
            <a:ext cx="402336" cy="402336"/>
          </a:xfrm>
          <a:prstGeom prst="ellipse">
            <a:avLst/>
          </a:prstGeom>
          <a:solidFill>
            <a:srgbClr val="00879E"/>
          </a:solidFill>
          <a:ln w="12700">
            <a:solidFill>
              <a:srgbClr val="00879E"/>
            </a:solidFill>
            <a:prstDash val="solid"/>
          </a:ln>
        </p:spPr>
      </p:sp>
      <p:sp>
        <p:nvSpPr>
          <p:cNvPr id="27" name="Text 25"/>
          <p:cNvSpPr/>
          <p:nvPr/>
        </p:nvSpPr>
        <p:spPr>
          <a:xfrm>
            <a:off x="347472" y="30540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4</a:t>
            </a:r>
            <a:endParaRPr lang="en-US" sz="1300" dirty="0"/>
          </a:p>
        </p:txBody>
      </p:sp>
      <p:sp>
        <p:nvSpPr>
          <p:cNvPr id="28" name="Shape 26"/>
          <p:cNvSpPr/>
          <p:nvPr/>
        </p:nvSpPr>
        <p:spPr>
          <a:xfrm>
            <a:off x="877824" y="2962656"/>
            <a:ext cx="8266176" cy="585216"/>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29" name="Shape 27"/>
          <p:cNvSpPr/>
          <p:nvPr/>
        </p:nvSpPr>
        <p:spPr>
          <a:xfrm>
            <a:off x="877824" y="2962656"/>
            <a:ext cx="64008" cy="585216"/>
          </a:xfrm>
          <a:prstGeom prst="rect">
            <a:avLst/>
          </a:prstGeom>
          <a:solidFill>
            <a:srgbClr val="00879E"/>
          </a:solidFill>
          <a:ln w="12700">
            <a:solidFill>
              <a:srgbClr val="00879E"/>
            </a:solidFill>
            <a:prstDash val="solid"/>
          </a:ln>
        </p:spPr>
      </p:sp>
      <p:sp>
        <p:nvSpPr>
          <p:cNvPr id="30" name="Text 28"/>
          <p:cNvSpPr/>
          <p:nvPr/>
        </p:nvSpPr>
        <p:spPr>
          <a:xfrm>
            <a:off x="1060704" y="3017520"/>
            <a:ext cx="7863840" cy="256032"/>
          </a:xfrm>
          <a:prstGeom prst="rect">
            <a:avLst/>
          </a:prstGeom>
          <a:noFill/>
          <a:ln/>
        </p:spPr>
        <p:txBody>
          <a:bodyPr wrap="square" lIns="0" tIns="0" rIns="0" bIns="0" rtlCol="0" anchor="ctr"/>
          <a:lstStyle/>
          <a:p>
            <a:pPr indent="0" marL="0">
              <a:buNone/>
            </a:pPr>
            <a:r>
              <a:rPr lang="en-US" sz="1300" b="1" dirty="0">
                <a:solidFill>
                  <a:srgbClr val="2D3A4A"/>
                </a:solidFill>
                <a:latin typeface="Trebuchet MS" pitchFamily="34" charset="0"/>
                <a:ea typeface="Trebuchet MS" pitchFamily="34" charset="-122"/>
                <a:cs typeface="Trebuchet MS" pitchFamily="34" charset="-120"/>
              </a:rPr>
              <a:t>Semantic Search vs Keyword Search</a:t>
            </a:r>
            <a:endParaRPr lang="en-US" sz="1300" dirty="0"/>
          </a:p>
        </p:txBody>
      </p:sp>
      <p:sp>
        <p:nvSpPr>
          <p:cNvPr id="31" name="Text 29"/>
          <p:cNvSpPr/>
          <p:nvPr/>
        </p:nvSpPr>
        <p:spPr>
          <a:xfrm>
            <a:off x="1060704" y="3291840"/>
            <a:ext cx="7863840" cy="201168"/>
          </a:xfrm>
          <a:prstGeom prst="rect">
            <a:avLst/>
          </a:prstGeom>
          <a:noFill/>
          <a:ln/>
        </p:spPr>
        <p:txBody>
          <a:bodyPr wrap="square" lIns="0" tIns="0" rIns="0" bIns="0" rtlCol="0" anchor="ctr"/>
          <a:lstStyle/>
          <a:p>
            <a:pPr indent="0" marL="0">
              <a:buNone/>
            </a:pPr>
            <a:r>
              <a:rPr lang="en-US" sz="1000" dirty="0">
                <a:solidFill>
                  <a:srgbClr val="8896AB"/>
                </a:solidFill>
                <a:latin typeface="Calibri" pitchFamily="34" charset="0"/>
                <a:ea typeface="Calibri" pitchFamily="34" charset="-122"/>
                <a:cs typeface="Calibri" pitchFamily="34" charset="-120"/>
              </a:rPr>
              <a:t>The key upgrade over last session's retrieval</a:t>
            </a:r>
            <a:endParaRPr lang="en-US" sz="1000" dirty="0"/>
          </a:p>
        </p:txBody>
      </p:sp>
      <p:sp>
        <p:nvSpPr>
          <p:cNvPr id="32" name="Shape 30"/>
          <p:cNvSpPr/>
          <p:nvPr/>
        </p:nvSpPr>
        <p:spPr>
          <a:xfrm>
            <a:off x="347472" y="3721608"/>
            <a:ext cx="402336" cy="402336"/>
          </a:xfrm>
          <a:prstGeom prst="ellipse">
            <a:avLst/>
          </a:prstGeom>
          <a:solidFill>
            <a:srgbClr val="D4891A"/>
          </a:solidFill>
          <a:ln w="12700">
            <a:solidFill>
              <a:srgbClr val="D4891A"/>
            </a:solidFill>
            <a:prstDash val="solid"/>
          </a:ln>
        </p:spPr>
      </p:sp>
      <p:sp>
        <p:nvSpPr>
          <p:cNvPr id="33" name="Text 31"/>
          <p:cNvSpPr/>
          <p:nvPr/>
        </p:nvSpPr>
        <p:spPr>
          <a:xfrm>
            <a:off x="347472" y="37216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5</a:t>
            </a:r>
            <a:endParaRPr lang="en-US" sz="1300" dirty="0"/>
          </a:p>
        </p:txBody>
      </p:sp>
      <p:sp>
        <p:nvSpPr>
          <p:cNvPr id="34" name="Shape 32"/>
          <p:cNvSpPr/>
          <p:nvPr/>
        </p:nvSpPr>
        <p:spPr>
          <a:xfrm>
            <a:off x="877824" y="3630168"/>
            <a:ext cx="8266176" cy="585216"/>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35" name="Shape 33"/>
          <p:cNvSpPr/>
          <p:nvPr/>
        </p:nvSpPr>
        <p:spPr>
          <a:xfrm>
            <a:off x="877824" y="3630168"/>
            <a:ext cx="64008" cy="585216"/>
          </a:xfrm>
          <a:prstGeom prst="rect">
            <a:avLst/>
          </a:prstGeom>
          <a:solidFill>
            <a:srgbClr val="D4891A"/>
          </a:solidFill>
          <a:ln w="12700">
            <a:solidFill>
              <a:srgbClr val="D4891A"/>
            </a:solidFill>
            <a:prstDash val="solid"/>
          </a:ln>
        </p:spPr>
      </p:sp>
      <p:sp>
        <p:nvSpPr>
          <p:cNvPr id="36" name="Text 34"/>
          <p:cNvSpPr/>
          <p:nvPr/>
        </p:nvSpPr>
        <p:spPr>
          <a:xfrm>
            <a:off x="1060704" y="3685032"/>
            <a:ext cx="7863840" cy="256032"/>
          </a:xfrm>
          <a:prstGeom prst="rect">
            <a:avLst/>
          </a:prstGeom>
          <a:noFill/>
          <a:ln/>
        </p:spPr>
        <p:txBody>
          <a:bodyPr wrap="square" lIns="0" tIns="0" rIns="0" bIns="0" rtlCol="0" anchor="ctr"/>
          <a:lstStyle/>
          <a:p>
            <a:pPr indent="0" marL="0">
              <a:buNone/>
            </a:pPr>
            <a:r>
              <a:rPr lang="en-US" sz="1300" b="1" dirty="0">
                <a:solidFill>
                  <a:srgbClr val="2D3A4A"/>
                </a:solidFill>
                <a:latin typeface="Trebuchet MS" pitchFamily="34" charset="0"/>
                <a:ea typeface="Trebuchet MS" pitchFamily="34" charset="-122"/>
                <a:cs typeface="Trebuchet MS" pitchFamily="34" charset="-120"/>
              </a:rPr>
              <a:t>Chunking + Vector Databases (Chroma)</a:t>
            </a:r>
            <a:endParaRPr lang="en-US" sz="1300" dirty="0"/>
          </a:p>
        </p:txBody>
      </p:sp>
      <p:sp>
        <p:nvSpPr>
          <p:cNvPr id="37" name="Text 35"/>
          <p:cNvSpPr/>
          <p:nvPr/>
        </p:nvSpPr>
        <p:spPr>
          <a:xfrm>
            <a:off x="1060704" y="3959352"/>
            <a:ext cx="7863840" cy="201168"/>
          </a:xfrm>
          <a:prstGeom prst="rect">
            <a:avLst/>
          </a:prstGeom>
          <a:noFill/>
          <a:ln/>
        </p:spPr>
        <p:txBody>
          <a:bodyPr wrap="square" lIns="0" tIns="0" rIns="0" bIns="0" rtlCol="0" anchor="ctr"/>
          <a:lstStyle/>
          <a:p>
            <a:pPr indent="0" marL="0">
              <a:buNone/>
            </a:pPr>
            <a:r>
              <a:rPr lang="en-US" sz="1000" dirty="0">
                <a:solidFill>
                  <a:srgbClr val="8896AB"/>
                </a:solidFill>
                <a:latin typeface="Calibri" pitchFamily="34" charset="0"/>
                <a:ea typeface="Calibri" pitchFamily="34" charset="-122"/>
                <a:cs typeface="Calibri" pitchFamily="34" charset="-120"/>
              </a:rPr>
              <a:t>Storing and querying embeddings efficiently</a:t>
            </a:r>
            <a:endParaRPr lang="en-US" sz="1000" dirty="0"/>
          </a:p>
        </p:txBody>
      </p:sp>
      <p:sp>
        <p:nvSpPr>
          <p:cNvPr id="38" name="Shape 36"/>
          <p:cNvSpPr/>
          <p:nvPr/>
        </p:nvSpPr>
        <p:spPr>
          <a:xfrm>
            <a:off x="347472" y="4389120"/>
            <a:ext cx="402336" cy="402336"/>
          </a:xfrm>
          <a:prstGeom prst="ellipse">
            <a:avLst/>
          </a:prstGeom>
          <a:solidFill>
            <a:srgbClr val="00879E"/>
          </a:solidFill>
          <a:ln w="12700">
            <a:solidFill>
              <a:srgbClr val="00879E"/>
            </a:solidFill>
            <a:prstDash val="solid"/>
          </a:ln>
        </p:spPr>
      </p:sp>
      <p:sp>
        <p:nvSpPr>
          <p:cNvPr id="39" name="Text 37"/>
          <p:cNvSpPr/>
          <p:nvPr/>
        </p:nvSpPr>
        <p:spPr>
          <a:xfrm>
            <a:off x="347472" y="43891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6</a:t>
            </a:r>
            <a:endParaRPr lang="en-US" sz="1300" dirty="0"/>
          </a:p>
        </p:txBody>
      </p:sp>
      <p:sp>
        <p:nvSpPr>
          <p:cNvPr id="40" name="Shape 38"/>
          <p:cNvSpPr/>
          <p:nvPr/>
        </p:nvSpPr>
        <p:spPr>
          <a:xfrm>
            <a:off x="877824" y="4297680"/>
            <a:ext cx="8266176" cy="585216"/>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41" name="Shape 39"/>
          <p:cNvSpPr/>
          <p:nvPr/>
        </p:nvSpPr>
        <p:spPr>
          <a:xfrm>
            <a:off x="877824" y="4297680"/>
            <a:ext cx="64008" cy="585216"/>
          </a:xfrm>
          <a:prstGeom prst="rect">
            <a:avLst/>
          </a:prstGeom>
          <a:solidFill>
            <a:srgbClr val="00879E"/>
          </a:solidFill>
          <a:ln w="12700">
            <a:solidFill>
              <a:srgbClr val="00879E"/>
            </a:solidFill>
            <a:prstDash val="solid"/>
          </a:ln>
        </p:spPr>
      </p:sp>
      <p:sp>
        <p:nvSpPr>
          <p:cNvPr id="42" name="Text 40"/>
          <p:cNvSpPr/>
          <p:nvPr/>
        </p:nvSpPr>
        <p:spPr>
          <a:xfrm>
            <a:off x="1060704" y="4352544"/>
            <a:ext cx="7863840" cy="256032"/>
          </a:xfrm>
          <a:prstGeom prst="rect">
            <a:avLst/>
          </a:prstGeom>
          <a:noFill/>
          <a:ln/>
        </p:spPr>
        <p:txBody>
          <a:bodyPr wrap="square" lIns="0" tIns="0" rIns="0" bIns="0" rtlCol="0" anchor="ctr"/>
          <a:lstStyle/>
          <a:p>
            <a:pPr indent="0" marL="0">
              <a:buNone/>
            </a:pPr>
            <a:r>
              <a:rPr lang="en-US" sz="1300" b="1" dirty="0">
                <a:solidFill>
                  <a:srgbClr val="2D3A4A"/>
                </a:solidFill>
                <a:latin typeface="Trebuchet MS" pitchFamily="34" charset="0"/>
                <a:ea typeface="Trebuchet MS" pitchFamily="34" charset="-122"/>
                <a:cs typeface="Trebuchet MS" pitchFamily="34" charset="-120"/>
              </a:rPr>
              <a:t>Visualizing with t-SNE</a:t>
            </a:r>
            <a:endParaRPr lang="en-US" sz="1300" dirty="0"/>
          </a:p>
        </p:txBody>
      </p:sp>
      <p:sp>
        <p:nvSpPr>
          <p:cNvPr id="43" name="Text 41"/>
          <p:cNvSpPr/>
          <p:nvPr/>
        </p:nvSpPr>
        <p:spPr>
          <a:xfrm>
            <a:off x="1060704" y="4626864"/>
            <a:ext cx="7863840" cy="201168"/>
          </a:xfrm>
          <a:prstGeom prst="rect">
            <a:avLst/>
          </a:prstGeom>
          <a:noFill/>
          <a:ln/>
        </p:spPr>
        <p:txBody>
          <a:bodyPr wrap="square" lIns="0" tIns="0" rIns="0" bIns="0" rtlCol="0" anchor="ctr"/>
          <a:lstStyle/>
          <a:p>
            <a:pPr indent="0" marL="0">
              <a:buNone/>
            </a:pPr>
            <a:r>
              <a:rPr lang="en-US" sz="1000" dirty="0">
                <a:solidFill>
                  <a:srgbClr val="8896AB"/>
                </a:solidFill>
                <a:latin typeface="Calibri" pitchFamily="34" charset="0"/>
                <a:ea typeface="Calibri" pitchFamily="34" charset="-122"/>
                <a:cs typeface="Calibri" pitchFamily="34" charset="-120"/>
              </a:rPr>
              <a:t>Seeing 384 dimensions collapsed into 2D clusters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349"/>
          </a:solidFill>
          <a:ln w="12700">
            <a:solidFill>
              <a:srgbClr val="0D234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Recap: Where Keyword Search Fails</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Text 4"/>
          <p:cNvSpPr/>
          <p:nvPr/>
        </p:nvSpPr>
        <p:spPr>
          <a:xfrm>
            <a:off x="384048" y="749808"/>
            <a:ext cx="8229600" cy="256032"/>
          </a:xfrm>
          <a:prstGeom prst="rect">
            <a:avLst/>
          </a:prstGeom>
          <a:noFill/>
          <a:ln/>
        </p:spPr>
        <p:txBody>
          <a:bodyPr wrap="square" lIns="0" tIns="0" rIns="0" bIns="0" rtlCol="0" anchor="ctr"/>
          <a:lstStyle/>
          <a:p>
            <a:pPr indent="0" marL="0">
              <a:buNone/>
            </a:pPr>
            <a:r>
              <a:rPr lang="en-US" sz="1100" i="1" dirty="0">
                <a:solidFill>
                  <a:srgbClr val="00879E"/>
                </a:solidFill>
                <a:latin typeface="Calibri" pitchFamily="34" charset="0"/>
                <a:ea typeface="Calibri" pitchFamily="34" charset="-122"/>
                <a:cs typeface="Calibri" pitchFamily="34" charset="-120"/>
              </a:rPr>
              <a:t>Picking up from the RAG notebook</a:t>
            </a:r>
            <a:endParaRPr lang="en-US" sz="1100" dirty="0"/>
          </a:p>
        </p:txBody>
      </p:sp>
      <p:sp>
        <p:nvSpPr>
          <p:cNvPr id="7" name="Shape 5"/>
          <p:cNvSpPr/>
          <p:nvPr/>
        </p:nvSpPr>
        <p:spPr>
          <a:xfrm>
            <a:off x="0" y="4937760"/>
            <a:ext cx="9144000" cy="205740"/>
          </a:xfrm>
          <a:prstGeom prst="rect">
            <a:avLst/>
          </a:prstGeom>
          <a:solidFill>
            <a:srgbClr val="0D2349"/>
          </a:solidFill>
          <a:ln w="12700">
            <a:solidFill>
              <a:srgbClr val="0D2349"/>
            </a:solidFill>
            <a:prstDash val="solid"/>
          </a:ln>
        </p:spPr>
      </p:sp>
      <p:sp>
        <p:nvSpPr>
          <p:cNvPr id="8" name="Text 6"/>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9" name="Shape 7"/>
          <p:cNvSpPr/>
          <p:nvPr/>
        </p:nvSpPr>
        <p:spPr>
          <a:xfrm>
            <a:off x="347472" y="1005840"/>
            <a:ext cx="8449056" cy="932688"/>
          </a:xfrm>
          <a:prstGeom prst="rect">
            <a:avLst/>
          </a:prstGeom>
          <a:solidFill>
            <a:srgbClr val="F1F8E9"/>
          </a:solidFill>
          <a:ln w="12700">
            <a:solidFill>
              <a:srgbClr val="81C784"/>
            </a:solidFill>
            <a:prstDash val="solid"/>
          </a:ln>
          <a:effectLst>
            <a:outerShdw sx="100000" sy="100000" kx="0" ky="0" algn="bl" rotWithShape="0" blurRad="50800" dist="12700" dir="8100000">
              <a:srgbClr val="000000">
                <a:alpha val="8000"/>
              </a:srgbClr>
            </a:outerShdw>
          </a:effectLst>
        </p:spPr>
      </p:sp>
      <p:sp>
        <p:nvSpPr>
          <p:cNvPr id="10" name="Shape 8"/>
          <p:cNvSpPr/>
          <p:nvPr/>
        </p:nvSpPr>
        <p:spPr>
          <a:xfrm>
            <a:off x="347472" y="1005840"/>
            <a:ext cx="73152" cy="932688"/>
          </a:xfrm>
          <a:prstGeom prst="rect">
            <a:avLst/>
          </a:prstGeom>
          <a:solidFill>
            <a:srgbClr val="2E7D32"/>
          </a:solidFill>
          <a:ln w="12700">
            <a:solidFill>
              <a:srgbClr val="2E7D32"/>
            </a:solidFill>
            <a:prstDash val="solid"/>
          </a:ln>
        </p:spPr>
      </p:sp>
      <p:sp>
        <p:nvSpPr>
          <p:cNvPr id="11" name="Text 9"/>
          <p:cNvSpPr/>
          <p:nvPr/>
        </p:nvSpPr>
        <p:spPr>
          <a:xfrm>
            <a:off x="548640" y="1078992"/>
            <a:ext cx="685800" cy="228600"/>
          </a:xfrm>
          <a:prstGeom prst="rect">
            <a:avLst/>
          </a:prstGeom>
          <a:noFill/>
          <a:ln/>
        </p:spPr>
        <p:txBody>
          <a:bodyPr wrap="square" lIns="0" tIns="0" rIns="0" bIns="0" rtlCol="0" anchor="ctr"/>
          <a:lstStyle/>
          <a:p>
            <a:pPr indent="0" marL="0">
              <a:buNone/>
            </a:pPr>
            <a:r>
              <a:rPr lang="en-US" sz="900" b="1" dirty="0">
                <a:solidFill>
                  <a:srgbClr val="8896AB"/>
                </a:solidFill>
                <a:latin typeface="Calibri" pitchFamily="34" charset="0"/>
                <a:ea typeface="Calibri" pitchFamily="34" charset="-122"/>
                <a:cs typeface="Calibri" pitchFamily="34" charset="-120"/>
              </a:rPr>
              <a:t>Query:</a:t>
            </a:r>
            <a:endParaRPr lang="en-US" sz="900" dirty="0"/>
          </a:p>
        </p:txBody>
      </p:sp>
      <p:sp>
        <p:nvSpPr>
          <p:cNvPr id="12" name="Text 10"/>
          <p:cNvSpPr/>
          <p:nvPr/>
        </p:nvSpPr>
        <p:spPr>
          <a:xfrm>
            <a:off x="1234440" y="1060704"/>
            <a:ext cx="3657600" cy="274320"/>
          </a:xfrm>
          <a:prstGeom prst="rect">
            <a:avLst/>
          </a:prstGeom>
          <a:noFill/>
          <a:ln/>
        </p:spPr>
        <p:txBody>
          <a:bodyPr wrap="square" lIns="0" tIns="0" rIns="0" bIns="0" rtlCol="0" anchor="ctr"/>
          <a:lstStyle/>
          <a:p>
            <a:pPr indent="0" marL="0">
              <a:buNone/>
            </a:pPr>
            <a:r>
              <a:rPr lang="en-US" sz="1300" b="1" dirty="0">
                <a:solidFill>
                  <a:srgbClr val="2D3A4A"/>
                </a:solidFill>
                <a:latin typeface="Consolas" pitchFamily="34" charset="0"/>
                <a:ea typeface="Consolas" pitchFamily="34" charset="-122"/>
                <a:cs typeface="Consolas" pitchFamily="34" charset="-120"/>
              </a:rPr>
              <a:t>"Who is the CEO?"</a:t>
            </a:r>
            <a:endParaRPr lang="en-US" sz="1300" dirty="0"/>
          </a:p>
        </p:txBody>
      </p:sp>
      <p:sp>
        <p:nvSpPr>
          <p:cNvPr id="13" name="Shape 11"/>
          <p:cNvSpPr/>
          <p:nvPr/>
        </p:nvSpPr>
        <p:spPr>
          <a:xfrm>
            <a:off x="5029200" y="1060704"/>
            <a:ext cx="1719072" cy="256032"/>
          </a:xfrm>
          <a:prstGeom prst="rect">
            <a:avLst/>
          </a:prstGeom>
          <a:solidFill>
            <a:srgbClr val="2E7D32"/>
          </a:solidFill>
          <a:ln w="12700">
            <a:solidFill>
              <a:srgbClr val="2E7D32"/>
            </a:solidFill>
            <a:prstDash val="solid"/>
          </a:ln>
        </p:spPr>
      </p:sp>
      <p:sp>
        <p:nvSpPr>
          <p:cNvPr id="14" name="Text 12"/>
          <p:cNvSpPr/>
          <p:nvPr/>
        </p:nvSpPr>
        <p:spPr>
          <a:xfrm>
            <a:off x="5029200" y="1060704"/>
            <a:ext cx="171907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Trebuchet MS" pitchFamily="34" charset="0"/>
                <a:ea typeface="Trebuchet MS" pitchFamily="34" charset="-122"/>
                <a:cs typeface="Trebuchet MS" pitchFamily="34" charset="-120"/>
              </a:rPr>
              <a:t>✓ Finds company doc</a:t>
            </a:r>
            <a:endParaRPr lang="en-US" sz="950" dirty="0"/>
          </a:p>
        </p:txBody>
      </p:sp>
      <p:sp>
        <p:nvSpPr>
          <p:cNvPr id="15" name="Text 13"/>
          <p:cNvSpPr/>
          <p:nvPr/>
        </p:nvSpPr>
        <p:spPr>
          <a:xfrm>
            <a:off x="6876288" y="1060704"/>
            <a:ext cx="1792224" cy="256032"/>
          </a:xfrm>
          <a:prstGeom prst="rect">
            <a:avLst/>
          </a:prstGeom>
          <a:noFill/>
          <a:ln/>
        </p:spPr>
        <p:txBody>
          <a:bodyPr wrap="square" lIns="0" tIns="0" rIns="0" bIns="0" rtlCol="0" anchor="ctr"/>
          <a:lstStyle/>
          <a:p>
            <a:pPr indent="0" marL="0">
              <a:buNone/>
            </a:pPr>
            <a:r>
              <a:rPr lang="en-US" sz="950" i="1" dirty="0">
                <a:solidFill>
                  <a:srgbClr val="2E7D32"/>
                </a:solidFill>
                <a:latin typeface="Calibri" pitchFamily="34" charset="0"/>
                <a:ea typeface="Calibri" pitchFamily="34" charset="-122"/>
                <a:cs typeface="Calibri" pitchFamily="34" charset="-120"/>
              </a:rPr>
              <a:t>"CEO" appears in the text</a:t>
            </a:r>
            <a:endParaRPr lang="en-US" sz="950" dirty="0"/>
          </a:p>
        </p:txBody>
      </p:sp>
      <p:sp>
        <p:nvSpPr>
          <p:cNvPr id="16" name="Text 14"/>
          <p:cNvSpPr/>
          <p:nvPr/>
        </p:nvSpPr>
        <p:spPr>
          <a:xfrm>
            <a:off x="548640" y="1408176"/>
            <a:ext cx="274320" cy="384048"/>
          </a:xfrm>
          <a:prstGeom prst="rect">
            <a:avLst/>
          </a:prstGeom>
          <a:noFill/>
          <a:ln/>
        </p:spPr>
        <p:txBody>
          <a:bodyPr wrap="square" lIns="0" tIns="0" rIns="0" bIns="0" rtlCol="0" anchor="ctr"/>
          <a:lstStyle/>
          <a:p>
            <a:pPr algn="ctr" indent="0" marL="0">
              <a:buNone/>
            </a:pPr>
            <a:r>
              <a:rPr lang="en-US" sz="1100" dirty="0">
                <a:solidFill>
                  <a:srgbClr val="2E7D32"/>
                </a:solidFill>
              </a:rPr>
              <a:t>→</a:t>
            </a:r>
            <a:endParaRPr lang="en-US" sz="1100" dirty="0"/>
          </a:p>
        </p:txBody>
      </p:sp>
      <p:sp>
        <p:nvSpPr>
          <p:cNvPr id="17" name="Text 15"/>
          <p:cNvSpPr/>
          <p:nvPr/>
        </p:nvSpPr>
        <p:spPr>
          <a:xfrm>
            <a:off x="868680" y="1389888"/>
            <a:ext cx="7818120" cy="457200"/>
          </a:xfrm>
          <a:prstGeom prst="rect">
            <a:avLst/>
          </a:prstGeom>
          <a:noFill/>
          <a:ln/>
        </p:spPr>
        <p:txBody>
          <a:bodyPr wrap="square" lIns="0" tIns="0" rIns="0" bIns="0" rtlCol="0" anchor="ctr"/>
          <a:lstStyle/>
          <a:p>
            <a:pPr indent="0" marL="0">
              <a:buNone/>
            </a:pPr>
            <a:r>
              <a:rPr lang="en-US" sz="1050" dirty="0">
                <a:solidFill>
                  <a:srgbClr val="2D3A4A"/>
                </a:solidFill>
                <a:latin typeface="Calibri" pitchFamily="34" charset="0"/>
                <a:ea typeface="Calibri" pitchFamily="34" charset="-122"/>
                <a:cs typeface="Calibri" pitchFamily="34" charset="-120"/>
              </a:rPr>
              <a:t>Direct match: the query word "CEO" exists in the document.</a:t>
            </a:r>
            <a:endParaRPr lang="en-US" sz="1050" dirty="0"/>
          </a:p>
        </p:txBody>
      </p:sp>
      <p:sp>
        <p:nvSpPr>
          <p:cNvPr id="18" name="Shape 16"/>
          <p:cNvSpPr/>
          <p:nvPr/>
        </p:nvSpPr>
        <p:spPr>
          <a:xfrm>
            <a:off x="347472" y="2084832"/>
            <a:ext cx="8449056" cy="932688"/>
          </a:xfrm>
          <a:prstGeom prst="rect">
            <a:avLst/>
          </a:prstGeom>
          <a:solidFill>
            <a:srgbClr val="F1F8E9"/>
          </a:solidFill>
          <a:ln w="12700">
            <a:solidFill>
              <a:srgbClr val="81C784"/>
            </a:solidFill>
            <a:prstDash val="solid"/>
          </a:ln>
          <a:effectLst>
            <a:outerShdw sx="100000" sy="100000" kx="0" ky="0" algn="bl" rotWithShape="0" blurRad="50800" dist="12700" dir="8100000">
              <a:srgbClr val="000000">
                <a:alpha val="8000"/>
              </a:srgbClr>
            </a:outerShdw>
          </a:effectLst>
        </p:spPr>
      </p:sp>
      <p:sp>
        <p:nvSpPr>
          <p:cNvPr id="19" name="Shape 17"/>
          <p:cNvSpPr/>
          <p:nvPr/>
        </p:nvSpPr>
        <p:spPr>
          <a:xfrm>
            <a:off x="347472" y="2084832"/>
            <a:ext cx="73152" cy="932688"/>
          </a:xfrm>
          <a:prstGeom prst="rect">
            <a:avLst/>
          </a:prstGeom>
          <a:solidFill>
            <a:srgbClr val="2E7D32"/>
          </a:solidFill>
          <a:ln w="12700">
            <a:solidFill>
              <a:srgbClr val="2E7D32"/>
            </a:solidFill>
            <a:prstDash val="solid"/>
          </a:ln>
        </p:spPr>
      </p:sp>
      <p:sp>
        <p:nvSpPr>
          <p:cNvPr id="20" name="Text 18"/>
          <p:cNvSpPr/>
          <p:nvPr/>
        </p:nvSpPr>
        <p:spPr>
          <a:xfrm>
            <a:off x="548640" y="2157984"/>
            <a:ext cx="685800" cy="228600"/>
          </a:xfrm>
          <a:prstGeom prst="rect">
            <a:avLst/>
          </a:prstGeom>
          <a:noFill/>
          <a:ln/>
        </p:spPr>
        <p:txBody>
          <a:bodyPr wrap="square" lIns="0" tIns="0" rIns="0" bIns="0" rtlCol="0" anchor="ctr"/>
          <a:lstStyle/>
          <a:p>
            <a:pPr indent="0" marL="0">
              <a:buNone/>
            </a:pPr>
            <a:r>
              <a:rPr lang="en-US" sz="900" b="1" dirty="0">
                <a:solidFill>
                  <a:srgbClr val="8896AB"/>
                </a:solidFill>
                <a:latin typeface="Calibri" pitchFamily="34" charset="0"/>
                <a:ea typeface="Calibri" pitchFamily="34" charset="-122"/>
                <a:cs typeface="Calibri" pitchFamily="34" charset="-120"/>
              </a:rPr>
              <a:t>Query:</a:t>
            </a:r>
            <a:endParaRPr lang="en-US" sz="900" dirty="0"/>
          </a:p>
        </p:txBody>
      </p:sp>
      <p:sp>
        <p:nvSpPr>
          <p:cNvPr id="21" name="Text 19"/>
          <p:cNvSpPr/>
          <p:nvPr/>
        </p:nvSpPr>
        <p:spPr>
          <a:xfrm>
            <a:off x="1234440" y="2139696"/>
            <a:ext cx="3657600" cy="274320"/>
          </a:xfrm>
          <a:prstGeom prst="rect">
            <a:avLst/>
          </a:prstGeom>
          <a:noFill/>
          <a:ln/>
        </p:spPr>
        <p:txBody>
          <a:bodyPr wrap="square" lIns="0" tIns="0" rIns="0" bIns="0" rtlCol="0" anchor="ctr"/>
          <a:lstStyle/>
          <a:p>
            <a:pPr indent="0" marL="0">
              <a:buNone/>
            </a:pPr>
            <a:r>
              <a:rPr lang="en-US" sz="1300" b="1" dirty="0">
                <a:solidFill>
                  <a:srgbClr val="2D3A4A"/>
                </a:solidFill>
                <a:latin typeface="Consolas" pitchFamily="34" charset="0"/>
                <a:ea typeface="Consolas" pitchFamily="34" charset="-122"/>
                <a:cs typeface="Consolas" pitchFamily="34" charset="-120"/>
              </a:rPr>
              <a:t>"Who is Priya?"</a:t>
            </a:r>
            <a:endParaRPr lang="en-US" sz="1300" dirty="0"/>
          </a:p>
        </p:txBody>
      </p:sp>
      <p:sp>
        <p:nvSpPr>
          <p:cNvPr id="22" name="Shape 20"/>
          <p:cNvSpPr/>
          <p:nvPr/>
        </p:nvSpPr>
        <p:spPr>
          <a:xfrm>
            <a:off x="5029200" y="2139696"/>
            <a:ext cx="1719072" cy="256032"/>
          </a:xfrm>
          <a:prstGeom prst="rect">
            <a:avLst/>
          </a:prstGeom>
          <a:solidFill>
            <a:srgbClr val="2E7D32"/>
          </a:solidFill>
          <a:ln w="12700">
            <a:solidFill>
              <a:srgbClr val="2E7D32"/>
            </a:solidFill>
            <a:prstDash val="solid"/>
          </a:ln>
        </p:spPr>
      </p:sp>
      <p:sp>
        <p:nvSpPr>
          <p:cNvPr id="23" name="Text 21"/>
          <p:cNvSpPr/>
          <p:nvPr/>
        </p:nvSpPr>
        <p:spPr>
          <a:xfrm>
            <a:off x="5029200" y="2139696"/>
            <a:ext cx="171907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Trebuchet MS" pitchFamily="34" charset="0"/>
                <a:ea typeface="Trebuchet MS" pitchFamily="34" charset="-122"/>
                <a:cs typeface="Trebuchet MS" pitchFamily="34" charset="-120"/>
              </a:rPr>
              <a:t>✓ Finds Priya's doc</a:t>
            </a:r>
            <a:endParaRPr lang="en-US" sz="950" dirty="0"/>
          </a:p>
        </p:txBody>
      </p:sp>
      <p:sp>
        <p:nvSpPr>
          <p:cNvPr id="24" name="Text 22"/>
          <p:cNvSpPr/>
          <p:nvPr/>
        </p:nvSpPr>
        <p:spPr>
          <a:xfrm>
            <a:off x="6876288" y="2139696"/>
            <a:ext cx="1792224" cy="256032"/>
          </a:xfrm>
          <a:prstGeom prst="rect">
            <a:avLst/>
          </a:prstGeom>
          <a:noFill/>
          <a:ln/>
        </p:spPr>
        <p:txBody>
          <a:bodyPr wrap="square" lIns="0" tIns="0" rIns="0" bIns="0" rtlCol="0" anchor="ctr"/>
          <a:lstStyle/>
          <a:p>
            <a:pPr indent="0" marL="0">
              <a:buNone/>
            </a:pPr>
            <a:r>
              <a:rPr lang="en-US" sz="950" i="1" dirty="0">
                <a:solidFill>
                  <a:srgbClr val="2E7D32"/>
                </a:solidFill>
                <a:latin typeface="Calibri" pitchFamily="34" charset="0"/>
                <a:ea typeface="Calibri" pitchFamily="34" charset="-122"/>
                <a:cs typeface="Calibri" pitchFamily="34" charset="-120"/>
              </a:rPr>
              <a:t>"Priya" appears in the text</a:t>
            </a:r>
            <a:endParaRPr lang="en-US" sz="950" dirty="0"/>
          </a:p>
        </p:txBody>
      </p:sp>
      <p:sp>
        <p:nvSpPr>
          <p:cNvPr id="25" name="Text 23"/>
          <p:cNvSpPr/>
          <p:nvPr/>
        </p:nvSpPr>
        <p:spPr>
          <a:xfrm>
            <a:off x="548640" y="2487168"/>
            <a:ext cx="274320" cy="384048"/>
          </a:xfrm>
          <a:prstGeom prst="rect">
            <a:avLst/>
          </a:prstGeom>
          <a:noFill/>
          <a:ln/>
        </p:spPr>
        <p:txBody>
          <a:bodyPr wrap="square" lIns="0" tIns="0" rIns="0" bIns="0" rtlCol="0" anchor="ctr"/>
          <a:lstStyle/>
          <a:p>
            <a:pPr algn="ctr" indent="0" marL="0">
              <a:buNone/>
            </a:pPr>
            <a:r>
              <a:rPr lang="en-US" sz="1100" dirty="0">
                <a:solidFill>
                  <a:srgbClr val="2E7D32"/>
                </a:solidFill>
              </a:rPr>
              <a:t>→</a:t>
            </a:r>
            <a:endParaRPr lang="en-US" sz="1100" dirty="0"/>
          </a:p>
        </p:txBody>
      </p:sp>
      <p:sp>
        <p:nvSpPr>
          <p:cNvPr id="26" name="Text 24"/>
          <p:cNvSpPr/>
          <p:nvPr/>
        </p:nvSpPr>
        <p:spPr>
          <a:xfrm>
            <a:off x="868680" y="2468880"/>
            <a:ext cx="7818120" cy="457200"/>
          </a:xfrm>
          <a:prstGeom prst="rect">
            <a:avLst/>
          </a:prstGeom>
          <a:noFill/>
          <a:ln/>
        </p:spPr>
        <p:txBody>
          <a:bodyPr wrap="square" lIns="0" tIns="0" rIns="0" bIns="0" rtlCol="0" anchor="ctr"/>
          <a:lstStyle/>
          <a:p>
            <a:pPr indent="0" marL="0">
              <a:buNone/>
            </a:pPr>
            <a:r>
              <a:rPr lang="en-US" sz="1050" dirty="0">
                <a:solidFill>
                  <a:srgbClr val="2D3A4A"/>
                </a:solidFill>
                <a:latin typeface="Calibri" pitchFamily="34" charset="0"/>
                <a:ea typeface="Calibri" pitchFamily="34" charset="-122"/>
                <a:cs typeface="Calibri" pitchFamily="34" charset="-120"/>
              </a:rPr>
              <a:t>Direct match: the name "Priya" exists in the document.</a:t>
            </a:r>
            <a:endParaRPr lang="en-US" sz="1050" dirty="0"/>
          </a:p>
        </p:txBody>
      </p:sp>
      <p:sp>
        <p:nvSpPr>
          <p:cNvPr id="27" name="Shape 25"/>
          <p:cNvSpPr/>
          <p:nvPr/>
        </p:nvSpPr>
        <p:spPr>
          <a:xfrm>
            <a:off x="347472" y="3163824"/>
            <a:ext cx="8449056" cy="932688"/>
          </a:xfrm>
          <a:prstGeom prst="rect">
            <a:avLst/>
          </a:prstGeom>
          <a:solidFill>
            <a:srgbClr val="FFF3E0"/>
          </a:solidFill>
          <a:ln w="12700">
            <a:solidFill>
              <a:srgbClr val="D4891A"/>
            </a:solidFill>
            <a:prstDash val="solid"/>
          </a:ln>
          <a:effectLst>
            <a:outerShdw sx="100000" sy="100000" kx="0" ky="0" algn="bl" rotWithShape="0" blurRad="50800" dist="12700" dir="8100000">
              <a:srgbClr val="000000">
                <a:alpha val="8000"/>
              </a:srgbClr>
            </a:outerShdw>
          </a:effectLst>
        </p:spPr>
      </p:sp>
      <p:sp>
        <p:nvSpPr>
          <p:cNvPr id="28" name="Shape 26"/>
          <p:cNvSpPr/>
          <p:nvPr/>
        </p:nvSpPr>
        <p:spPr>
          <a:xfrm>
            <a:off x="347472" y="3163824"/>
            <a:ext cx="73152" cy="932688"/>
          </a:xfrm>
          <a:prstGeom prst="rect">
            <a:avLst/>
          </a:prstGeom>
          <a:solidFill>
            <a:srgbClr val="D4891A"/>
          </a:solidFill>
          <a:ln w="12700">
            <a:solidFill>
              <a:srgbClr val="D4891A"/>
            </a:solidFill>
            <a:prstDash val="solid"/>
          </a:ln>
        </p:spPr>
      </p:sp>
      <p:sp>
        <p:nvSpPr>
          <p:cNvPr id="29" name="Text 27"/>
          <p:cNvSpPr/>
          <p:nvPr/>
        </p:nvSpPr>
        <p:spPr>
          <a:xfrm>
            <a:off x="548640" y="3236976"/>
            <a:ext cx="685800" cy="228600"/>
          </a:xfrm>
          <a:prstGeom prst="rect">
            <a:avLst/>
          </a:prstGeom>
          <a:noFill/>
          <a:ln/>
        </p:spPr>
        <p:txBody>
          <a:bodyPr wrap="square" lIns="0" tIns="0" rIns="0" bIns="0" rtlCol="0" anchor="ctr"/>
          <a:lstStyle/>
          <a:p>
            <a:pPr indent="0" marL="0">
              <a:buNone/>
            </a:pPr>
            <a:r>
              <a:rPr lang="en-US" sz="900" b="1" dirty="0">
                <a:solidFill>
                  <a:srgbClr val="8896AB"/>
                </a:solidFill>
                <a:latin typeface="Calibri" pitchFamily="34" charset="0"/>
                <a:ea typeface="Calibri" pitchFamily="34" charset="-122"/>
                <a:cs typeface="Calibri" pitchFamily="34" charset="-120"/>
              </a:rPr>
              <a:t>Query:</a:t>
            </a:r>
            <a:endParaRPr lang="en-US" sz="900" dirty="0"/>
          </a:p>
        </p:txBody>
      </p:sp>
      <p:sp>
        <p:nvSpPr>
          <p:cNvPr id="30" name="Text 28"/>
          <p:cNvSpPr/>
          <p:nvPr/>
        </p:nvSpPr>
        <p:spPr>
          <a:xfrm>
            <a:off x="1234440" y="3218688"/>
            <a:ext cx="3657600" cy="274320"/>
          </a:xfrm>
          <a:prstGeom prst="rect">
            <a:avLst/>
          </a:prstGeom>
          <a:noFill/>
          <a:ln/>
        </p:spPr>
        <p:txBody>
          <a:bodyPr wrap="square" lIns="0" tIns="0" rIns="0" bIns="0" rtlCol="0" anchor="ctr"/>
          <a:lstStyle/>
          <a:p>
            <a:pPr indent="0" marL="0">
              <a:buNone/>
            </a:pPr>
            <a:r>
              <a:rPr lang="en-US" sz="1300" b="1" dirty="0">
                <a:solidFill>
                  <a:srgbClr val="2D3A4A"/>
                </a:solidFill>
                <a:latin typeface="Consolas" pitchFamily="34" charset="0"/>
                <a:ea typeface="Consolas" pitchFamily="34" charset="-122"/>
                <a:cs typeface="Consolas" pitchFamily="34" charset="-120"/>
              </a:rPr>
              <a:t>"Who founded the company?"</a:t>
            </a:r>
            <a:endParaRPr lang="en-US" sz="1300" dirty="0"/>
          </a:p>
        </p:txBody>
      </p:sp>
      <p:sp>
        <p:nvSpPr>
          <p:cNvPr id="31" name="Shape 29"/>
          <p:cNvSpPr/>
          <p:nvPr/>
        </p:nvSpPr>
        <p:spPr>
          <a:xfrm>
            <a:off x="5029200" y="3218688"/>
            <a:ext cx="1719072" cy="256032"/>
          </a:xfrm>
          <a:prstGeom prst="rect">
            <a:avLst/>
          </a:prstGeom>
          <a:solidFill>
            <a:srgbClr val="C62828"/>
          </a:solidFill>
          <a:ln w="12700">
            <a:solidFill>
              <a:srgbClr val="C62828"/>
            </a:solidFill>
            <a:prstDash val="solid"/>
          </a:ln>
        </p:spPr>
      </p:sp>
      <p:sp>
        <p:nvSpPr>
          <p:cNvPr id="32" name="Text 30"/>
          <p:cNvSpPr/>
          <p:nvPr/>
        </p:nvSpPr>
        <p:spPr>
          <a:xfrm>
            <a:off x="5029200" y="3218688"/>
            <a:ext cx="171907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Trebuchet MS" pitchFamily="34" charset="0"/>
                <a:ea typeface="Trebuchet MS" pitchFamily="34" charset="-122"/>
                <a:cs typeface="Trebuchet MS" pitchFamily="34" charset="-120"/>
              </a:rPr>
              <a:t>✗ Misses Priya's doc</a:t>
            </a:r>
            <a:endParaRPr lang="en-US" sz="950" dirty="0"/>
          </a:p>
        </p:txBody>
      </p:sp>
      <p:sp>
        <p:nvSpPr>
          <p:cNvPr id="33" name="Text 31"/>
          <p:cNvSpPr/>
          <p:nvPr/>
        </p:nvSpPr>
        <p:spPr>
          <a:xfrm>
            <a:off x="6876288" y="3218688"/>
            <a:ext cx="1792224" cy="256032"/>
          </a:xfrm>
          <a:prstGeom prst="rect">
            <a:avLst/>
          </a:prstGeom>
          <a:noFill/>
          <a:ln/>
        </p:spPr>
        <p:txBody>
          <a:bodyPr wrap="square" lIns="0" tIns="0" rIns="0" bIns="0" rtlCol="0" anchor="ctr"/>
          <a:lstStyle/>
          <a:p>
            <a:pPr indent="0" marL="0">
              <a:buNone/>
            </a:pPr>
            <a:r>
              <a:rPr lang="en-US" sz="950" i="1" dirty="0">
                <a:solidFill>
                  <a:srgbClr val="C62828"/>
                </a:solidFill>
                <a:latin typeface="Calibri" pitchFamily="34" charset="0"/>
                <a:ea typeface="Calibri" pitchFamily="34" charset="-122"/>
                <a:cs typeface="Calibri" pitchFamily="34" charset="-120"/>
              </a:rPr>
              <a:t>"founded" ≠ "CEO" or "Priya"</a:t>
            </a:r>
            <a:endParaRPr lang="en-US" sz="950" dirty="0"/>
          </a:p>
        </p:txBody>
      </p:sp>
      <p:sp>
        <p:nvSpPr>
          <p:cNvPr id="34" name="Text 32"/>
          <p:cNvSpPr/>
          <p:nvPr/>
        </p:nvSpPr>
        <p:spPr>
          <a:xfrm>
            <a:off x="548640" y="3566160"/>
            <a:ext cx="274320" cy="384048"/>
          </a:xfrm>
          <a:prstGeom prst="rect">
            <a:avLst/>
          </a:prstGeom>
          <a:noFill/>
          <a:ln/>
        </p:spPr>
        <p:txBody>
          <a:bodyPr wrap="square" lIns="0" tIns="0" rIns="0" bIns="0" rtlCol="0" anchor="ctr"/>
          <a:lstStyle/>
          <a:p>
            <a:pPr algn="ctr" indent="0" marL="0">
              <a:buNone/>
            </a:pPr>
            <a:r>
              <a:rPr lang="en-US" sz="1100" dirty="0">
                <a:solidFill>
                  <a:srgbClr val="D4891A"/>
                </a:solidFill>
              </a:rPr>
              <a:t>→</a:t>
            </a:r>
            <a:endParaRPr lang="en-US" sz="1100" dirty="0"/>
          </a:p>
        </p:txBody>
      </p:sp>
      <p:sp>
        <p:nvSpPr>
          <p:cNvPr id="35" name="Text 33"/>
          <p:cNvSpPr/>
          <p:nvPr/>
        </p:nvSpPr>
        <p:spPr>
          <a:xfrm>
            <a:off x="868680" y="3547872"/>
            <a:ext cx="7818120" cy="457200"/>
          </a:xfrm>
          <a:prstGeom prst="rect">
            <a:avLst/>
          </a:prstGeom>
          <a:noFill/>
          <a:ln/>
        </p:spPr>
        <p:txBody>
          <a:bodyPr wrap="square" lIns="0" tIns="0" rIns="0" bIns="0" rtlCol="0" anchor="ctr"/>
          <a:lstStyle/>
          <a:p>
            <a:pPr indent="0" marL="0">
              <a:buNone/>
            </a:pPr>
            <a:r>
              <a:rPr lang="en-US" sz="1050" dirty="0">
                <a:solidFill>
                  <a:srgbClr val="2D3A4A"/>
                </a:solidFill>
                <a:latin typeface="Calibri" pitchFamily="34" charset="0"/>
                <a:ea typeface="Calibri" pitchFamily="34" charset="-122"/>
                <a:cs typeface="Calibri" pitchFamily="34" charset="-120"/>
              </a:rPr>
              <a:t>"founded" and "CEO" mean the same thing — but keyword search can't see that connection. It only checks if a word literally appears in the document.</a:t>
            </a:r>
            <a:endParaRPr lang="en-US" sz="1050" dirty="0"/>
          </a:p>
        </p:txBody>
      </p:sp>
      <p:sp>
        <p:nvSpPr>
          <p:cNvPr id="36" name="Shape 34"/>
          <p:cNvSpPr/>
          <p:nvPr/>
        </p:nvSpPr>
        <p:spPr>
          <a:xfrm>
            <a:off x="347472" y="4297680"/>
            <a:ext cx="8449056" cy="347472"/>
          </a:xfrm>
          <a:prstGeom prst="rect">
            <a:avLst/>
          </a:prstGeom>
          <a:solidFill>
            <a:srgbClr val="00879E"/>
          </a:solidFill>
          <a:ln w="12700">
            <a:solidFill>
              <a:srgbClr val="00879E"/>
            </a:solidFill>
            <a:prstDash val="solid"/>
          </a:ln>
        </p:spPr>
      </p:sp>
      <p:sp>
        <p:nvSpPr>
          <p:cNvPr id="37" name="Text 35"/>
          <p:cNvSpPr/>
          <p:nvPr/>
        </p:nvSpPr>
        <p:spPr>
          <a:xfrm>
            <a:off x="457200" y="4297680"/>
            <a:ext cx="83210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We need search that understands meaning, not just matches keywords.  →  Embeddings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349"/>
          </a:solidFill>
          <a:ln w="12700">
            <a:solidFill>
              <a:srgbClr val="0D234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What Are Embeddings?</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Text 4"/>
          <p:cNvSpPr/>
          <p:nvPr/>
        </p:nvSpPr>
        <p:spPr>
          <a:xfrm>
            <a:off x="384048" y="749808"/>
            <a:ext cx="8229600" cy="256032"/>
          </a:xfrm>
          <a:prstGeom prst="rect">
            <a:avLst/>
          </a:prstGeom>
          <a:noFill/>
          <a:ln/>
        </p:spPr>
        <p:txBody>
          <a:bodyPr wrap="square" lIns="0" tIns="0" rIns="0" bIns="0" rtlCol="0" anchor="ctr"/>
          <a:lstStyle/>
          <a:p>
            <a:pPr indent="0" marL="0">
              <a:buNone/>
            </a:pPr>
            <a:r>
              <a:rPr lang="en-US" sz="1100" i="1" dirty="0">
                <a:solidFill>
                  <a:srgbClr val="00879E"/>
                </a:solidFill>
                <a:latin typeface="Calibri" pitchFamily="34" charset="0"/>
                <a:ea typeface="Calibri" pitchFamily="34" charset="-122"/>
                <a:cs typeface="Calibri" pitchFamily="34" charset="-120"/>
              </a:rPr>
              <a:t>Text → numbers that capture meaning</a:t>
            </a:r>
            <a:endParaRPr lang="en-US" sz="1100" dirty="0"/>
          </a:p>
        </p:txBody>
      </p:sp>
      <p:sp>
        <p:nvSpPr>
          <p:cNvPr id="7" name="Shape 5"/>
          <p:cNvSpPr/>
          <p:nvPr/>
        </p:nvSpPr>
        <p:spPr>
          <a:xfrm>
            <a:off x="0" y="4937760"/>
            <a:ext cx="9144000" cy="205740"/>
          </a:xfrm>
          <a:prstGeom prst="rect">
            <a:avLst/>
          </a:prstGeom>
          <a:solidFill>
            <a:srgbClr val="0D2349"/>
          </a:solidFill>
          <a:ln w="12700">
            <a:solidFill>
              <a:srgbClr val="0D2349"/>
            </a:solidFill>
            <a:prstDash val="solid"/>
          </a:ln>
        </p:spPr>
      </p:sp>
      <p:sp>
        <p:nvSpPr>
          <p:cNvPr id="8" name="Text 6"/>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9" name="Text 7"/>
          <p:cNvSpPr/>
          <p:nvPr/>
        </p:nvSpPr>
        <p:spPr>
          <a:xfrm>
            <a:off x="347472" y="960120"/>
            <a:ext cx="8449056" cy="292608"/>
          </a:xfrm>
          <a:prstGeom prst="rect">
            <a:avLst/>
          </a:prstGeom>
          <a:noFill/>
          <a:ln/>
        </p:spPr>
        <p:txBody>
          <a:bodyPr wrap="square" lIns="0" tIns="0" rIns="0" bIns="0" rtlCol="0" anchor="ctr"/>
          <a:lstStyle/>
          <a:p>
            <a:pPr indent="0" marL="0">
              <a:buNone/>
            </a:pPr>
            <a:r>
              <a:rPr lang="en-US" sz="1300" i="1" dirty="0">
                <a:solidFill>
                  <a:srgbClr val="2D3A4A"/>
                </a:solidFill>
                <a:latin typeface="Calibri" pitchFamily="34" charset="0"/>
                <a:ea typeface="Calibri" pitchFamily="34" charset="-122"/>
                <a:cs typeface="Calibri" pitchFamily="34" charset="-120"/>
              </a:rPr>
              <a:t>Convert text into a list of numbers that captures its meaning</a:t>
            </a:r>
            <a:endParaRPr lang="en-US" sz="1300" dirty="0"/>
          </a:p>
        </p:txBody>
      </p:sp>
      <p:sp>
        <p:nvSpPr>
          <p:cNvPr id="10" name="Shape 8"/>
          <p:cNvSpPr/>
          <p:nvPr/>
        </p:nvSpPr>
        <p:spPr>
          <a:xfrm>
            <a:off x="347472" y="1353312"/>
            <a:ext cx="8449056" cy="786384"/>
          </a:xfrm>
          <a:prstGeom prst="rect">
            <a:avLst/>
          </a:prstGeom>
          <a:solidFill>
            <a:srgbClr val="FFFFFF"/>
          </a:solidFill>
          <a:ln w="12700">
            <a:solidFill>
              <a:srgbClr val="1A4B8C"/>
            </a:solidFill>
            <a:prstDash val="solid"/>
          </a:ln>
          <a:effectLst>
            <a:outerShdw sx="100000" sy="100000" kx="0" ky="0" algn="bl" rotWithShape="0" blurRad="50800" dist="12700" dir="8100000">
              <a:srgbClr val="000000">
                <a:alpha val="8000"/>
              </a:srgbClr>
            </a:outerShdw>
          </a:effectLst>
        </p:spPr>
      </p:sp>
      <p:sp>
        <p:nvSpPr>
          <p:cNvPr id="11" name="Shape 9"/>
          <p:cNvSpPr/>
          <p:nvPr/>
        </p:nvSpPr>
        <p:spPr>
          <a:xfrm>
            <a:off x="347472" y="1353312"/>
            <a:ext cx="64008" cy="786384"/>
          </a:xfrm>
          <a:prstGeom prst="rect">
            <a:avLst/>
          </a:prstGeom>
          <a:solidFill>
            <a:srgbClr val="1A4B8C"/>
          </a:solidFill>
          <a:ln w="12700">
            <a:solidFill>
              <a:srgbClr val="1A4B8C"/>
            </a:solidFill>
            <a:prstDash val="solid"/>
          </a:ln>
        </p:spPr>
      </p:sp>
      <p:sp>
        <p:nvSpPr>
          <p:cNvPr id="12" name="Text 10"/>
          <p:cNvSpPr/>
          <p:nvPr/>
        </p:nvSpPr>
        <p:spPr>
          <a:xfrm>
            <a:off x="548640" y="1463040"/>
            <a:ext cx="2011680" cy="402336"/>
          </a:xfrm>
          <a:prstGeom prst="rect">
            <a:avLst/>
          </a:prstGeom>
          <a:noFill/>
          <a:ln/>
        </p:spPr>
        <p:txBody>
          <a:bodyPr wrap="square" lIns="0" tIns="0" rIns="0" bIns="0" rtlCol="0" anchor="ctr"/>
          <a:lstStyle/>
          <a:p>
            <a:pPr indent="0" marL="0">
              <a:buNone/>
            </a:pPr>
            <a:r>
              <a:rPr lang="en-US" sz="1300" b="1" dirty="0">
                <a:solidFill>
                  <a:srgbClr val="2D3A4A"/>
                </a:solidFill>
                <a:latin typeface="Consolas" pitchFamily="34" charset="0"/>
                <a:ea typeface="Consolas" pitchFamily="34" charset="-122"/>
                <a:cs typeface="Consolas" pitchFamily="34" charset="-120"/>
              </a:rPr>
              <a:t>"machine learning"</a:t>
            </a:r>
            <a:endParaRPr lang="en-US" sz="1300" dirty="0"/>
          </a:p>
        </p:txBody>
      </p:sp>
      <p:sp>
        <p:nvSpPr>
          <p:cNvPr id="13" name="Text 11"/>
          <p:cNvSpPr/>
          <p:nvPr/>
        </p:nvSpPr>
        <p:spPr>
          <a:xfrm>
            <a:off x="2633472" y="1463040"/>
            <a:ext cx="347472" cy="402336"/>
          </a:xfrm>
          <a:prstGeom prst="rect">
            <a:avLst/>
          </a:prstGeom>
          <a:noFill/>
          <a:ln/>
        </p:spPr>
        <p:txBody>
          <a:bodyPr wrap="square" lIns="0" tIns="0" rIns="0" bIns="0" rtlCol="0" anchor="ctr"/>
          <a:lstStyle/>
          <a:p>
            <a:pPr algn="ctr" indent="0" marL="0">
              <a:buNone/>
            </a:pPr>
            <a:r>
              <a:rPr lang="en-US" sz="1600" b="1" dirty="0">
                <a:solidFill>
                  <a:srgbClr val="1A4B8C"/>
                </a:solidFill>
              </a:rPr>
              <a:t>→</a:t>
            </a:r>
            <a:endParaRPr lang="en-US" sz="1600" dirty="0"/>
          </a:p>
        </p:txBody>
      </p:sp>
      <p:sp>
        <p:nvSpPr>
          <p:cNvPr id="14" name="Text 12"/>
          <p:cNvSpPr/>
          <p:nvPr/>
        </p:nvSpPr>
        <p:spPr>
          <a:xfrm>
            <a:off x="3017520" y="1463040"/>
            <a:ext cx="4389120" cy="402336"/>
          </a:xfrm>
          <a:prstGeom prst="rect">
            <a:avLst/>
          </a:prstGeom>
          <a:noFill/>
          <a:ln/>
        </p:spPr>
        <p:txBody>
          <a:bodyPr wrap="square" lIns="0" tIns="0" rIns="0" bIns="0" rtlCol="0" anchor="ctr"/>
          <a:lstStyle/>
          <a:p>
            <a:pPr indent="0" marL="0">
              <a:buNone/>
            </a:pPr>
            <a:r>
              <a:rPr lang="en-US" sz="1100" dirty="0">
                <a:solidFill>
                  <a:srgbClr val="2D3A4A"/>
                </a:solidFill>
                <a:latin typeface="Consolas" pitchFamily="34" charset="0"/>
                <a:ea typeface="Consolas" pitchFamily="34" charset="-122"/>
                <a:cs typeface="Consolas" pitchFamily="34" charset="-120"/>
              </a:rPr>
              <a:t>[0.12, -0.45, 0.78, 0.33, -0.91, ...]</a:t>
            </a:r>
            <a:endParaRPr lang="en-US" sz="1100" dirty="0"/>
          </a:p>
        </p:txBody>
      </p:sp>
      <p:sp>
        <p:nvSpPr>
          <p:cNvPr id="15" name="Shape 13"/>
          <p:cNvSpPr/>
          <p:nvPr/>
        </p:nvSpPr>
        <p:spPr>
          <a:xfrm>
            <a:off x="7479792" y="1481328"/>
            <a:ext cx="1188720" cy="347472"/>
          </a:xfrm>
          <a:prstGeom prst="rect">
            <a:avLst/>
          </a:prstGeom>
          <a:solidFill>
            <a:srgbClr val="1A4B8C"/>
          </a:solidFill>
          <a:ln w="12700">
            <a:solidFill>
              <a:srgbClr val="1A4B8C"/>
            </a:solidFill>
            <a:prstDash val="solid"/>
          </a:ln>
        </p:spPr>
      </p:sp>
      <p:sp>
        <p:nvSpPr>
          <p:cNvPr id="16" name="Text 14"/>
          <p:cNvSpPr/>
          <p:nvPr/>
        </p:nvSpPr>
        <p:spPr>
          <a:xfrm>
            <a:off x="7479792" y="1481328"/>
            <a:ext cx="118872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(384 numbers)</a:t>
            </a:r>
            <a:endParaRPr lang="en-US" sz="900" dirty="0"/>
          </a:p>
        </p:txBody>
      </p:sp>
      <p:sp>
        <p:nvSpPr>
          <p:cNvPr id="17" name="Shape 15"/>
          <p:cNvSpPr/>
          <p:nvPr/>
        </p:nvSpPr>
        <p:spPr>
          <a:xfrm>
            <a:off x="347472" y="2267712"/>
            <a:ext cx="8449056" cy="786384"/>
          </a:xfrm>
          <a:prstGeom prst="rect">
            <a:avLst/>
          </a:prstGeom>
          <a:solidFill>
            <a:srgbClr val="FFFFFF"/>
          </a:solidFill>
          <a:ln w="12700">
            <a:solidFill>
              <a:srgbClr val="00879E"/>
            </a:solidFill>
            <a:prstDash val="solid"/>
          </a:ln>
          <a:effectLst>
            <a:outerShdw sx="100000" sy="100000" kx="0" ky="0" algn="bl" rotWithShape="0" blurRad="50800" dist="12700" dir="8100000">
              <a:srgbClr val="000000">
                <a:alpha val="8000"/>
              </a:srgbClr>
            </a:outerShdw>
          </a:effectLst>
        </p:spPr>
      </p:sp>
      <p:sp>
        <p:nvSpPr>
          <p:cNvPr id="18" name="Shape 16"/>
          <p:cNvSpPr/>
          <p:nvPr/>
        </p:nvSpPr>
        <p:spPr>
          <a:xfrm>
            <a:off x="347472" y="2267712"/>
            <a:ext cx="64008" cy="786384"/>
          </a:xfrm>
          <a:prstGeom prst="rect">
            <a:avLst/>
          </a:prstGeom>
          <a:solidFill>
            <a:srgbClr val="00879E"/>
          </a:solidFill>
          <a:ln w="12700">
            <a:solidFill>
              <a:srgbClr val="00879E"/>
            </a:solidFill>
            <a:prstDash val="solid"/>
          </a:ln>
        </p:spPr>
      </p:sp>
      <p:sp>
        <p:nvSpPr>
          <p:cNvPr id="19" name="Text 17"/>
          <p:cNvSpPr/>
          <p:nvPr/>
        </p:nvSpPr>
        <p:spPr>
          <a:xfrm>
            <a:off x="548640" y="2377440"/>
            <a:ext cx="2011680" cy="402336"/>
          </a:xfrm>
          <a:prstGeom prst="rect">
            <a:avLst/>
          </a:prstGeom>
          <a:noFill/>
          <a:ln/>
        </p:spPr>
        <p:txBody>
          <a:bodyPr wrap="square" lIns="0" tIns="0" rIns="0" bIns="0" rtlCol="0" anchor="ctr"/>
          <a:lstStyle/>
          <a:p>
            <a:pPr indent="0" marL="0">
              <a:buNone/>
            </a:pPr>
            <a:r>
              <a:rPr lang="en-US" sz="1300" b="1" dirty="0">
                <a:solidFill>
                  <a:srgbClr val="2D3A4A"/>
                </a:solidFill>
                <a:latin typeface="Consolas" pitchFamily="34" charset="0"/>
                <a:ea typeface="Consolas" pitchFamily="34" charset="-122"/>
                <a:cs typeface="Consolas" pitchFamily="34" charset="-120"/>
              </a:rPr>
              <a:t>"deep learning"</a:t>
            </a:r>
            <a:endParaRPr lang="en-US" sz="1300" dirty="0"/>
          </a:p>
        </p:txBody>
      </p:sp>
      <p:sp>
        <p:nvSpPr>
          <p:cNvPr id="20" name="Text 18"/>
          <p:cNvSpPr/>
          <p:nvPr/>
        </p:nvSpPr>
        <p:spPr>
          <a:xfrm>
            <a:off x="2633472" y="2377440"/>
            <a:ext cx="347472" cy="402336"/>
          </a:xfrm>
          <a:prstGeom prst="rect">
            <a:avLst/>
          </a:prstGeom>
          <a:noFill/>
          <a:ln/>
        </p:spPr>
        <p:txBody>
          <a:bodyPr wrap="square" lIns="0" tIns="0" rIns="0" bIns="0" rtlCol="0" anchor="ctr"/>
          <a:lstStyle/>
          <a:p>
            <a:pPr algn="ctr" indent="0" marL="0">
              <a:buNone/>
            </a:pPr>
            <a:r>
              <a:rPr lang="en-US" sz="1600" b="1" dirty="0">
                <a:solidFill>
                  <a:srgbClr val="00879E"/>
                </a:solidFill>
              </a:rPr>
              <a:t>→</a:t>
            </a:r>
            <a:endParaRPr lang="en-US" sz="1600" dirty="0"/>
          </a:p>
        </p:txBody>
      </p:sp>
      <p:sp>
        <p:nvSpPr>
          <p:cNvPr id="21" name="Text 19"/>
          <p:cNvSpPr/>
          <p:nvPr/>
        </p:nvSpPr>
        <p:spPr>
          <a:xfrm>
            <a:off x="3017520" y="2377440"/>
            <a:ext cx="4389120" cy="402336"/>
          </a:xfrm>
          <a:prstGeom prst="rect">
            <a:avLst/>
          </a:prstGeom>
          <a:noFill/>
          <a:ln/>
        </p:spPr>
        <p:txBody>
          <a:bodyPr wrap="square" lIns="0" tIns="0" rIns="0" bIns="0" rtlCol="0" anchor="ctr"/>
          <a:lstStyle/>
          <a:p>
            <a:pPr indent="0" marL="0">
              <a:buNone/>
            </a:pPr>
            <a:r>
              <a:rPr lang="en-US" sz="1100" dirty="0">
                <a:solidFill>
                  <a:srgbClr val="2D3A4A"/>
                </a:solidFill>
                <a:latin typeface="Consolas" pitchFamily="34" charset="0"/>
                <a:ea typeface="Consolas" pitchFamily="34" charset="-122"/>
                <a:cs typeface="Consolas" pitchFamily="34" charset="-120"/>
              </a:rPr>
              <a:t>[0.15, -0.42, 0.81, 0.29, -0.88, ...]</a:t>
            </a:r>
            <a:endParaRPr lang="en-US" sz="1100" dirty="0"/>
          </a:p>
        </p:txBody>
      </p:sp>
      <p:sp>
        <p:nvSpPr>
          <p:cNvPr id="22" name="Shape 20"/>
          <p:cNvSpPr/>
          <p:nvPr/>
        </p:nvSpPr>
        <p:spPr>
          <a:xfrm>
            <a:off x="7479792" y="2395728"/>
            <a:ext cx="1188720" cy="347472"/>
          </a:xfrm>
          <a:prstGeom prst="rect">
            <a:avLst/>
          </a:prstGeom>
          <a:solidFill>
            <a:srgbClr val="00879E"/>
          </a:solidFill>
          <a:ln w="12700">
            <a:solidFill>
              <a:srgbClr val="00879E"/>
            </a:solidFill>
            <a:prstDash val="solid"/>
          </a:ln>
        </p:spPr>
      </p:sp>
      <p:sp>
        <p:nvSpPr>
          <p:cNvPr id="23" name="Text 21"/>
          <p:cNvSpPr/>
          <p:nvPr/>
        </p:nvSpPr>
        <p:spPr>
          <a:xfrm>
            <a:off x="7479792" y="2395728"/>
            <a:ext cx="118872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similar numbers!</a:t>
            </a:r>
            <a:endParaRPr lang="en-US" sz="900" dirty="0"/>
          </a:p>
        </p:txBody>
      </p:sp>
      <p:sp>
        <p:nvSpPr>
          <p:cNvPr id="24" name="Shape 22"/>
          <p:cNvSpPr/>
          <p:nvPr/>
        </p:nvSpPr>
        <p:spPr>
          <a:xfrm>
            <a:off x="347472" y="3182112"/>
            <a:ext cx="8449056" cy="786384"/>
          </a:xfrm>
          <a:prstGeom prst="rect">
            <a:avLst/>
          </a:prstGeom>
          <a:solidFill>
            <a:srgbClr val="F5F7FA"/>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25" name="Shape 23"/>
          <p:cNvSpPr/>
          <p:nvPr/>
        </p:nvSpPr>
        <p:spPr>
          <a:xfrm>
            <a:off x="347472" y="3182112"/>
            <a:ext cx="64008" cy="786384"/>
          </a:xfrm>
          <a:prstGeom prst="rect">
            <a:avLst/>
          </a:prstGeom>
          <a:solidFill>
            <a:srgbClr val="8896AB"/>
          </a:solidFill>
          <a:ln w="12700">
            <a:solidFill>
              <a:srgbClr val="8896AB"/>
            </a:solidFill>
            <a:prstDash val="solid"/>
          </a:ln>
        </p:spPr>
      </p:sp>
      <p:sp>
        <p:nvSpPr>
          <p:cNvPr id="26" name="Text 24"/>
          <p:cNvSpPr/>
          <p:nvPr/>
        </p:nvSpPr>
        <p:spPr>
          <a:xfrm>
            <a:off x="548640" y="3291840"/>
            <a:ext cx="2011680" cy="402336"/>
          </a:xfrm>
          <a:prstGeom prst="rect">
            <a:avLst/>
          </a:prstGeom>
          <a:noFill/>
          <a:ln/>
        </p:spPr>
        <p:txBody>
          <a:bodyPr wrap="square" lIns="0" tIns="0" rIns="0" bIns="0" rtlCol="0" anchor="ctr"/>
          <a:lstStyle/>
          <a:p>
            <a:pPr indent="0" marL="0">
              <a:buNone/>
            </a:pPr>
            <a:r>
              <a:rPr lang="en-US" sz="1300" b="1" dirty="0">
                <a:solidFill>
                  <a:srgbClr val="2D3A4A"/>
                </a:solidFill>
                <a:latin typeface="Consolas" pitchFamily="34" charset="0"/>
                <a:ea typeface="Consolas" pitchFamily="34" charset="-122"/>
                <a:cs typeface="Consolas" pitchFamily="34" charset="-120"/>
              </a:rPr>
              <a:t>"cricket match"</a:t>
            </a:r>
            <a:endParaRPr lang="en-US" sz="1300" dirty="0"/>
          </a:p>
        </p:txBody>
      </p:sp>
      <p:sp>
        <p:nvSpPr>
          <p:cNvPr id="27" name="Text 25"/>
          <p:cNvSpPr/>
          <p:nvPr/>
        </p:nvSpPr>
        <p:spPr>
          <a:xfrm>
            <a:off x="2633472" y="3291840"/>
            <a:ext cx="347472" cy="402336"/>
          </a:xfrm>
          <a:prstGeom prst="rect">
            <a:avLst/>
          </a:prstGeom>
          <a:noFill/>
          <a:ln/>
        </p:spPr>
        <p:txBody>
          <a:bodyPr wrap="square" lIns="0" tIns="0" rIns="0" bIns="0" rtlCol="0" anchor="ctr"/>
          <a:lstStyle/>
          <a:p>
            <a:pPr algn="ctr" indent="0" marL="0">
              <a:buNone/>
            </a:pPr>
            <a:r>
              <a:rPr lang="en-US" sz="1600" b="1" dirty="0">
                <a:solidFill>
                  <a:srgbClr val="8896AB"/>
                </a:solidFill>
              </a:rPr>
              <a:t>→</a:t>
            </a:r>
            <a:endParaRPr lang="en-US" sz="1600" dirty="0"/>
          </a:p>
        </p:txBody>
      </p:sp>
      <p:sp>
        <p:nvSpPr>
          <p:cNvPr id="28" name="Text 26"/>
          <p:cNvSpPr/>
          <p:nvPr/>
        </p:nvSpPr>
        <p:spPr>
          <a:xfrm>
            <a:off x="3017520" y="3291840"/>
            <a:ext cx="4389120" cy="402336"/>
          </a:xfrm>
          <a:prstGeom prst="rect">
            <a:avLst/>
          </a:prstGeom>
          <a:noFill/>
          <a:ln/>
        </p:spPr>
        <p:txBody>
          <a:bodyPr wrap="square" lIns="0" tIns="0" rIns="0" bIns="0" rtlCol="0" anchor="ctr"/>
          <a:lstStyle/>
          <a:p>
            <a:pPr indent="0" marL="0">
              <a:buNone/>
            </a:pPr>
            <a:r>
              <a:rPr lang="en-US" sz="1100" dirty="0">
                <a:solidFill>
                  <a:srgbClr val="8896AB"/>
                </a:solidFill>
                <a:latin typeface="Consolas" pitchFamily="34" charset="0"/>
                <a:ea typeface="Consolas" pitchFamily="34" charset="-122"/>
                <a:cs typeface="Consolas" pitchFamily="34" charset="-120"/>
              </a:rPr>
              <a:t>[-0.67, 0.23, -0.11, 0.54, 0.08, ...]</a:t>
            </a:r>
            <a:endParaRPr lang="en-US" sz="1100" dirty="0"/>
          </a:p>
        </p:txBody>
      </p:sp>
      <p:sp>
        <p:nvSpPr>
          <p:cNvPr id="29" name="Shape 27"/>
          <p:cNvSpPr/>
          <p:nvPr/>
        </p:nvSpPr>
        <p:spPr>
          <a:xfrm>
            <a:off x="7479792" y="3310128"/>
            <a:ext cx="1188720" cy="347472"/>
          </a:xfrm>
          <a:prstGeom prst="rect">
            <a:avLst/>
          </a:prstGeom>
          <a:solidFill>
            <a:srgbClr val="8896AB"/>
          </a:solidFill>
          <a:ln w="12700">
            <a:solidFill>
              <a:srgbClr val="8896AB"/>
            </a:solidFill>
            <a:prstDash val="solid"/>
          </a:ln>
        </p:spPr>
      </p:sp>
      <p:sp>
        <p:nvSpPr>
          <p:cNvPr id="30" name="Text 28"/>
          <p:cNvSpPr/>
          <p:nvPr/>
        </p:nvSpPr>
        <p:spPr>
          <a:xfrm>
            <a:off x="7479792" y="3310128"/>
            <a:ext cx="1188720" cy="347472"/>
          </a:xfrm>
          <a:prstGeom prst="rect">
            <a:avLst/>
          </a:prstGeom>
          <a:noFill/>
          <a:ln/>
        </p:spPr>
        <p:txBody>
          <a:bodyPr wrap="square" lIns="0" tIns="0" rIns="0" bIns="0" rtlCol="0" anchor="ctr"/>
          <a:lstStyle/>
          <a:p>
            <a:pPr algn="ctr" indent="0" marL="0">
              <a:buNone/>
            </a:pPr>
            <a:r>
              <a:rPr lang="en-US" sz="900" b="1" dirty="0">
                <a:solidFill>
                  <a:srgbClr val="2D3A4A"/>
                </a:solidFill>
                <a:latin typeface="Calibri" pitchFamily="34" charset="0"/>
                <a:ea typeface="Calibri" pitchFamily="34" charset="-122"/>
                <a:cs typeface="Calibri" pitchFamily="34" charset="-120"/>
              </a:rPr>
              <a:t>very different!</a:t>
            </a:r>
            <a:endParaRPr lang="en-US" sz="900" dirty="0"/>
          </a:p>
        </p:txBody>
      </p:sp>
      <p:sp>
        <p:nvSpPr>
          <p:cNvPr id="31" name="Shape 29"/>
          <p:cNvSpPr/>
          <p:nvPr/>
        </p:nvSpPr>
        <p:spPr>
          <a:xfrm>
            <a:off x="8503920" y="1463040"/>
            <a:ext cx="0" cy="914400"/>
          </a:xfrm>
          <a:prstGeom prst="line">
            <a:avLst/>
          </a:prstGeom>
          <a:noFill/>
          <a:ln w="25400">
            <a:solidFill>
              <a:srgbClr val="00879E"/>
            </a:solidFill>
            <a:prstDash val="solid"/>
          </a:ln>
        </p:spPr>
      </p:sp>
      <p:sp>
        <p:nvSpPr>
          <p:cNvPr id="32" name="Shape 30"/>
          <p:cNvSpPr/>
          <p:nvPr/>
        </p:nvSpPr>
        <p:spPr>
          <a:xfrm>
            <a:off x="8503920" y="1463040"/>
            <a:ext cx="164592" cy="0"/>
          </a:xfrm>
          <a:prstGeom prst="line">
            <a:avLst/>
          </a:prstGeom>
          <a:noFill/>
          <a:ln w="25400">
            <a:solidFill>
              <a:srgbClr val="00879E"/>
            </a:solidFill>
            <a:prstDash val="solid"/>
          </a:ln>
        </p:spPr>
      </p:sp>
      <p:sp>
        <p:nvSpPr>
          <p:cNvPr id="33" name="Shape 31"/>
          <p:cNvSpPr/>
          <p:nvPr/>
        </p:nvSpPr>
        <p:spPr>
          <a:xfrm>
            <a:off x="8503920" y="2377440"/>
            <a:ext cx="164592" cy="0"/>
          </a:xfrm>
          <a:prstGeom prst="line">
            <a:avLst/>
          </a:prstGeom>
          <a:noFill/>
          <a:ln w="25400">
            <a:solidFill>
              <a:srgbClr val="00879E"/>
            </a:solidFill>
            <a:prstDash val="solid"/>
          </a:ln>
        </p:spPr>
      </p:sp>
      <p:sp>
        <p:nvSpPr>
          <p:cNvPr id="34" name="Text 32"/>
          <p:cNvSpPr/>
          <p:nvPr/>
        </p:nvSpPr>
        <p:spPr>
          <a:xfrm>
            <a:off x="8668512" y="1737360"/>
            <a:ext cx="548640" cy="457200"/>
          </a:xfrm>
          <a:prstGeom prst="rect">
            <a:avLst/>
          </a:prstGeom>
          <a:noFill/>
          <a:ln/>
        </p:spPr>
        <p:txBody>
          <a:bodyPr wrap="square" lIns="0" tIns="0" rIns="0" bIns="0" rtlCol="0" anchor="ctr"/>
          <a:lstStyle/>
          <a:p>
            <a:pPr algn="ctr" indent="0" marL="0">
              <a:buNone/>
            </a:pPr>
            <a:r>
              <a:rPr lang="en-US" sz="850" i="1" dirty="0">
                <a:solidFill>
                  <a:srgbClr val="00879E"/>
                </a:solidFill>
                <a:latin typeface="Calibri" pitchFamily="34" charset="0"/>
                <a:ea typeface="Calibri" pitchFamily="34" charset="-122"/>
                <a:cs typeface="Calibri" pitchFamily="34" charset="-120"/>
              </a:rPr>
              <a:t>Close</a:t>
            </a:r>
            <a:endParaRPr lang="en-US" sz="850" dirty="0"/>
          </a:p>
          <a:p>
            <a:pPr algn="ctr" indent="0" marL="0">
              <a:buNone/>
            </a:pPr>
            <a:r>
              <a:rPr lang="en-US" sz="850" i="1" dirty="0">
                <a:solidFill>
                  <a:srgbClr val="00879E"/>
                </a:solidFill>
                <a:latin typeface="Calibri" pitchFamily="34" charset="0"/>
                <a:ea typeface="Calibri" pitchFamily="34" charset="-122"/>
                <a:cs typeface="Calibri" pitchFamily="34" charset="-120"/>
              </a:rPr>
              <a:t>numbers</a:t>
            </a:r>
            <a:endParaRPr lang="en-US" sz="850" dirty="0"/>
          </a:p>
        </p:txBody>
      </p:sp>
      <p:sp>
        <p:nvSpPr>
          <p:cNvPr id="35" name="Shape 33"/>
          <p:cNvSpPr/>
          <p:nvPr/>
        </p:nvSpPr>
        <p:spPr>
          <a:xfrm>
            <a:off x="347472" y="4169664"/>
            <a:ext cx="8449056" cy="457200"/>
          </a:xfrm>
          <a:prstGeom prst="rect">
            <a:avLst/>
          </a:prstGeom>
          <a:solidFill>
            <a:srgbClr val="0D2349"/>
          </a:solidFill>
          <a:ln w="12700">
            <a:solidFill>
              <a:srgbClr val="0D2349"/>
            </a:solidFill>
            <a:prstDash val="solid"/>
          </a:ln>
        </p:spPr>
      </p:sp>
      <p:sp>
        <p:nvSpPr>
          <p:cNvPr id="36" name="Text 34"/>
          <p:cNvSpPr/>
          <p:nvPr/>
        </p:nvSpPr>
        <p:spPr>
          <a:xfrm>
            <a:off x="502920" y="4169664"/>
            <a:ext cx="8229600" cy="457200"/>
          </a:xfrm>
          <a:prstGeom prst="rect">
            <a:avLst/>
          </a:prstGeom>
          <a:noFill/>
          <a:ln/>
        </p:spPr>
        <p:txBody>
          <a:bodyPr wrap="square" lIns="0" tIns="0" rIns="0" bIns="0" rtlCol="0" anchor="ctr"/>
          <a:lstStyle/>
          <a:p>
            <a:pPr indent="0" marL="0">
              <a:buNone/>
            </a:pPr>
            <a:r>
              <a:rPr lang="en-US" sz="1100" b="1" dirty="0">
                <a:solidFill>
                  <a:srgbClr val="F2A829"/>
                </a:solidFill>
                <a:latin typeface="Calibri" pitchFamily="34" charset="0"/>
                <a:ea typeface="Calibri" pitchFamily="34" charset="-122"/>
                <a:cs typeface="Calibri" pitchFamily="34" charset="-120"/>
              </a:rPr>
              <a:t>Key idea: </a:t>
            </a:r>
            <a:pPr indent="0" marL="0">
              <a:buNone/>
            </a:pPr>
            <a:r>
              <a:rPr lang="en-US" sz="1100" dirty="0">
                <a:solidFill>
                  <a:srgbClr val="FFFFFF"/>
                </a:solidFill>
                <a:latin typeface="Calibri" pitchFamily="34" charset="0"/>
                <a:ea typeface="Calibri" pitchFamily="34" charset="-122"/>
                <a:cs typeface="Calibri" pitchFamily="34" charset="-120"/>
              </a:rPr>
              <a:t>Similar texts → Similar numbers.  Different texts → Different numbers.  These vectors are the 'fingerprints' of meaning.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349"/>
          </a:solidFill>
          <a:ln w="12700">
            <a:solidFill>
              <a:srgbClr val="0D234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Analogy: GPS Coordinates for Meaning</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Text 4"/>
          <p:cNvSpPr/>
          <p:nvPr/>
        </p:nvSpPr>
        <p:spPr>
          <a:xfrm>
            <a:off x="384048" y="749808"/>
            <a:ext cx="8229600" cy="256032"/>
          </a:xfrm>
          <a:prstGeom prst="rect">
            <a:avLst/>
          </a:prstGeom>
          <a:noFill/>
          <a:ln/>
        </p:spPr>
        <p:txBody>
          <a:bodyPr wrap="square" lIns="0" tIns="0" rIns="0" bIns="0" rtlCol="0" anchor="ctr"/>
          <a:lstStyle/>
          <a:p>
            <a:pPr indent="0" marL="0">
              <a:buNone/>
            </a:pPr>
            <a:r>
              <a:rPr lang="en-US" sz="1100" i="1" dirty="0">
                <a:solidFill>
                  <a:srgbClr val="00879E"/>
                </a:solidFill>
                <a:latin typeface="Calibri" pitchFamily="34" charset="0"/>
                <a:ea typeface="Calibri" pitchFamily="34" charset="-122"/>
                <a:cs typeface="Calibri" pitchFamily="34" charset="-120"/>
              </a:rPr>
              <a:t>Same logic as geography — nearby locations, nearby meanings</a:t>
            </a:r>
            <a:endParaRPr lang="en-US" sz="1100" dirty="0"/>
          </a:p>
        </p:txBody>
      </p:sp>
      <p:sp>
        <p:nvSpPr>
          <p:cNvPr id="7" name="Shape 5"/>
          <p:cNvSpPr/>
          <p:nvPr/>
        </p:nvSpPr>
        <p:spPr>
          <a:xfrm>
            <a:off x="0" y="4937760"/>
            <a:ext cx="9144000" cy="205740"/>
          </a:xfrm>
          <a:prstGeom prst="rect">
            <a:avLst/>
          </a:prstGeom>
          <a:solidFill>
            <a:srgbClr val="0D2349"/>
          </a:solidFill>
          <a:ln w="12700">
            <a:solidFill>
              <a:srgbClr val="0D2349"/>
            </a:solidFill>
            <a:prstDash val="solid"/>
          </a:ln>
        </p:spPr>
      </p:sp>
      <p:sp>
        <p:nvSpPr>
          <p:cNvPr id="8" name="Text 6"/>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9" name="Shape 7"/>
          <p:cNvSpPr/>
          <p:nvPr/>
        </p:nvSpPr>
        <p:spPr>
          <a:xfrm>
            <a:off x="347472" y="987552"/>
            <a:ext cx="4160520" cy="347472"/>
          </a:xfrm>
          <a:prstGeom prst="rect">
            <a:avLst/>
          </a:prstGeom>
          <a:solidFill>
            <a:srgbClr val="0D2349"/>
          </a:solidFill>
          <a:ln w="12700">
            <a:solidFill>
              <a:srgbClr val="0D2349"/>
            </a:solidFill>
            <a:prstDash val="solid"/>
          </a:ln>
        </p:spPr>
      </p:sp>
      <p:sp>
        <p:nvSpPr>
          <p:cNvPr id="10" name="Text 8"/>
          <p:cNvSpPr/>
          <p:nvPr/>
        </p:nvSpPr>
        <p:spPr>
          <a:xfrm>
            <a:off x="347472" y="987552"/>
            <a:ext cx="4160520" cy="347472"/>
          </a:xfrm>
          <a:prstGeom prst="rect">
            <a:avLst/>
          </a:prstGeom>
          <a:noFill/>
          <a:ln/>
        </p:spPr>
        <p:txBody>
          <a:bodyPr wrap="square" lIns="0" tIns="0" rIns="0" bIns="0" rtlCol="0" anchor="ctr"/>
          <a:lstStyle/>
          <a:p>
            <a:pPr algn="ctr" indent="0" marL="0">
              <a:buNone/>
            </a:pPr>
            <a:r>
              <a:rPr lang="en-US" sz="1100" b="1" dirty="0">
                <a:solidFill>
                  <a:srgbClr val="F2A829"/>
                </a:solidFill>
                <a:latin typeface="Trebuchet MS" pitchFamily="34" charset="0"/>
                <a:ea typeface="Trebuchet MS" pitchFamily="34" charset="-122"/>
                <a:cs typeface="Trebuchet MS" pitchFamily="34" charset="-120"/>
              </a:rPr>
              <a:t>Geography</a:t>
            </a:r>
            <a:endParaRPr lang="en-US" sz="1100" dirty="0"/>
          </a:p>
        </p:txBody>
      </p:sp>
      <p:sp>
        <p:nvSpPr>
          <p:cNvPr id="11" name="Shape 9"/>
          <p:cNvSpPr/>
          <p:nvPr/>
        </p:nvSpPr>
        <p:spPr>
          <a:xfrm>
            <a:off x="4617720" y="987552"/>
            <a:ext cx="4178808" cy="347472"/>
          </a:xfrm>
          <a:prstGeom prst="rect">
            <a:avLst/>
          </a:prstGeom>
          <a:solidFill>
            <a:srgbClr val="1A4B8C"/>
          </a:solidFill>
          <a:ln w="12700">
            <a:solidFill>
              <a:srgbClr val="1A4B8C"/>
            </a:solidFill>
            <a:prstDash val="solid"/>
          </a:ln>
        </p:spPr>
      </p:sp>
      <p:sp>
        <p:nvSpPr>
          <p:cNvPr id="12" name="Text 10"/>
          <p:cNvSpPr/>
          <p:nvPr/>
        </p:nvSpPr>
        <p:spPr>
          <a:xfrm>
            <a:off x="4617720" y="987552"/>
            <a:ext cx="417880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Embeddings</a:t>
            </a:r>
            <a:endParaRPr lang="en-US" sz="1100" dirty="0"/>
          </a:p>
        </p:txBody>
      </p:sp>
      <p:sp>
        <p:nvSpPr>
          <p:cNvPr id="13" name="Shape 11"/>
          <p:cNvSpPr/>
          <p:nvPr/>
        </p:nvSpPr>
        <p:spPr>
          <a:xfrm>
            <a:off x="347472" y="1426464"/>
            <a:ext cx="4160520" cy="768096"/>
          </a:xfrm>
          <a:prstGeom prst="rect">
            <a:avLst/>
          </a:prstGeom>
          <a:solidFill>
            <a:srgbClr val="FFFFFF"/>
          </a:solidFill>
          <a:ln w="12700">
            <a:solidFill>
              <a:srgbClr val="2E7D32"/>
            </a:solidFill>
            <a:prstDash val="solid"/>
          </a:ln>
          <a:effectLst>
            <a:outerShdw sx="100000" sy="100000" kx="0" ky="0" algn="bl" rotWithShape="0" blurRad="50800" dist="12700" dir="8100000">
              <a:srgbClr val="000000">
                <a:alpha val="8000"/>
              </a:srgbClr>
            </a:outerShdw>
          </a:effectLst>
        </p:spPr>
      </p:sp>
      <p:sp>
        <p:nvSpPr>
          <p:cNvPr id="14" name="Shape 12"/>
          <p:cNvSpPr/>
          <p:nvPr/>
        </p:nvSpPr>
        <p:spPr>
          <a:xfrm>
            <a:off x="347472" y="1426464"/>
            <a:ext cx="64008" cy="768096"/>
          </a:xfrm>
          <a:prstGeom prst="rect">
            <a:avLst/>
          </a:prstGeom>
          <a:solidFill>
            <a:srgbClr val="2E7D32"/>
          </a:solidFill>
          <a:ln w="12700">
            <a:solidFill>
              <a:srgbClr val="2E7D32"/>
            </a:solidFill>
            <a:prstDash val="solid"/>
          </a:ln>
        </p:spPr>
      </p:sp>
      <p:sp>
        <p:nvSpPr>
          <p:cNvPr id="15" name="Text 13"/>
          <p:cNvSpPr/>
          <p:nvPr/>
        </p:nvSpPr>
        <p:spPr>
          <a:xfrm>
            <a:off x="548640" y="1499616"/>
            <a:ext cx="3794760" cy="274320"/>
          </a:xfrm>
          <a:prstGeom prst="rect">
            <a:avLst/>
          </a:prstGeom>
          <a:noFill/>
          <a:ln/>
        </p:spPr>
        <p:txBody>
          <a:bodyPr wrap="square" lIns="0" tIns="0" rIns="0" bIns="0" rtlCol="0" anchor="ctr"/>
          <a:lstStyle/>
          <a:p>
            <a:pPr indent="0" marL="0">
              <a:buNone/>
            </a:pPr>
            <a:r>
              <a:rPr lang="en-US" sz="1150" b="1" dirty="0">
                <a:solidFill>
                  <a:srgbClr val="2D3A4A"/>
                </a:solidFill>
                <a:latin typeface="Calibri" pitchFamily="34" charset="0"/>
                <a:ea typeface="Calibri" pitchFamily="34" charset="-122"/>
                <a:cs typeface="Calibri" pitchFamily="34" charset="-120"/>
              </a:rPr>
              <a:t>Bhubaneswar  ↔  Cuttack</a:t>
            </a:r>
            <a:endParaRPr lang="en-US" sz="1150" dirty="0"/>
          </a:p>
        </p:txBody>
      </p:sp>
      <p:sp>
        <p:nvSpPr>
          <p:cNvPr id="16" name="Text 14"/>
          <p:cNvSpPr/>
          <p:nvPr/>
        </p:nvSpPr>
        <p:spPr>
          <a:xfrm>
            <a:off x="548640" y="1810512"/>
            <a:ext cx="3794760" cy="256032"/>
          </a:xfrm>
          <a:prstGeom prst="rect">
            <a:avLst/>
          </a:prstGeom>
          <a:noFill/>
          <a:ln/>
        </p:spPr>
        <p:txBody>
          <a:bodyPr wrap="square" lIns="0" tIns="0" rIns="0" bIns="0" rtlCol="0" anchor="ctr"/>
          <a:lstStyle/>
          <a:p>
            <a:pPr indent="0" marL="0">
              <a:buNone/>
            </a:pPr>
            <a:r>
              <a:rPr lang="en-US" sz="1000" i="1" dirty="0">
                <a:solidFill>
                  <a:srgbClr val="2E7D32"/>
                </a:solidFill>
                <a:latin typeface="Calibri" pitchFamily="34" charset="0"/>
                <a:ea typeface="Calibri" pitchFamily="34" charset="-122"/>
                <a:cs typeface="Calibri" pitchFamily="34" charset="-120"/>
              </a:rPr>
              <a:t>~25 km (close)</a:t>
            </a:r>
            <a:endParaRPr lang="en-US" sz="1000" dirty="0"/>
          </a:p>
        </p:txBody>
      </p:sp>
      <p:sp>
        <p:nvSpPr>
          <p:cNvPr id="17" name="Text 15"/>
          <p:cNvSpPr/>
          <p:nvPr/>
        </p:nvSpPr>
        <p:spPr>
          <a:xfrm>
            <a:off x="4297680" y="1609344"/>
            <a:ext cx="438912" cy="365760"/>
          </a:xfrm>
          <a:prstGeom prst="rect">
            <a:avLst/>
          </a:prstGeom>
          <a:noFill/>
          <a:ln/>
        </p:spPr>
        <p:txBody>
          <a:bodyPr wrap="square" lIns="0" tIns="0" rIns="0" bIns="0" rtlCol="0" anchor="ctr"/>
          <a:lstStyle/>
          <a:p>
            <a:pPr algn="ctr" indent="0" marL="0">
              <a:buNone/>
            </a:pPr>
            <a:r>
              <a:rPr lang="en-US" sz="1800" b="1" dirty="0">
                <a:solidFill>
                  <a:srgbClr val="D4891A"/>
                </a:solidFill>
              </a:rPr>
              <a:t>↔</a:t>
            </a:r>
            <a:endParaRPr lang="en-US" sz="1800" dirty="0"/>
          </a:p>
        </p:txBody>
      </p:sp>
      <p:sp>
        <p:nvSpPr>
          <p:cNvPr id="18" name="Shape 16"/>
          <p:cNvSpPr/>
          <p:nvPr/>
        </p:nvSpPr>
        <p:spPr>
          <a:xfrm>
            <a:off x="4617720" y="1426464"/>
            <a:ext cx="4178808" cy="768096"/>
          </a:xfrm>
          <a:prstGeom prst="rect">
            <a:avLst/>
          </a:prstGeom>
          <a:solidFill>
            <a:srgbClr val="FFFFFF"/>
          </a:solidFill>
          <a:ln w="12700">
            <a:solidFill>
              <a:srgbClr val="2E7D32"/>
            </a:solidFill>
            <a:prstDash val="solid"/>
          </a:ln>
          <a:effectLst>
            <a:outerShdw sx="100000" sy="100000" kx="0" ky="0" algn="bl" rotWithShape="0" blurRad="50800" dist="12700" dir="8100000">
              <a:srgbClr val="000000">
                <a:alpha val="8000"/>
              </a:srgbClr>
            </a:outerShdw>
          </a:effectLst>
        </p:spPr>
      </p:sp>
      <p:sp>
        <p:nvSpPr>
          <p:cNvPr id="19" name="Shape 17"/>
          <p:cNvSpPr/>
          <p:nvPr/>
        </p:nvSpPr>
        <p:spPr>
          <a:xfrm>
            <a:off x="4617720" y="1426464"/>
            <a:ext cx="64008" cy="768096"/>
          </a:xfrm>
          <a:prstGeom prst="rect">
            <a:avLst/>
          </a:prstGeom>
          <a:solidFill>
            <a:srgbClr val="2E7D32"/>
          </a:solidFill>
          <a:ln w="12700">
            <a:solidFill>
              <a:srgbClr val="2E7D32"/>
            </a:solidFill>
            <a:prstDash val="solid"/>
          </a:ln>
        </p:spPr>
      </p:sp>
      <p:sp>
        <p:nvSpPr>
          <p:cNvPr id="20" name="Text 18"/>
          <p:cNvSpPr/>
          <p:nvPr/>
        </p:nvSpPr>
        <p:spPr>
          <a:xfrm>
            <a:off x="4773168" y="1499616"/>
            <a:ext cx="3840480" cy="274320"/>
          </a:xfrm>
          <a:prstGeom prst="rect">
            <a:avLst/>
          </a:prstGeom>
          <a:noFill/>
          <a:ln/>
        </p:spPr>
        <p:txBody>
          <a:bodyPr wrap="square" lIns="0" tIns="0" rIns="0" bIns="0" rtlCol="0" anchor="ctr"/>
          <a:lstStyle/>
          <a:p>
            <a:pPr indent="0" marL="0">
              <a:buNone/>
            </a:pPr>
            <a:r>
              <a:rPr lang="en-US" sz="1100" b="1" dirty="0">
                <a:solidFill>
                  <a:srgbClr val="2D3A4A"/>
                </a:solidFill>
                <a:latin typeface="Consolas" pitchFamily="34" charset="0"/>
                <a:ea typeface="Consolas" pitchFamily="34" charset="-122"/>
                <a:cs typeface="Consolas" pitchFamily="34" charset="-120"/>
              </a:rPr>
              <a:t>"ML"  ↔  "Deep Learning"</a:t>
            </a:r>
            <a:endParaRPr lang="en-US" sz="1100" dirty="0"/>
          </a:p>
        </p:txBody>
      </p:sp>
      <p:sp>
        <p:nvSpPr>
          <p:cNvPr id="21" name="Text 19"/>
          <p:cNvSpPr/>
          <p:nvPr/>
        </p:nvSpPr>
        <p:spPr>
          <a:xfrm>
            <a:off x="4773168" y="1810512"/>
            <a:ext cx="3840480" cy="256032"/>
          </a:xfrm>
          <a:prstGeom prst="rect">
            <a:avLst/>
          </a:prstGeom>
          <a:noFill/>
          <a:ln/>
        </p:spPr>
        <p:txBody>
          <a:bodyPr wrap="square" lIns="0" tIns="0" rIns="0" bIns="0" rtlCol="0" anchor="ctr"/>
          <a:lstStyle/>
          <a:p>
            <a:pPr indent="0" marL="0">
              <a:buNone/>
            </a:pPr>
            <a:r>
              <a:rPr lang="en-US" sz="1000" i="1" dirty="0">
                <a:solidFill>
                  <a:srgbClr val="2E7D32"/>
                </a:solidFill>
                <a:latin typeface="Calibri" pitchFamily="34" charset="0"/>
                <a:ea typeface="Calibri" pitchFamily="34" charset="-122"/>
                <a:cs typeface="Calibri" pitchFamily="34" charset="-120"/>
              </a:rPr>
              <a:t>0.82  (very similar)</a:t>
            </a:r>
            <a:endParaRPr lang="en-US" sz="1000" dirty="0"/>
          </a:p>
        </p:txBody>
      </p:sp>
      <p:sp>
        <p:nvSpPr>
          <p:cNvPr id="22" name="Shape 20"/>
          <p:cNvSpPr/>
          <p:nvPr/>
        </p:nvSpPr>
        <p:spPr>
          <a:xfrm>
            <a:off x="347472" y="2322576"/>
            <a:ext cx="4160520" cy="768096"/>
          </a:xfrm>
          <a:prstGeom prst="rect">
            <a:avLst/>
          </a:prstGeom>
          <a:solidFill>
            <a:srgbClr val="FFFFFF"/>
          </a:solidFill>
          <a:ln w="12700">
            <a:solidFill>
              <a:srgbClr val="00879E"/>
            </a:solidFill>
            <a:prstDash val="solid"/>
          </a:ln>
          <a:effectLst>
            <a:outerShdw sx="100000" sy="100000" kx="0" ky="0" algn="bl" rotWithShape="0" blurRad="50800" dist="12700" dir="8100000">
              <a:srgbClr val="000000">
                <a:alpha val="8000"/>
              </a:srgbClr>
            </a:outerShdw>
          </a:effectLst>
        </p:spPr>
      </p:sp>
      <p:sp>
        <p:nvSpPr>
          <p:cNvPr id="23" name="Shape 21"/>
          <p:cNvSpPr/>
          <p:nvPr/>
        </p:nvSpPr>
        <p:spPr>
          <a:xfrm>
            <a:off x="347472" y="2322576"/>
            <a:ext cx="64008" cy="768096"/>
          </a:xfrm>
          <a:prstGeom prst="rect">
            <a:avLst/>
          </a:prstGeom>
          <a:solidFill>
            <a:srgbClr val="00879E"/>
          </a:solidFill>
          <a:ln w="12700">
            <a:solidFill>
              <a:srgbClr val="00879E"/>
            </a:solidFill>
            <a:prstDash val="solid"/>
          </a:ln>
        </p:spPr>
      </p:sp>
      <p:sp>
        <p:nvSpPr>
          <p:cNvPr id="24" name="Text 22"/>
          <p:cNvSpPr/>
          <p:nvPr/>
        </p:nvSpPr>
        <p:spPr>
          <a:xfrm>
            <a:off x="548640" y="2395728"/>
            <a:ext cx="3794760" cy="274320"/>
          </a:xfrm>
          <a:prstGeom prst="rect">
            <a:avLst/>
          </a:prstGeom>
          <a:noFill/>
          <a:ln/>
        </p:spPr>
        <p:txBody>
          <a:bodyPr wrap="square" lIns="0" tIns="0" rIns="0" bIns="0" rtlCol="0" anchor="ctr"/>
          <a:lstStyle/>
          <a:p>
            <a:pPr indent="0" marL="0">
              <a:buNone/>
            </a:pPr>
            <a:r>
              <a:rPr lang="en-US" sz="1150" b="1" dirty="0">
                <a:solidFill>
                  <a:srgbClr val="2D3A4A"/>
                </a:solidFill>
                <a:latin typeface="Calibri" pitchFamily="34" charset="0"/>
                <a:ea typeface="Calibri" pitchFamily="34" charset="-122"/>
                <a:cs typeface="Calibri" pitchFamily="34" charset="-120"/>
              </a:rPr>
              <a:t>Bhubaneswar  ↔  Puri</a:t>
            </a:r>
            <a:endParaRPr lang="en-US" sz="1150" dirty="0"/>
          </a:p>
        </p:txBody>
      </p:sp>
      <p:sp>
        <p:nvSpPr>
          <p:cNvPr id="25" name="Text 23"/>
          <p:cNvSpPr/>
          <p:nvPr/>
        </p:nvSpPr>
        <p:spPr>
          <a:xfrm>
            <a:off x="548640" y="2706624"/>
            <a:ext cx="3794760" cy="256032"/>
          </a:xfrm>
          <a:prstGeom prst="rect">
            <a:avLst/>
          </a:prstGeom>
          <a:noFill/>
          <a:ln/>
        </p:spPr>
        <p:txBody>
          <a:bodyPr wrap="square" lIns="0" tIns="0" rIns="0" bIns="0" rtlCol="0" anchor="ctr"/>
          <a:lstStyle/>
          <a:p>
            <a:pPr indent="0" marL="0">
              <a:buNone/>
            </a:pPr>
            <a:r>
              <a:rPr lang="en-US" sz="1000" i="1" dirty="0">
                <a:solidFill>
                  <a:srgbClr val="00879E"/>
                </a:solidFill>
                <a:latin typeface="Calibri" pitchFamily="34" charset="0"/>
                <a:ea typeface="Calibri" pitchFamily="34" charset="-122"/>
                <a:cs typeface="Calibri" pitchFamily="34" charset="-120"/>
              </a:rPr>
              <a:t>~60 km (medium)</a:t>
            </a:r>
            <a:endParaRPr lang="en-US" sz="1000" dirty="0"/>
          </a:p>
        </p:txBody>
      </p:sp>
      <p:sp>
        <p:nvSpPr>
          <p:cNvPr id="26" name="Text 24"/>
          <p:cNvSpPr/>
          <p:nvPr/>
        </p:nvSpPr>
        <p:spPr>
          <a:xfrm>
            <a:off x="4297680" y="2505456"/>
            <a:ext cx="438912" cy="365760"/>
          </a:xfrm>
          <a:prstGeom prst="rect">
            <a:avLst/>
          </a:prstGeom>
          <a:noFill/>
          <a:ln/>
        </p:spPr>
        <p:txBody>
          <a:bodyPr wrap="square" lIns="0" tIns="0" rIns="0" bIns="0" rtlCol="0" anchor="ctr"/>
          <a:lstStyle/>
          <a:p>
            <a:pPr algn="ctr" indent="0" marL="0">
              <a:buNone/>
            </a:pPr>
            <a:r>
              <a:rPr lang="en-US" sz="1800" b="1" dirty="0">
                <a:solidFill>
                  <a:srgbClr val="D4891A"/>
                </a:solidFill>
              </a:rPr>
              <a:t>↔</a:t>
            </a:r>
            <a:endParaRPr lang="en-US" sz="1800" dirty="0"/>
          </a:p>
        </p:txBody>
      </p:sp>
      <p:sp>
        <p:nvSpPr>
          <p:cNvPr id="27" name="Shape 25"/>
          <p:cNvSpPr/>
          <p:nvPr/>
        </p:nvSpPr>
        <p:spPr>
          <a:xfrm>
            <a:off x="4617720" y="2322576"/>
            <a:ext cx="4178808" cy="768096"/>
          </a:xfrm>
          <a:prstGeom prst="rect">
            <a:avLst/>
          </a:prstGeom>
          <a:solidFill>
            <a:srgbClr val="FFFFFF"/>
          </a:solidFill>
          <a:ln w="12700">
            <a:solidFill>
              <a:srgbClr val="00879E"/>
            </a:solidFill>
            <a:prstDash val="solid"/>
          </a:ln>
          <a:effectLst>
            <a:outerShdw sx="100000" sy="100000" kx="0" ky="0" algn="bl" rotWithShape="0" blurRad="50800" dist="12700" dir="8100000">
              <a:srgbClr val="000000">
                <a:alpha val="8000"/>
              </a:srgbClr>
            </a:outerShdw>
          </a:effectLst>
        </p:spPr>
      </p:sp>
      <p:sp>
        <p:nvSpPr>
          <p:cNvPr id="28" name="Shape 26"/>
          <p:cNvSpPr/>
          <p:nvPr/>
        </p:nvSpPr>
        <p:spPr>
          <a:xfrm>
            <a:off x="4617720" y="2322576"/>
            <a:ext cx="64008" cy="768096"/>
          </a:xfrm>
          <a:prstGeom prst="rect">
            <a:avLst/>
          </a:prstGeom>
          <a:solidFill>
            <a:srgbClr val="00879E"/>
          </a:solidFill>
          <a:ln w="12700">
            <a:solidFill>
              <a:srgbClr val="00879E"/>
            </a:solidFill>
            <a:prstDash val="solid"/>
          </a:ln>
        </p:spPr>
      </p:sp>
      <p:sp>
        <p:nvSpPr>
          <p:cNvPr id="29" name="Text 27"/>
          <p:cNvSpPr/>
          <p:nvPr/>
        </p:nvSpPr>
        <p:spPr>
          <a:xfrm>
            <a:off x="4773168" y="2395728"/>
            <a:ext cx="3840480" cy="274320"/>
          </a:xfrm>
          <a:prstGeom prst="rect">
            <a:avLst/>
          </a:prstGeom>
          <a:noFill/>
          <a:ln/>
        </p:spPr>
        <p:txBody>
          <a:bodyPr wrap="square" lIns="0" tIns="0" rIns="0" bIns="0" rtlCol="0" anchor="ctr"/>
          <a:lstStyle/>
          <a:p>
            <a:pPr indent="0" marL="0">
              <a:buNone/>
            </a:pPr>
            <a:r>
              <a:rPr lang="en-US" sz="1100" b="1" dirty="0">
                <a:solidFill>
                  <a:srgbClr val="2D3A4A"/>
                </a:solidFill>
                <a:latin typeface="Consolas" pitchFamily="34" charset="0"/>
                <a:ea typeface="Consolas" pitchFamily="34" charset="-122"/>
                <a:cs typeface="Consolas" pitchFamily="34" charset="-120"/>
              </a:rPr>
              <a:t>"ML"  ↔  "Data Science"</a:t>
            </a:r>
            <a:endParaRPr lang="en-US" sz="1100" dirty="0"/>
          </a:p>
        </p:txBody>
      </p:sp>
      <p:sp>
        <p:nvSpPr>
          <p:cNvPr id="30" name="Text 28"/>
          <p:cNvSpPr/>
          <p:nvPr/>
        </p:nvSpPr>
        <p:spPr>
          <a:xfrm>
            <a:off x="4773168" y="2706624"/>
            <a:ext cx="3840480" cy="256032"/>
          </a:xfrm>
          <a:prstGeom prst="rect">
            <a:avLst/>
          </a:prstGeom>
          <a:noFill/>
          <a:ln/>
        </p:spPr>
        <p:txBody>
          <a:bodyPr wrap="square" lIns="0" tIns="0" rIns="0" bIns="0" rtlCol="0" anchor="ctr"/>
          <a:lstStyle/>
          <a:p>
            <a:pPr indent="0" marL="0">
              <a:buNone/>
            </a:pPr>
            <a:r>
              <a:rPr lang="en-US" sz="1000" i="1" dirty="0">
                <a:solidFill>
                  <a:srgbClr val="00879E"/>
                </a:solidFill>
                <a:latin typeface="Calibri" pitchFamily="34" charset="0"/>
                <a:ea typeface="Calibri" pitchFamily="34" charset="-122"/>
                <a:cs typeface="Calibri" pitchFamily="34" charset="-120"/>
              </a:rPr>
              <a:t>0.61  (related)</a:t>
            </a:r>
            <a:endParaRPr lang="en-US" sz="1000" dirty="0"/>
          </a:p>
        </p:txBody>
      </p:sp>
      <p:sp>
        <p:nvSpPr>
          <p:cNvPr id="31" name="Shape 29"/>
          <p:cNvSpPr/>
          <p:nvPr/>
        </p:nvSpPr>
        <p:spPr>
          <a:xfrm>
            <a:off x="347472" y="3218688"/>
            <a:ext cx="4160520" cy="768096"/>
          </a:xfrm>
          <a:prstGeom prst="rect">
            <a:avLst/>
          </a:prstGeom>
          <a:solidFill>
            <a:srgbClr val="FFFFFF"/>
          </a:solidFill>
          <a:ln w="12700">
            <a:solidFill>
              <a:srgbClr val="C62828"/>
            </a:solidFill>
            <a:prstDash val="solid"/>
          </a:ln>
          <a:effectLst>
            <a:outerShdw sx="100000" sy="100000" kx="0" ky="0" algn="bl" rotWithShape="0" blurRad="50800" dist="12700" dir="8100000">
              <a:srgbClr val="000000">
                <a:alpha val="8000"/>
              </a:srgbClr>
            </a:outerShdw>
          </a:effectLst>
        </p:spPr>
      </p:sp>
      <p:sp>
        <p:nvSpPr>
          <p:cNvPr id="32" name="Shape 30"/>
          <p:cNvSpPr/>
          <p:nvPr/>
        </p:nvSpPr>
        <p:spPr>
          <a:xfrm>
            <a:off x="347472" y="3218688"/>
            <a:ext cx="64008" cy="768096"/>
          </a:xfrm>
          <a:prstGeom prst="rect">
            <a:avLst/>
          </a:prstGeom>
          <a:solidFill>
            <a:srgbClr val="C62828"/>
          </a:solidFill>
          <a:ln w="12700">
            <a:solidFill>
              <a:srgbClr val="C62828"/>
            </a:solidFill>
            <a:prstDash val="solid"/>
          </a:ln>
        </p:spPr>
      </p:sp>
      <p:sp>
        <p:nvSpPr>
          <p:cNvPr id="33" name="Text 31"/>
          <p:cNvSpPr/>
          <p:nvPr/>
        </p:nvSpPr>
        <p:spPr>
          <a:xfrm>
            <a:off x="548640" y="3291840"/>
            <a:ext cx="3794760" cy="274320"/>
          </a:xfrm>
          <a:prstGeom prst="rect">
            <a:avLst/>
          </a:prstGeom>
          <a:noFill/>
          <a:ln/>
        </p:spPr>
        <p:txBody>
          <a:bodyPr wrap="square" lIns="0" tIns="0" rIns="0" bIns="0" rtlCol="0" anchor="ctr"/>
          <a:lstStyle/>
          <a:p>
            <a:pPr indent="0" marL="0">
              <a:buNone/>
            </a:pPr>
            <a:r>
              <a:rPr lang="en-US" sz="1150" b="1" dirty="0">
                <a:solidFill>
                  <a:srgbClr val="2D3A4A"/>
                </a:solidFill>
                <a:latin typeface="Calibri" pitchFamily="34" charset="0"/>
                <a:ea typeface="Calibri" pitchFamily="34" charset="-122"/>
                <a:cs typeface="Calibri" pitchFamily="34" charset="-120"/>
              </a:rPr>
              <a:t>Bhubaneswar  ↔  Mumbai</a:t>
            </a:r>
            <a:endParaRPr lang="en-US" sz="1150" dirty="0"/>
          </a:p>
        </p:txBody>
      </p:sp>
      <p:sp>
        <p:nvSpPr>
          <p:cNvPr id="34" name="Text 32"/>
          <p:cNvSpPr/>
          <p:nvPr/>
        </p:nvSpPr>
        <p:spPr>
          <a:xfrm>
            <a:off x="548640" y="3602736"/>
            <a:ext cx="3794760" cy="256032"/>
          </a:xfrm>
          <a:prstGeom prst="rect">
            <a:avLst/>
          </a:prstGeom>
          <a:noFill/>
          <a:ln/>
        </p:spPr>
        <p:txBody>
          <a:bodyPr wrap="square" lIns="0" tIns="0" rIns="0" bIns="0" rtlCol="0" anchor="ctr"/>
          <a:lstStyle/>
          <a:p>
            <a:pPr indent="0" marL="0">
              <a:buNone/>
            </a:pPr>
            <a:r>
              <a:rPr lang="en-US" sz="1000" i="1" dirty="0">
                <a:solidFill>
                  <a:srgbClr val="C62828"/>
                </a:solidFill>
                <a:latin typeface="Calibri" pitchFamily="34" charset="0"/>
                <a:ea typeface="Calibri" pitchFamily="34" charset="-122"/>
                <a:cs typeface="Calibri" pitchFamily="34" charset="-120"/>
              </a:rPr>
              <a:t>~1,600 km (far)</a:t>
            </a:r>
            <a:endParaRPr lang="en-US" sz="1000" dirty="0"/>
          </a:p>
        </p:txBody>
      </p:sp>
      <p:sp>
        <p:nvSpPr>
          <p:cNvPr id="35" name="Text 33"/>
          <p:cNvSpPr/>
          <p:nvPr/>
        </p:nvSpPr>
        <p:spPr>
          <a:xfrm>
            <a:off x="4297680" y="3401568"/>
            <a:ext cx="438912" cy="365760"/>
          </a:xfrm>
          <a:prstGeom prst="rect">
            <a:avLst/>
          </a:prstGeom>
          <a:noFill/>
          <a:ln/>
        </p:spPr>
        <p:txBody>
          <a:bodyPr wrap="square" lIns="0" tIns="0" rIns="0" bIns="0" rtlCol="0" anchor="ctr"/>
          <a:lstStyle/>
          <a:p>
            <a:pPr algn="ctr" indent="0" marL="0">
              <a:buNone/>
            </a:pPr>
            <a:r>
              <a:rPr lang="en-US" sz="1800" b="1" dirty="0">
                <a:solidFill>
                  <a:srgbClr val="D4891A"/>
                </a:solidFill>
              </a:rPr>
              <a:t>↔</a:t>
            </a:r>
            <a:endParaRPr lang="en-US" sz="1800" dirty="0"/>
          </a:p>
        </p:txBody>
      </p:sp>
      <p:sp>
        <p:nvSpPr>
          <p:cNvPr id="36" name="Shape 34"/>
          <p:cNvSpPr/>
          <p:nvPr/>
        </p:nvSpPr>
        <p:spPr>
          <a:xfrm>
            <a:off x="4617720" y="3218688"/>
            <a:ext cx="4178808" cy="768096"/>
          </a:xfrm>
          <a:prstGeom prst="rect">
            <a:avLst/>
          </a:prstGeom>
          <a:solidFill>
            <a:srgbClr val="FFFFFF"/>
          </a:solidFill>
          <a:ln w="12700">
            <a:solidFill>
              <a:srgbClr val="C62828"/>
            </a:solidFill>
            <a:prstDash val="solid"/>
          </a:ln>
          <a:effectLst>
            <a:outerShdw sx="100000" sy="100000" kx="0" ky="0" algn="bl" rotWithShape="0" blurRad="50800" dist="12700" dir="8100000">
              <a:srgbClr val="000000">
                <a:alpha val="8000"/>
              </a:srgbClr>
            </a:outerShdw>
          </a:effectLst>
        </p:spPr>
      </p:sp>
      <p:sp>
        <p:nvSpPr>
          <p:cNvPr id="37" name="Shape 35"/>
          <p:cNvSpPr/>
          <p:nvPr/>
        </p:nvSpPr>
        <p:spPr>
          <a:xfrm>
            <a:off x="4617720" y="3218688"/>
            <a:ext cx="64008" cy="768096"/>
          </a:xfrm>
          <a:prstGeom prst="rect">
            <a:avLst/>
          </a:prstGeom>
          <a:solidFill>
            <a:srgbClr val="C62828"/>
          </a:solidFill>
          <a:ln w="12700">
            <a:solidFill>
              <a:srgbClr val="C62828"/>
            </a:solidFill>
            <a:prstDash val="solid"/>
          </a:ln>
        </p:spPr>
      </p:sp>
      <p:sp>
        <p:nvSpPr>
          <p:cNvPr id="38" name="Text 36"/>
          <p:cNvSpPr/>
          <p:nvPr/>
        </p:nvSpPr>
        <p:spPr>
          <a:xfrm>
            <a:off x="4773168" y="3291840"/>
            <a:ext cx="3840480" cy="274320"/>
          </a:xfrm>
          <a:prstGeom prst="rect">
            <a:avLst/>
          </a:prstGeom>
          <a:noFill/>
          <a:ln/>
        </p:spPr>
        <p:txBody>
          <a:bodyPr wrap="square" lIns="0" tIns="0" rIns="0" bIns="0" rtlCol="0" anchor="ctr"/>
          <a:lstStyle/>
          <a:p>
            <a:pPr indent="0" marL="0">
              <a:buNone/>
            </a:pPr>
            <a:r>
              <a:rPr lang="en-US" sz="1100" b="1" dirty="0">
                <a:solidFill>
                  <a:srgbClr val="2D3A4A"/>
                </a:solidFill>
                <a:latin typeface="Consolas" pitchFamily="34" charset="0"/>
                <a:ea typeface="Consolas" pitchFamily="34" charset="-122"/>
                <a:cs typeface="Consolas" pitchFamily="34" charset="-120"/>
              </a:rPr>
              <a:t>"ML"  ↔  "Cooking recipes"</a:t>
            </a:r>
            <a:endParaRPr lang="en-US" sz="1100" dirty="0"/>
          </a:p>
        </p:txBody>
      </p:sp>
      <p:sp>
        <p:nvSpPr>
          <p:cNvPr id="39" name="Text 37"/>
          <p:cNvSpPr/>
          <p:nvPr/>
        </p:nvSpPr>
        <p:spPr>
          <a:xfrm>
            <a:off x="4773168" y="3602736"/>
            <a:ext cx="3840480" cy="256032"/>
          </a:xfrm>
          <a:prstGeom prst="rect">
            <a:avLst/>
          </a:prstGeom>
          <a:noFill/>
          <a:ln/>
        </p:spPr>
        <p:txBody>
          <a:bodyPr wrap="square" lIns="0" tIns="0" rIns="0" bIns="0" rtlCol="0" anchor="ctr"/>
          <a:lstStyle/>
          <a:p>
            <a:pPr indent="0" marL="0">
              <a:buNone/>
            </a:pPr>
            <a:r>
              <a:rPr lang="en-US" sz="1000" i="1" dirty="0">
                <a:solidFill>
                  <a:srgbClr val="C62828"/>
                </a:solidFill>
                <a:latin typeface="Calibri" pitchFamily="34" charset="0"/>
                <a:ea typeface="Calibri" pitchFamily="34" charset="-122"/>
                <a:cs typeface="Calibri" pitchFamily="34" charset="-120"/>
              </a:rPr>
              <a:t>0.12  (unrelated)</a:t>
            </a:r>
            <a:endParaRPr lang="en-US" sz="1000" dirty="0"/>
          </a:p>
        </p:txBody>
      </p:sp>
      <p:sp>
        <p:nvSpPr>
          <p:cNvPr id="40" name="Shape 38"/>
          <p:cNvSpPr/>
          <p:nvPr/>
        </p:nvSpPr>
        <p:spPr>
          <a:xfrm>
            <a:off x="347472" y="4261104"/>
            <a:ext cx="8449056" cy="384048"/>
          </a:xfrm>
          <a:prstGeom prst="rect">
            <a:avLst/>
          </a:prstGeom>
          <a:solidFill>
            <a:srgbClr val="D4891A"/>
          </a:solidFill>
          <a:ln w="12700">
            <a:solidFill>
              <a:srgbClr val="D4891A"/>
            </a:solidFill>
            <a:prstDash val="solid"/>
          </a:ln>
        </p:spPr>
      </p:sp>
      <p:sp>
        <p:nvSpPr>
          <p:cNvPr id="41" name="Text 39"/>
          <p:cNvSpPr/>
          <p:nvPr/>
        </p:nvSpPr>
        <p:spPr>
          <a:xfrm>
            <a:off x="457200" y="4261104"/>
            <a:ext cx="8321040" cy="384048"/>
          </a:xfrm>
          <a:prstGeom prst="rect">
            <a:avLst/>
          </a:prstGeom>
          <a:noFill/>
          <a:ln/>
        </p:spPr>
        <p:txBody>
          <a:bodyPr wrap="square" lIns="0" tIns="0" rIns="0" bIns="0" rtlCol="0" anchor="ctr"/>
          <a:lstStyle/>
          <a:p>
            <a:pPr algn="ctr" indent="0" marL="0">
              <a:buNone/>
            </a:pPr>
            <a:r>
              <a:rPr lang="en-US" sz="1100" b="1" dirty="0">
                <a:solidFill>
                  <a:srgbClr val="0D2349"/>
                </a:solidFill>
                <a:latin typeface="Trebuchet MS" pitchFamily="34" charset="0"/>
                <a:ea typeface="Trebuchet MS" pitchFamily="34" charset="-122"/>
                <a:cs typeface="Trebuchet MS" pitchFamily="34" charset="-120"/>
              </a:rPr>
              <a:t>GPS gives every location a unique coordinate.  Embeddings give every text a unique vector.  Nearby = similar.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349"/>
          </a:solidFill>
          <a:ln w="12700">
            <a:solidFill>
              <a:srgbClr val="0D234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Cosine Similarity — Measuring Closeness</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Text 4"/>
          <p:cNvSpPr/>
          <p:nvPr/>
        </p:nvSpPr>
        <p:spPr>
          <a:xfrm>
            <a:off x="384048" y="749808"/>
            <a:ext cx="8229600" cy="256032"/>
          </a:xfrm>
          <a:prstGeom prst="rect">
            <a:avLst/>
          </a:prstGeom>
          <a:noFill/>
          <a:ln/>
        </p:spPr>
        <p:txBody>
          <a:bodyPr wrap="square" lIns="0" tIns="0" rIns="0" bIns="0" rtlCol="0" anchor="ctr"/>
          <a:lstStyle/>
          <a:p>
            <a:pPr indent="0" marL="0">
              <a:buNone/>
            </a:pPr>
            <a:r>
              <a:rPr lang="en-US" sz="1100" i="1" dirty="0">
                <a:solidFill>
                  <a:srgbClr val="00879E"/>
                </a:solidFill>
                <a:latin typeface="Calibri" pitchFamily="34" charset="0"/>
                <a:ea typeface="Calibri" pitchFamily="34" charset="-122"/>
                <a:cs typeface="Calibri" pitchFamily="34" charset="-120"/>
              </a:rPr>
              <a:t>A score from 0 to 1 that tells us how similar two meanings are</a:t>
            </a:r>
            <a:endParaRPr lang="en-US" sz="1100" dirty="0"/>
          </a:p>
        </p:txBody>
      </p:sp>
      <p:sp>
        <p:nvSpPr>
          <p:cNvPr id="7" name="Shape 5"/>
          <p:cNvSpPr/>
          <p:nvPr/>
        </p:nvSpPr>
        <p:spPr>
          <a:xfrm>
            <a:off x="0" y="4937760"/>
            <a:ext cx="9144000" cy="205740"/>
          </a:xfrm>
          <a:prstGeom prst="rect">
            <a:avLst/>
          </a:prstGeom>
          <a:solidFill>
            <a:srgbClr val="0D2349"/>
          </a:solidFill>
          <a:ln w="12700">
            <a:solidFill>
              <a:srgbClr val="0D2349"/>
            </a:solidFill>
            <a:prstDash val="solid"/>
          </a:ln>
        </p:spPr>
      </p:sp>
      <p:sp>
        <p:nvSpPr>
          <p:cNvPr id="8" name="Text 6"/>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9" name="Shape 7"/>
          <p:cNvSpPr/>
          <p:nvPr/>
        </p:nvSpPr>
        <p:spPr>
          <a:xfrm>
            <a:off x="347472" y="987552"/>
            <a:ext cx="8449056" cy="347472"/>
          </a:xfrm>
          <a:prstGeom prst="rect">
            <a:avLst/>
          </a:prstGeom>
          <a:solidFill>
            <a:srgbClr val="0D2349"/>
          </a:solidFill>
          <a:ln w="12700">
            <a:solidFill>
              <a:srgbClr val="0D2349"/>
            </a:solidFill>
            <a:prstDash val="solid"/>
          </a:ln>
        </p:spPr>
      </p:sp>
      <p:sp>
        <p:nvSpPr>
          <p:cNvPr id="10" name="Text 8"/>
          <p:cNvSpPr/>
          <p:nvPr/>
        </p:nvSpPr>
        <p:spPr>
          <a:xfrm>
            <a:off x="457200" y="987552"/>
            <a:ext cx="8321040" cy="347472"/>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Score = 1.0  </a:t>
            </a:r>
            <a:pPr algn="ctr" indent="0" marL="0">
              <a:buNone/>
            </a:pPr>
            <a:r>
              <a:rPr lang="en-US" sz="1100" dirty="0">
                <a:solidFill>
                  <a:srgbClr val="8896AB"/>
                </a:solidFill>
                <a:latin typeface="Calibri" pitchFamily="34" charset="0"/>
                <a:ea typeface="Calibri" pitchFamily="34" charset="-122"/>
                <a:cs typeface="Calibri" pitchFamily="34" charset="-120"/>
              </a:rPr>
              <a:t>identical meaning     </a:t>
            </a:r>
            <a:pPr algn="ctr" indent="0" marL="0">
              <a:buNone/>
            </a:pPr>
            <a:r>
              <a:rPr lang="en-US" sz="1100" b="1" dirty="0">
                <a:solidFill>
                  <a:srgbClr val="D4891A"/>
                </a:solidFill>
                <a:latin typeface="Calibri" pitchFamily="34" charset="0"/>
                <a:ea typeface="Calibri" pitchFamily="34" charset="-122"/>
                <a:cs typeface="Calibri" pitchFamily="34" charset="-120"/>
              </a:rPr>
              <a:t>Score = 0.5  </a:t>
            </a:r>
            <a:pPr algn="ctr" indent="0" marL="0">
              <a:buNone/>
            </a:pPr>
            <a:r>
              <a:rPr lang="en-US" sz="1100" dirty="0">
                <a:solidFill>
                  <a:srgbClr val="8896AB"/>
                </a:solidFill>
                <a:latin typeface="Calibri" pitchFamily="34" charset="0"/>
                <a:ea typeface="Calibri" pitchFamily="34" charset="-122"/>
                <a:cs typeface="Calibri" pitchFamily="34" charset="-120"/>
              </a:rPr>
              <a:t>somewhat related     </a:t>
            </a:r>
            <a:pPr algn="ctr" indent="0" marL="0">
              <a:buNone/>
            </a:pPr>
            <a:r>
              <a:rPr lang="en-US" sz="1100" b="1" dirty="0">
                <a:solidFill>
                  <a:srgbClr val="C62828"/>
                </a:solidFill>
                <a:latin typeface="Calibri" pitchFamily="34" charset="0"/>
                <a:ea typeface="Calibri" pitchFamily="34" charset="-122"/>
                <a:cs typeface="Calibri" pitchFamily="34" charset="-120"/>
              </a:rPr>
              <a:t>Score ≈ 0  </a:t>
            </a:r>
            <a:pPr algn="ctr" indent="0" marL="0">
              <a:buNone/>
            </a:pPr>
            <a:r>
              <a:rPr lang="en-US" sz="1100" dirty="0">
                <a:solidFill>
                  <a:srgbClr val="8896AB"/>
                </a:solidFill>
                <a:latin typeface="Calibri" pitchFamily="34" charset="0"/>
                <a:ea typeface="Calibri" pitchFamily="34" charset="-122"/>
                <a:cs typeface="Calibri" pitchFamily="34" charset="-120"/>
              </a:rPr>
              <a:t>completely different</a:t>
            </a:r>
            <a:endParaRPr lang="en-US" sz="1100" dirty="0"/>
          </a:p>
        </p:txBody>
      </p:sp>
      <p:sp>
        <p:nvSpPr>
          <p:cNvPr id="11" name="Shape 9"/>
          <p:cNvSpPr/>
          <p:nvPr/>
        </p:nvSpPr>
        <p:spPr>
          <a:xfrm>
            <a:off x="347472" y="1426464"/>
            <a:ext cx="8449056" cy="640080"/>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347472" y="1426464"/>
            <a:ext cx="64008" cy="640080"/>
          </a:xfrm>
          <a:prstGeom prst="rect">
            <a:avLst/>
          </a:prstGeom>
          <a:solidFill>
            <a:srgbClr val="2E7D32"/>
          </a:solidFill>
          <a:ln w="12700">
            <a:solidFill>
              <a:srgbClr val="2E7D32"/>
            </a:solidFill>
            <a:prstDash val="solid"/>
          </a:ln>
        </p:spPr>
      </p:sp>
      <p:sp>
        <p:nvSpPr>
          <p:cNvPr id="13" name="Text 11"/>
          <p:cNvSpPr/>
          <p:nvPr/>
        </p:nvSpPr>
        <p:spPr>
          <a:xfrm>
            <a:off x="530352" y="1481328"/>
            <a:ext cx="2194560" cy="256032"/>
          </a:xfrm>
          <a:prstGeom prst="rect">
            <a:avLst/>
          </a:prstGeom>
          <a:noFill/>
          <a:ln/>
        </p:spPr>
        <p:txBody>
          <a:bodyPr wrap="square" lIns="0" tIns="0" rIns="0" bIns="0" rtlCol="0" anchor="ctr"/>
          <a:lstStyle/>
          <a:p>
            <a:pPr indent="0" marL="0">
              <a:buNone/>
            </a:pPr>
            <a:r>
              <a:rPr lang="en-US" sz="1050" b="1" dirty="0">
                <a:solidFill>
                  <a:srgbClr val="2D3A4A"/>
                </a:solidFill>
                <a:latin typeface="Consolas" pitchFamily="34" charset="0"/>
                <a:ea typeface="Consolas" pitchFamily="34" charset="-122"/>
                <a:cs typeface="Consolas" pitchFamily="34" charset="-120"/>
              </a:rPr>
              <a:t>"deep learning"</a:t>
            </a:r>
            <a:endParaRPr lang="en-US" sz="1050" dirty="0"/>
          </a:p>
        </p:txBody>
      </p:sp>
      <p:sp>
        <p:nvSpPr>
          <p:cNvPr id="14" name="Text 12"/>
          <p:cNvSpPr/>
          <p:nvPr/>
        </p:nvSpPr>
        <p:spPr>
          <a:xfrm>
            <a:off x="2779776" y="1463040"/>
            <a:ext cx="347472" cy="292608"/>
          </a:xfrm>
          <a:prstGeom prst="rect">
            <a:avLst/>
          </a:prstGeom>
          <a:noFill/>
          <a:ln/>
        </p:spPr>
        <p:txBody>
          <a:bodyPr wrap="square" lIns="0" tIns="0" rIns="0" bIns="0" rtlCol="0" anchor="ctr"/>
          <a:lstStyle/>
          <a:p>
            <a:pPr algn="ctr" indent="0" marL="0">
              <a:buNone/>
            </a:pPr>
            <a:r>
              <a:rPr lang="en-US" sz="1600" b="1" dirty="0">
                <a:solidFill>
                  <a:srgbClr val="2E7D32"/>
                </a:solidFill>
              </a:rPr>
              <a:t>↔</a:t>
            </a:r>
            <a:endParaRPr lang="en-US" sz="1600" dirty="0"/>
          </a:p>
        </p:txBody>
      </p:sp>
      <p:sp>
        <p:nvSpPr>
          <p:cNvPr id="15" name="Text 13"/>
          <p:cNvSpPr/>
          <p:nvPr/>
        </p:nvSpPr>
        <p:spPr>
          <a:xfrm>
            <a:off x="3163824" y="1481328"/>
            <a:ext cx="2377440" cy="256032"/>
          </a:xfrm>
          <a:prstGeom prst="rect">
            <a:avLst/>
          </a:prstGeom>
          <a:noFill/>
          <a:ln/>
        </p:spPr>
        <p:txBody>
          <a:bodyPr wrap="square" lIns="0" tIns="0" rIns="0" bIns="0" rtlCol="0" anchor="ctr"/>
          <a:lstStyle/>
          <a:p>
            <a:pPr indent="0" marL="0">
              <a:buNone/>
            </a:pPr>
            <a:r>
              <a:rPr lang="en-US" sz="1050" b="1" dirty="0">
                <a:solidFill>
                  <a:srgbClr val="2D3A4A"/>
                </a:solidFill>
                <a:latin typeface="Consolas" pitchFamily="34" charset="0"/>
                <a:ea typeface="Consolas" pitchFamily="34" charset="-122"/>
                <a:cs typeface="Consolas" pitchFamily="34" charset="-120"/>
              </a:rPr>
              <a:t>"machine learning"</a:t>
            </a:r>
            <a:endParaRPr lang="en-US" sz="1050" dirty="0"/>
          </a:p>
        </p:txBody>
      </p:sp>
      <p:sp>
        <p:nvSpPr>
          <p:cNvPr id="16" name="Shape 14"/>
          <p:cNvSpPr/>
          <p:nvPr/>
        </p:nvSpPr>
        <p:spPr>
          <a:xfrm>
            <a:off x="5614416" y="1517904"/>
            <a:ext cx="658368" cy="310896"/>
          </a:xfrm>
          <a:prstGeom prst="rect">
            <a:avLst/>
          </a:prstGeom>
          <a:solidFill>
            <a:srgbClr val="2E7D32"/>
          </a:solidFill>
          <a:ln w="12700">
            <a:solidFill>
              <a:srgbClr val="2E7D32"/>
            </a:solidFill>
            <a:prstDash val="solid"/>
          </a:ln>
        </p:spPr>
      </p:sp>
      <p:sp>
        <p:nvSpPr>
          <p:cNvPr id="17" name="Text 15"/>
          <p:cNvSpPr/>
          <p:nvPr/>
        </p:nvSpPr>
        <p:spPr>
          <a:xfrm>
            <a:off x="5614416" y="1517904"/>
            <a:ext cx="6583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0.87</a:t>
            </a:r>
            <a:endParaRPr lang="en-US" sz="1300" dirty="0"/>
          </a:p>
        </p:txBody>
      </p:sp>
      <p:sp>
        <p:nvSpPr>
          <p:cNvPr id="18" name="Shape 16"/>
          <p:cNvSpPr/>
          <p:nvPr/>
        </p:nvSpPr>
        <p:spPr>
          <a:xfrm>
            <a:off x="6364224" y="1591056"/>
            <a:ext cx="3200400" cy="182880"/>
          </a:xfrm>
          <a:prstGeom prst="rect">
            <a:avLst/>
          </a:prstGeom>
          <a:solidFill>
            <a:srgbClr val="E8EDF3"/>
          </a:solidFill>
          <a:ln w="12700">
            <a:solidFill>
              <a:srgbClr val="E8EDF3"/>
            </a:solidFill>
            <a:prstDash val="solid"/>
          </a:ln>
        </p:spPr>
      </p:sp>
      <p:sp>
        <p:nvSpPr>
          <p:cNvPr id="19" name="Shape 17"/>
          <p:cNvSpPr/>
          <p:nvPr/>
        </p:nvSpPr>
        <p:spPr>
          <a:xfrm>
            <a:off x="6364224" y="1591056"/>
            <a:ext cx="2784348" cy="182880"/>
          </a:xfrm>
          <a:prstGeom prst="rect">
            <a:avLst/>
          </a:prstGeom>
          <a:solidFill>
            <a:srgbClr val="2E7D32"/>
          </a:solidFill>
          <a:ln w="12700">
            <a:solidFill>
              <a:srgbClr val="2E7D32"/>
            </a:solidFill>
            <a:prstDash val="solid"/>
          </a:ln>
        </p:spPr>
      </p:sp>
      <p:sp>
        <p:nvSpPr>
          <p:cNvPr id="20" name="Text 18"/>
          <p:cNvSpPr/>
          <p:nvPr/>
        </p:nvSpPr>
        <p:spPr>
          <a:xfrm>
            <a:off x="530352" y="1792224"/>
            <a:ext cx="8229600" cy="201168"/>
          </a:xfrm>
          <a:prstGeom prst="rect">
            <a:avLst/>
          </a:prstGeom>
          <a:noFill/>
          <a:ln/>
        </p:spPr>
        <p:txBody>
          <a:bodyPr wrap="square" lIns="0" tIns="0" rIns="0" bIns="0" rtlCol="0" anchor="ctr"/>
          <a:lstStyle/>
          <a:p>
            <a:pPr indent="0" marL="0">
              <a:buNone/>
            </a:pPr>
            <a:r>
              <a:rPr lang="en-US" sz="950" i="1" dirty="0">
                <a:solidFill>
                  <a:srgbClr val="8896AB"/>
                </a:solidFill>
                <a:latin typeface="Calibri" pitchFamily="34" charset="0"/>
                <a:ea typeface="Calibri" pitchFamily="34" charset="-122"/>
                <a:cs typeface="Calibri" pitchFamily="34" charset="-120"/>
              </a:rPr>
              <a:t>Both are AI/ML techniques — very related topics</a:t>
            </a:r>
            <a:endParaRPr lang="en-US" sz="950" dirty="0"/>
          </a:p>
        </p:txBody>
      </p:sp>
      <p:sp>
        <p:nvSpPr>
          <p:cNvPr id="21" name="Shape 19"/>
          <p:cNvSpPr/>
          <p:nvPr/>
        </p:nvSpPr>
        <p:spPr>
          <a:xfrm>
            <a:off x="347472" y="2121408"/>
            <a:ext cx="8449056" cy="640080"/>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22" name="Shape 20"/>
          <p:cNvSpPr/>
          <p:nvPr/>
        </p:nvSpPr>
        <p:spPr>
          <a:xfrm>
            <a:off x="347472" y="2121408"/>
            <a:ext cx="64008" cy="640080"/>
          </a:xfrm>
          <a:prstGeom prst="rect">
            <a:avLst/>
          </a:prstGeom>
          <a:solidFill>
            <a:srgbClr val="00879E"/>
          </a:solidFill>
          <a:ln w="12700">
            <a:solidFill>
              <a:srgbClr val="00879E"/>
            </a:solidFill>
            <a:prstDash val="solid"/>
          </a:ln>
        </p:spPr>
      </p:sp>
      <p:sp>
        <p:nvSpPr>
          <p:cNvPr id="23" name="Text 21"/>
          <p:cNvSpPr/>
          <p:nvPr/>
        </p:nvSpPr>
        <p:spPr>
          <a:xfrm>
            <a:off x="530352" y="2176272"/>
            <a:ext cx="2194560" cy="256032"/>
          </a:xfrm>
          <a:prstGeom prst="rect">
            <a:avLst/>
          </a:prstGeom>
          <a:noFill/>
          <a:ln/>
        </p:spPr>
        <p:txBody>
          <a:bodyPr wrap="square" lIns="0" tIns="0" rIns="0" bIns="0" rtlCol="0" anchor="ctr"/>
          <a:lstStyle/>
          <a:p>
            <a:pPr indent="0" marL="0">
              <a:buNone/>
            </a:pPr>
            <a:r>
              <a:rPr lang="en-US" sz="1050" b="1" dirty="0">
                <a:solidFill>
                  <a:srgbClr val="2D3A4A"/>
                </a:solidFill>
                <a:latin typeface="Consolas" pitchFamily="34" charset="0"/>
                <a:ea typeface="Consolas" pitchFamily="34" charset="-122"/>
                <a:cs typeface="Consolas" pitchFamily="34" charset="-120"/>
              </a:rPr>
              <a:t>"machine learning"</a:t>
            </a:r>
            <a:endParaRPr lang="en-US" sz="1050" dirty="0"/>
          </a:p>
        </p:txBody>
      </p:sp>
      <p:sp>
        <p:nvSpPr>
          <p:cNvPr id="24" name="Text 22"/>
          <p:cNvSpPr/>
          <p:nvPr/>
        </p:nvSpPr>
        <p:spPr>
          <a:xfrm>
            <a:off x="2779776" y="2157984"/>
            <a:ext cx="347472" cy="292608"/>
          </a:xfrm>
          <a:prstGeom prst="rect">
            <a:avLst/>
          </a:prstGeom>
          <a:noFill/>
          <a:ln/>
        </p:spPr>
        <p:txBody>
          <a:bodyPr wrap="square" lIns="0" tIns="0" rIns="0" bIns="0" rtlCol="0" anchor="ctr"/>
          <a:lstStyle/>
          <a:p>
            <a:pPr algn="ctr" indent="0" marL="0">
              <a:buNone/>
            </a:pPr>
            <a:r>
              <a:rPr lang="en-US" sz="1600" b="1" dirty="0">
                <a:solidFill>
                  <a:srgbClr val="00879E"/>
                </a:solidFill>
              </a:rPr>
              <a:t>↔</a:t>
            </a:r>
            <a:endParaRPr lang="en-US" sz="1600" dirty="0"/>
          </a:p>
        </p:txBody>
      </p:sp>
      <p:sp>
        <p:nvSpPr>
          <p:cNvPr id="25" name="Text 23"/>
          <p:cNvSpPr/>
          <p:nvPr/>
        </p:nvSpPr>
        <p:spPr>
          <a:xfrm>
            <a:off x="3163824" y="2176272"/>
            <a:ext cx="2377440" cy="256032"/>
          </a:xfrm>
          <a:prstGeom prst="rect">
            <a:avLst/>
          </a:prstGeom>
          <a:noFill/>
          <a:ln/>
        </p:spPr>
        <p:txBody>
          <a:bodyPr wrap="square" lIns="0" tIns="0" rIns="0" bIns="0" rtlCol="0" anchor="ctr"/>
          <a:lstStyle/>
          <a:p>
            <a:pPr indent="0" marL="0">
              <a:buNone/>
            </a:pPr>
            <a:r>
              <a:rPr lang="en-US" sz="1050" b="1" dirty="0">
                <a:solidFill>
                  <a:srgbClr val="2D3A4A"/>
                </a:solidFill>
                <a:latin typeface="Consolas" pitchFamily="34" charset="0"/>
                <a:ea typeface="Consolas" pitchFamily="34" charset="-122"/>
                <a:cs typeface="Consolas" pitchFamily="34" charset="-120"/>
              </a:rPr>
              <a:t>"data science"</a:t>
            </a:r>
            <a:endParaRPr lang="en-US" sz="1050" dirty="0"/>
          </a:p>
        </p:txBody>
      </p:sp>
      <p:sp>
        <p:nvSpPr>
          <p:cNvPr id="26" name="Shape 24"/>
          <p:cNvSpPr/>
          <p:nvPr/>
        </p:nvSpPr>
        <p:spPr>
          <a:xfrm>
            <a:off x="5614416" y="2212848"/>
            <a:ext cx="658368" cy="310896"/>
          </a:xfrm>
          <a:prstGeom prst="rect">
            <a:avLst/>
          </a:prstGeom>
          <a:solidFill>
            <a:srgbClr val="00879E"/>
          </a:solidFill>
          <a:ln w="12700">
            <a:solidFill>
              <a:srgbClr val="00879E"/>
            </a:solidFill>
            <a:prstDash val="solid"/>
          </a:ln>
        </p:spPr>
      </p:sp>
      <p:sp>
        <p:nvSpPr>
          <p:cNvPr id="27" name="Text 25"/>
          <p:cNvSpPr/>
          <p:nvPr/>
        </p:nvSpPr>
        <p:spPr>
          <a:xfrm>
            <a:off x="5614416" y="2212848"/>
            <a:ext cx="6583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0.61</a:t>
            </a:r>
            <a:endParaRPr lang="en-US" sz="1300" dirty="0"/>
          </a:p>
        </p:txBody>
      </p:sp>
      <p:sp>
        <p:nvSpPr>
          <p:cNvPr id="28" name="Shape 26"/>
          <p:cNvSpPr/>
          <p:nvPr/>
        </p:nvSpPr>
        <p:spPr>
          <a:xfrm>
            <a:off x="6364224" y="2286000"/>
            <a:ext cx="3200400" cy="182880"/>
          </a:xfrm>
          <a:prstGeom prst="rect">
            <a:avLst/>
          </a:prstGeom>
          <a:solidFill>
            <a:srgbClr val="E8EDF3"/>
          </a:solidFill>
          <a:ln w="12700">
            <a:solidFill>
              <a:srgbClr val="E8EDF3"/>
            </a:solidFill>
            <a:prstDash val="solid"/>
          </a:ln>
        </p:spPr>
      </p:sp>
      <p:sp>
        <p:nvSpPr>
          <p:cNvPr id="29" name="Shape 27"/>
          <p:cNvSpPr/>
          <p:nvPr/>
        </p:nvSpPr>
        <p:spPr>
          <a:xfrm>
            <a:off x="6364224" y="2286000"/>
            <a:ext cx="1952244" cy="182880"/>
          </a:xfrm>
          <a:prstGeom prst="rect">
            <a:avLst/>
          </a:prstGeom>
          <a:solidFill>
            <a:srgbClr val="00879E"/>
          </a:solidFill>
          <a:ln w="12700">
            <a:solidFill>
              <a:srgbClr val="00879E"/>
            </a:solidFill>
            <a:prstDash val="solid"/>
          </a:ln>
        </p:spPr>
      </p:sp>
      <p:sp>
        <p:nvSpPr>
          <p:cNvPr id="30" name="Text 28"/>
          <p:cNvSpPr/>
          <p:nvPr/>
        </p:nvSpPr>
        <p:spPr>
          <a:xfrm>
            <a:off x="530352" y="2487168"/>
            <a:ext cx="8229600" cy="201168"/>
          </a:xfrm>
          <a:prstGeom prst="rect">
            <a:avLst/>
          </a:prstGeom>
          <a:noFill/>
          <a:ln/>
        </p:spPr>
        <p:txBody>
          <a:bodyPr wrap="square" lIns="0" tIns="0" rIns="0" bIns="0" rtlCol="0" anchor="ctr"/>
          <a:lstStyle/>
          <a:p>
            <a:pPr indent="0" marL="0">
              <a:buNone/>
            </a:pPr>
            <a:r>
              <a:rPr lang="en-US" sz="950" i="1" dirty="0">
                <a:solidFill>
                  <a:srgbClr val="8896AB"/>
                </a:solidFill>
                <a:latin typeface="Calibri" pitchFamily="34" charset="0"/>
                <a:ea typeface="Calibri" pitchFamily="34" charset="-122"/>
                <a:cs typeface="Calibri" pitchFamily="34" charset="-120"/>
              </a:rPr>
              <a:t>Overlapping fields — not identical but related</a:t>
            </a:r>
            <a:endParaRPr lang="en-US" sz="950" dirty="0"/>
          </a:p>
        </p:txBody>
      </p:sp>
      <p:sp>
        <p:nvSpPr>
          <p:cNvPr id="31" name="Shape 29"/>
          <p:cNvSpPr/>
          <p:nvPr/>
        </p:nvSpPr>
        <p:spPr>
          <a:xfrm>
            <a:off x="347472" y="2816352"/>
            <a:ext cx="8449056" cy="640080"/>
          </a:xfrm>
          <a:prstGeom prst="rect">
            <a:avLst/>
          </a:prstGeom>
          <a:solidFill>
            <a:srgbClr val="FFF8E1"/>
          </a:solidFill>
          <a:ln w="12700">
            <a:solidFill>
              <a:srgbClr val="D4891A"/>
            </a:solidFill>
            <a:prstDash val="solid"/>
          </a:ln>
          <a:effectLst>
            <a:outerShdw sx="100000" sy="100000" kx="0" ky="0" algn="bl" rotWithShape="0" blurRad="50800" dist="12700" dir="8100000">
              <a:srgbClr val="000000">
                <a:alpha val="8000"/>
              </a:srgbClr>
            </a:outerShdw>
          </a:effectLst>
        </p:spPr>
      </p:sp>
      <p:sp>
        <p:nvSpPr>
          <p:cNvPr id="32" name="Shape 30"/>
          <p:cNvSpPr/>
          <p:nvPr/>
        </p:nvSpPr>
        <p:spPr>
          <a:xfrm>
            <a:off x="347472" y="2816352"/>
            <a:ext cx="64008" cy="640080"/>
          </a:xfrm>
          <a:prstGeom prst="rect">
            <a:avLst/>
          </a:prstGeom>
          <a:solidFill>
            <a:srgbClr val="D4891A"/>
          </a:solidFill>
          <a:ln w="12700">
            <a:solidFill>
              <a:srgbClr val="D4891A"/>
            </a:solidFill>
            <a:prstDash val="solid"/>
          </a:ln>
        </p:spPr>
      </p:sp>
      <p:sp>
        <p:nvSpPr>
          <p:cNvPr id="33" name="Text 31"/>
          <p:cNvSpPr/>
          <p:nvPr/>
        </p:nvSpPr>
        <p:spPr>
          <a:xfrm>
            <a:off x="530352" y="2871216"/>
            <a:ext cx="2194560" cy="256032"/>
          </a:xfrm>
          <a:prstGeom prst="rect">
            <a:avLst/>
          </a:prstGeom>
          <a:noFill/>
          <a:ln/>
        </p:spPr>
        <p:txBody>
          <a:bodyPr wrap="square" lIns="0" tIns="0" rIns="0" bIns="0" rtlCol="0" anchor="ctr"/>
          <a:lstStyle/>
          <a:p>
            <a:pPr indent="0" marL="0">
              <a:buNone/>
            </a:pPr>
            <a:r>
              <a:rPr lang="en-US" sz="1050" b="1" dirty="0">
                <a:solidFill>
                  <a:srgbClr val="2D3A4A"/>
                </a:solidFill>
                <a:latin typeface="Consolas" pitchFamily="34" charset="0"/>
                <a:ea typeface="Consolas" pitchFamily="34" charset="-122"/>
                <a:cs typeface="Consolas" pitchFamily="34" charset="-120"/>
              </a:rPr>
              <a:t>"CEO of company"</a:t>
            </a:r>
            <a:endParaRPr lang="en-US" sz="1050" dirty="0"/>
          </a:p>
        </p:txBody>
      </p:sp>
      <p:sp>
        <p:nvSpPr>
          <p:cNvPr id="34" name="Text 32"/>
          <p:cNvSpPr/>
          <p:nvPr/>
        </p:nvSpPr>
        <p:spPr>
          <a:xfrm>
            <a:off x="2779776" y="2852928"/>
            <a:ext cx="347472" cy="292608"/>
          </a:xfrm>
          <a:prstGeom prst="rect">
            <a:avLst/>
          </a:prstGeom>
          <a:noFill/>
          <a:ln/>
        </p:spPr>
        <p:txBody>
          <a:bodyPr wrap="square" lIns="0" tIns="0" rIns="0" bIns="0" rtlCol="0" anchor="ctr"/>
          <a:lstStyle/>
          <a:p>
            <a:pPr algn="ctr" indent="0" marL="0">
              <a:buNone/>
            </a:pPr>
            <a:r>
              <a:rPr lang="en-US" sz="1600" b="1" dirty="0">
                <a:solidFill>
                  <a:srgbClr val="D4891A"/>
                </a:solidFill>
              </a:rPr>
              <a:t>↔</a:t>
            </a:r>
            <a:endParaRPr lang="en-US" sz="1600" dirty="0"/>
          </a:p>
        </p:txBody>
      </p:sp>
      <p:sp>
        <p:nvSpPr>
          <p:cNvPr id="35" name="Text 33"/>
          <p:cNvSpPr/>
          <p:nvPr/>
        </p:nvSpPr>
        <p:spPr>
          <a:xfrm>
            <a:off x="3163824" y="2871216"/>
            <a:ext cx="2377440" cy="256032"/>
          </a:xfrm>
          <a:prstGeom prst="rect">
            <a:avLst/>
          </a:prstGeom>
          <a:noFill/>
          <a:ln/>
        </p:spPr>
        <p:txBody>
          <a:bodyPr wrap="square" lIns="0" tIns="0" rIns="0" bIns="0" rtlCol="0" anchor="ctr"/>
          <a:lstStyle/>
          <a:p>
            <a:pPr indent="0" marL="0">
              <a:buNone/>
            </a:pPr>
            <a:r>
              <a:rPr lang="en-US" sz="1050" b="1" dirty="0">
                <a:solidFill>
                  <a:srgbClr val="2D3A4A"/>
                </a:solidFill>
                <a:latin typeface="Consolas" pitchFamily="34" charset="0"/>
                <a:ea typeface="Consolas" pitchFamily="34" charset="-122"/>
                <a:cs typeface="Consolas" pitchFamily="34" charset="-120"/>
              </a:rPr>
              <a:t>"Priya founded TechSolutions"</a:t>
            </a:r>
            <a:endParaRPr lang="en-US" sz="1050" dirty="0"/>
          </a:p>
        </p:txBody>
      </p:sp>
      <p:sp>
        <p:nvSpPr>
          <p:cNvPr id="36" name="Shape 34"/>
          <p:cNvSpPr/>
          <p:nvPr/>
        </p:nvSpPr>
        <p:spPr>
          <a:xfrm>
            <a:off x="5614416" y="2907792"/>
            <a:ext cx="658368" cy="310896"/>
          </a:xfrm>
          <a:prstGeom prst="rect">
            <a:avLst/>
          </a:prstGeom>
          <a:solidFill>
            <a:srgbClr val="D4891A"/>
          </a:solidFill>
          <a:ln w="12700">
            <a:solidFill>
              <a:srgbClr val="D4891A"/>
            </a:solidFill>
            <a:prstDash val="solid"/>
          </a:ln>
        </p:spPr>
      </p:sp>
      <p:sp>
        <p:nvSpPr>
          <p:cNvPr id="37" name="Text 35"/>
          <p:cNvSpPr/>
          <p:nvPr/>
        </p:nvSpPr>
        <p:spPr>
          <a:xfrm>
            <a:off x="5614416" y="2907792"/>
            <a:ext cx="658368" cy="310896"/>
          </a:xfrm>
          <a:prstGeom prst="rect">
            <a:avLst/>
          </a:prstGeom>
          <a:noFill/>
          <a:ln/>
        </p:spPr>
        <p:txBody>
          <a:bodyPr wrap="square" lIns="0" tIns="0" rIns="0" bIns="0" rtlCol="0" anchor="ctr"/>
          <a:lstStyle/>
          <a:p>
            <a:pPr algn="ctr" indent="0" marL="0">
              <a:buNone/>
            </a:pPr>
            <a:r>
              <a:rPr lang="en-US" sz="1300" b="1" dirty="0">
                <a:solidFill>
                  <a:srgbClr val="0D2349"/>
                </a:solidFill>
                <a:latin typeface="Trebuchet MS" pitchFamily="34" charset="0"/>
                <a:ea typeface="Trebuchet MS" pitchFamily="34" charset="-122"/>
                <a:cs typeface="Trebuchet MS" pitchFamily="34" charset="-120"/>
              </a:rPr>
              <a:t>0.48</a:t>
            </a:r>
            <a:endParaRPr lang="en-US" sz="1300" dirty="0"/>
          </a:p>
        </p:txBody>
      </p:sp>
      <p:sp>
        <p:nvSpPr>
          <p:cNvPr id="38" name="Shape 36"/>
          <p:cNvSpPr/>
          <p:nvPr/>
        </p:nvSpPr>
        <p:spPr>
          <a:xfrm>
            <a:off x="6364224" y="2980944"/>
            <a:ext cx="3200400" cy="182880"/>
          </a:xfrm>
          <a:prstGeom prst="rect">
            <a:avLst/>
          </a:prstGeom>
          <a:solidFill>
            <a:srgbClr val="E8EDF3"/>
          </a:solidFill>
          <a:ln w="12700">
            <a:solidFill>
              <a:srgbClr val="E8EDF3"/>
            </a:solidFill>
            <a:prstDash val="solid"/>
          </a:ln>
        </p:spPr>
      </p:sp>
      <p:sp>
        <p:nvSpPr>
          <p:cNvPr id="39" name="Shape 37"/>
          <p:cNvSpPr/>
          <p:nvPr/>
        </p:nvSpPr>
        <p:spPr>
          <a:xfrm>
            <a:off x="6364224" y="2980944"/>
            <a:ext cx="1536192" cy="182880"/>
          </a:xfrm>
          <a:prstGeom prst="rect">
            <a:avLst/>
          </a:prstGeom>
          <a:solidFill>
            <a:srgbClr val="D4891A"/>
          </a:solidFill>
          <a:ln w="12700">
            <a:solidFill>
              <a:srgbClr val="D4891A"/>
            </a:solidFill>
            <a:prstDash val="solid"/>
          </a:ln>
        </p:spPr>
      </p:sp>
      <p:sp>
        <p:nvSpPr>
          <p:cNvPr id="40" name="Text 38"/>
          <p:cNvSpPr/>
          <p:nvPr/>
        </p:nvSpPr>
        <p:spPr>
          <a:xfrm>
            <a:off x="530352" y="3182112"/>
            <a:ext cx="8229600" cy="201168"/>
          </a:xfrm>
          <a:prstGeom prst="rect">
            <a:avLst/>
          </a:prstGeom>
          <a:noFill/>
          <a:ln/>
        </p:spPr>
        <p:txBody>
          <a:bodyPr wrap="square" lIns="0" tIns="0" rIns="0" bIns="0" rtlCol="0" anchor="ctr"/>
          <a:lstStyle/>
          <a:p>
            <a:pPr indent="0" marL="0">
              <a:buNone/>
            </a:pPr>
            <a:r>
              <a:rPr lang="en-US" sz="950" i="1" dirty="0">
                <a:solidFill>
                  <a:srgbClr val="D4891A"/>
                </a:solidFill>
                <a:latin typeface="Calibri" pitchFamily="34" charset="0"/>
                <a:ea typeface="Calibri" pitchFamily="34" charset="-122"/>
                <a:cs typeface="Calibri" pitchFamily="34" charset="-120"/>
              </a:rPr>
              <a:t>Both about company leadership — no shared keywords!</a:t>
            </a:r>
            <a:endParaRPr lang="en-US" sz="950" dirty="0"/>
          </a:p>
        </p:txBody>
      </p:sp>
      <p:sp>
        <p:nvSpPr>
          <p:cNvPr id="41" name="Text 39"/>
          <p:cNvSpPr/>
          <p:nvPr/>
        </p:nvSpPr>
        <p:spPr>
          <a:xfrm>
            <a:off x="8577072" y="2907792"/>
            <a:ext cx="201168" cy="274320"/>
          </a:xfrm>
          <a:prstGeom prst="rect">
            <a:avLst/>
          </a:prstGeom>
          <a:noFill/>
          <a:ln/>
        </p:spPr>
        <p:txBody>
          <a:bodyPr wrap="square" lIns="0" tIns="0" rIns="0" bIns="0" rtlCol="0" anchor="ctr"/>
          <a:lstStyle/>
          <a:p>
            <a:pPr algn="ctr" indent="0" marL="0">
              <a:buNone/>
            </a:pPr>
            <a:r>
              <a:rPr lang="en-US" sz="1300" dirty="0">
                <a:solidFill>
                  <a:srgbClr val="D4891A"/>
                </a:solidFill>
              </a:rPr>
              <a:t>★</a:t>
            </a:r>
            <a:endParaRPr lang="en-US" sz="1300" dirty="0"/>
          </a:p>
        </p:txBody>
      </p:sp>
      <p:sp>
        <p:nvSpPr>
          <p:cNvPr id="42" name="Shape 40"/>
          <p:cNvSpPr/>
          <p:nvPr/>
        </p:nvSpPr>
        <p:spPr>
          <a:xfrm>
            <a:off x="347472" y="3511296"/>
            <a:ext cx="8449056" cy="640080"/>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43" name="Shape 41"/>
          <p:cNvSpPr/>
          <p:nvPr/>
        </p:nvSpPr>
        <p:spPr>
          <a:xfrm>
            <a:off x="347472" y="3511296"/>
            <a:ext cx="64008" cy="640080"/>
          </a:xfrm>
          <a:prstGeom prst="rect">
            <a:avLst/>
          </a:prstGeom>
          <a:solidFill>
            <a:srgbClr val="C62828"/>
          </a:solidFill>
          <a:ln w="12700">
            <a:solidFill>
              <a:srgbClr val="C62828"/>
            </a:solidFill>
            <a:prstDash val="solid"/>
          </a:ln>
        </p:spPr>
      </p:sp>
      <p:sp>
        <p:nvSpPr>
          <p:cNvPr id="44" name="Text 42"/>
          <p:cNvSpPr/>
          <p:nvPr/>
        </p:nvSpPr>
        <p:spPr>
          <a:xfrm>
            <a:off x="530352" y="3566160"/>
            <a:ext cx="2194560" cy="256032"/>
          </a:xfrm>
          <a:prstGeom prst="rect">
            <a:avLst/>
          </a:prstGeom>
          <a:noFill/>
          <a:ln/>
        </p:spPr>
        <p:txBody>
          <a:bodyPr wrap="square" lIns="0" tIns="0" rIns="0" bIns="0" rtlCol="0" anchor="ctr"/>
          <a:lstStyle/>
          <a:p>
            <a:pPr indent="0" marL="0">
              <a:buNone/>
            </a:pPr>
            <a:r>
              <a:rPr lang="en-US" sz="1050" b="1" dirty="0">
                <a:solidFill>
                  <a:srgbClr val="2D3A4A"/>
                </a:solidFill>
                <a:latin typeface="Consolas" pitchFamily="34" charset="0"/>
                <a:ea typeface="Consolas" pitchFamily="34" charset="-122"/>
                <a:cs typeface="Consolas" pitchFamily="34" charset="-120"/>
              </a:rPr>
              <a:t>"machine learning"</a:t>
            </a:r>
            <a:endParaRPr lang="en-US" sz="1050" dirty="0"/>
          </a:p>
        </p:txBody>
      </p:sp>
      <p:sp>
        <p:nvSpPr>
          <p:cNvPr id="45" name="Text 43"/>
          <p:cNvSpPr/>
          <p:nvPr/>
        </p:nvSpPr>
        <p:spPr>
          <a:xfrm>
            <a:off x="2779776" y="3547872"/>
            <a:ext cx="347472" cy="292608"/>
          </a:xfrm>
          <a:prstGeom prst="rect">
            <a:avLst/>
          </a:prstGeom>
          <a:noFill/>
          <a:ln/>
        </p:spPr>
        <p:txBody>
          <a:bodyPr wrap="square" lIns="0" tIns="0" rIns="0" bIns="0" rtlCol="0" anchor="ctr"/>
          <a:lstStyle/>
          <a:p>
            <a:pPr algn="ctr" indent="0" marL="0">
              <a:buNone/>
            </a:pPr>
            <a:r>
              <a:rPr lang="en-US" sz="1600" b="1" dirty="0">
                <a:solidFill>
                  <a:srgbClr val="C62828"/>
                </a:solidFill>
              </a:rPr>
              <a:t>↔</a:t>
            </a:r>
            <a:endParaRPr lang="en-US" sz="1600" dirty="0"/>
          </a:p>
        </p:txBody>
      </p:sp>
      <p:sp>
        <p:nvSpPr>
          <p:cNvPr id="46" name="Text 44"/>
          <p:cNvSpPr/>
          <p:nvPr/>
        </p:nvSpPr>
        <p:spPr>
          <a:xfrm>
            <a:off x="3163824" y="3566160"/>
            <a:ext cx="2377440" cy="256032"/>
          </a:xfrm>
          <a:prstGeom prst="rect">
            <a:avLst/>
          </a:prstGeom>
          <a:noFill/>
          <a:ln/>
        </p:spPr>
        <p:txBody>
          <a:bodyPr wrap="square" lIns="0" tIns="0" rIns="0" bIns="0" rtlCol="0" anchor="ctr"/>
          <a:lstStyle/>
          <a:p>
            <a:pPr indent="0" marL="0">
              <a:buNone/>
            </a:pPr>
            <a:r>
              <a:rPr lang="en-US" sz="1050" b="1" dirty="0">
                <a:solidFill>
                  <a:srgbClr val="2D3A4A"/>
                </a:solidFill>
                <a:latin typeface="Consolas" pitchFamily="34" charset="0"/>
                <a:ea typeface="Consolas" pitchFamily="34" charset="-122"/>
                <a:cs typeface="Consolas" pitchFamily="34" charset="-120"/>
              </a:rPr>
              <a:t>"cricket tournament"</a:t>
            </a:r>
            <a:endParaRPr lang="en-US" sz="1050" dirty="0"/>
          </a:p>
        </p:txBody>
      </p:sp>
      <p:sp>
        <p:nvSpPr>
          <p:cNvPr id="47" name="Shape 45"/>
          <p:cNvSpPr/>
          <p:nvPr/>
        </p:nvSpPr>
        <p:spPr>
          <a:xfrm>
            <a:off x="5614416" y="3602736"/>
            <a:ext cx="658368" cy="310896"/>
          </a:xfrm>
          <a:prstGeom prst="rect">
            <a:avLst/>
          </a:prstGeom>
          <a:solidFill>
            <a:srgbClr val="C62828"/>
          </a:solidFill>
          <a:ln w="12700">
            <a:solidFill>
              <a:srgbClr val="C62828"/>
            </a:solidFill>
            <a:prstDash val="solid"/>
          </a:ln>
        </p:spPr>
      </p:sp>
      <p:sp>
        <p:nvSpPr>
          <p:cNvPr id="48" name="Text 46"/>
          <p:cNvSpPr/>
          <p:nvPr/>
        </p:nvSpPr>
        <p:spPr>
          <a:xfrm>
            <a:off x="5614416" y="3602736"/>
            <a:ext cx="6583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0.10</a:t>
            </a:r>
            <a:endParaRPr lang="en-US" sz="1300" dirty="0"/>
          </a:p>
        </p:txBody>
      </p:sp>
      <p:sp>
        <p:nvSpPr>
          <p:cNvPr id="49" name="Shape 47"/>
          <p:cNvSpPr/>
          <p:nvPr/>
        </p:nvSpPr>
        <p:spPr>
          <a:xfrm>
            <a:off x="6364224" y="3675888"/>
            <a:ext cx="3200400" cy="182880"/>
          </a:xfrm>
          <a:prstGeom prst="rect">
            <a:avLst/>
          </a:prstGeom>
          <a:solidFill>
            <a:srgbClr val="E8EDF3"/>
          </a:solidFill>
          <a:ln w="12700">
            <a:solidFill>
              <a:srgbClr val="E8EDF3"/>
            </a:solidFill>
            <a:prstDash val="solid"/>
          </a:ln>
        </p:spPr>
      </p:sp>
      <p:sp>
        <p:nvSpPr>
          <p:cNvPr id="50" name="Shape 48"/>
          <p:cNvSpPr/>
          <p:nvPr/>
        </p:nvSpPr>
        <p:spPr>
          <a:xfrm>
            <a:off x="6364224" y="3675888"/>
            <a:ext cx="320040" cy="182880"/>
          </a:xfrm>
          <a:prstGeom prst="rect">
            <a:avLst/>
          </a:prstGeom>
          <a:solidFill>
            <a:srgbClr val="C62828"/>
          </a:solidFill>
          <a:ln w="12700">
            <a:solidFill>
              <a:srgbClr val="C62828"/>
            </a:solidFill>
            <a:prstDash val="solid"/>
          </a:ln>
        </p:spPr>
      </p:sp>
      <p:sp>
        <p:nvSpPr>
          <p:cNvPr id="51" name="Text 49"/>
          <p:cNvSpPr/>
          <p:nvPr/>
        </p:nvSpPr>
        <p:spPr>
          <a:xfrm>
            <a:off x="530352" y="3877056"/>
            <a:ext cx="8229600" cy="201168"/>
          </a:xfrm>
          <a:prstGeom prst="rect">
            <a:avLst/>
          </a:prstGeom>
          <a:noFill/>
          <a:ln/>
        </p:spPr>
        <p:txBody>
          <a:bodyPr wrap="square" lIns="0" tIns="0" rIns="0" bIns="0" rtlCol="0" anchor="ctr"/>
          <a:lstStyle/>
          <a:p>
            <a:pPr indent="0" marL="0">
              <a:buNone/>
            </a:pPr>
            <a:r>
              <a:rPr lang="en-US" sz="950" i="1" dirty="0">
                <a:solidFill>
                  <a:srgbClr val="8896AB"/>
                </a:solidFill>
                <a:latin typeface="Calibri" pitchFamily="34" charset="0"/>
                <a:ea typeface="Calibri" pitchFamily="34" charset="-122"/>
                <a:cs typeface="Calibri" pitchFamily="34" charset="-120"/>
              </a:rPr>
              <a:t>Nothing in common — completely different topics</a:t>
            </a:r>
            <a:endParaRPr lang="en-US" sz="950" dirty="0"/>
          </a:p>
        </p:txBody>
      </p:sp>
      <p:sp>
        <p:nvSpPr>
          <p:cNvPr id="52" name="Shape 50"/>
          <p:cNvSpPr/>
          <p:nvPr/>
        </p:nvSpPr>
        <p:spPr>
          <a:xfrm>
            <a:off x="347472" y="4206240"/>
            <a:ext cx="8449056" cy="640080"/>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53" name="Shape 51"/>
          <p:cNvSpPr/>
          <p:nvPr/>
        </p:nvSpPr>
        <p:spPr>
          <a:xfrm>
            <a:off x="347472" y="4206240"/>
            <a:ext cx="64008" cy="640080"/>
          </a:xfrm>
          <a:prstGeom prst="rect">
            <a:avLst/>
          </a:prstGeom>
          <a:solidFill>
            <a:srgbClr val="C62828"/>
          </a:solidFill>
          <a:ln w="12700">
            <a:solidFill>
              <a:srgbClr val="C62828"/>
            </a:solidFill>
            <a:prstDash val="solid"/>
          </a:ln>
        </p:spPr>
      </p:sp>
      <p:sp>
        <p:nvSpPr>
          <p:cNvPr id="54" name="Text 52"/>
          <p:cNvSpPr/>
          <p:nvPr/>
        </p:nvSpPr>
        <p:spPr>
          <a:xfrm>
            <a:off x="530352" y="4261104"/>
            <a:ext cx="2194560" cy="256032"/>
          </a:xfrm>
          <a:prstGeom prst="rect">
            <a:avLst/>
          </a:prstGeom>
          <a:noFill/>
          <a:ln/>
        </p:spPr>
        <p:txBody>
          <a:bodyPr wrap="square" lIns="0" tIns="0" rIns="0" bIns="0" rtlCol="0" anchor="ctr"/>
          <a:lstStyle/>
          <a:p>
            <a:pPr indent="0" marL="0">
              <a:buNone/>
            </a:pPr>
            <a:r>
              <a:rPr lang="en-US" sz="1050" b="1" dirty="0">
                <a:solidFill>
                  <a:srgbClr val="2D3A4A"/>
                </a:solidFill>
                <a:latin typeface="Consolas" pitchFamily="34" charset="0"/>
                <a:ea typeface="Consolas" pitchFamily="34" charset="-122"/>
                <a:cs typeface="Consolas" pitchFamily="34" charset="-120"/>
              </a:rPr>
              <a:t>"machine learning"</a:t>
            </a:r>
            <a:endParaRPr lang="en-US" sz="1050" dirty="0"/>
          </a:p>
        </p:txBody>
      </p:sp>
      <p:sp>
        <p:nvSpPr>
          <p:cNvPr id="55" name="Text 53"/>
          <p:cNvSpPr/>
          <p:nvPr/>
        </p:nvSpPr>
        <p:spPr>
          <a:xfrm>
            <a:off x="2779776" y="4242816"/>
            <a:ext cx="347472" cy="292608"/>
          </a:xfrm>
          <a:prstGeom prst="rect">
            <a:avLst/>
          </a:prstGeom>
          <a:noFill/>
          <a:ln/>
        </p:spPr>
        <p:txBody>
          <a:bodyPr wrap="square" lIns="0" tIns="0" rIns="0" bIns="0" rtlCol="0" anchor="ctr"/>
          <a:lstStyle/>
          <a:p>
            <a:pPr algn="ctr" indent="0" marL="0">
              <a:buNone/>
            </a:pPr>
            <a:r>
              <a:rPr lang="en-US" sz="1600" b="1" dirty="0">
                <a:solidFill>
                  <a:srgbClr val="C62828"/>
                </a:solidFill>
              </a:rPr>
              <a:t>↔</a:t>
            </a:r>
            <a:endParaRPr lang="en-US" sz="1600" dirty="0"/>
          </a:p>
        </p:txBody>
      </p:sp>
      <p:sp>
        <p:nvSpPr>
          <p:cNvPr id="56" name="Text 54"/>
          <p:cNvSpPr/>
          <p:nvPr/>
        </p:nvSpPr>
        <p:spPr>
          <a:xfrm>
            <a:off x="3163824" y="4261104"/>
            <a:ext cx="2377440" cy="256032"/>
          </a:xfrm>
          <a:prstGeom prst="rect">
            <a:avLst/>
          </a:prstGeom>
          <a:noFill/>
          <a:ln/>
        </p:spPr>
        <p:txBody>
          <a:bodyPr wrap="square" lIns="0" tIns="0" rIns="0" bIns="0" rtlCol="0" anchor="ctr"/>
          <a:lstStyle/>
          <a:p>
            <a:pPr indent="0" marL="0">
              <a:buNone/>
            </a:pPr>
            <a:r>
              <a:rPr lang="en-US" sz="1050" b="1" dirty="0">
                <a:solidFill>
                  <a:srgbClr val="2D3A4A"/>
                </a:solidFill>
                <a:latin typeface="Consolas" pitchFamily="34" charset="0"/>
                <a:ea typeface="Consolas" pitchFamily="34" charset="-122"/>
                <a:cs typeface="Consolas" pitchFamily="34" charset="-120"/>
              </a:rPr>
              <a:t>"cooking recipes"</a:t>
            </a:r>
            <a:endParaRPr lang="en-US" sz="1050" dirty="0"/>
          </a:p>
        </p:txBody>
      </p:sp>
      <p:sp>
        <p:nvSpPr>
          <p:cNvPr id="57" name="Shape 55"/>
          <p:cNvSpPr/>
          <p:nvPr/>
        </p:nvSpPr>
        <p:spPr>
          <a:xfrm>
            <a:off x="5614416" y="4297680"/>
            <a:ext cx="658368" cy="310896"/>
          </a:xfrm>
          <a:prstGeom prst="rect">
            <a:avLst/>
          </a:prstGeom>
          <a:solidFill>
            <a:srgbClr val="C62828"/>
          </a:solidFill>
          <a:ln w="12700">
            <a:solidFill>
              <a:srgbClr val="C62828"/>
            </a:solidFill>
            <a:prstDash val="solid"/>
          </a:ln>
        </p:spPr>
      </p:sp>
      <p:sp>
        <p:nvSpPr>
          <p:cNvPr id="58" name="Text 56"/>
          <p:cNvSpPr/>
          <p:nvPr/>
        </p:nvSpPr>
        <p:spPr>
          <a:xfrm>
            <a:off x="5614416" y="4297680"/>
            <a:ext cx="6583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0.08</a:t>
            </a:r>
            <a:endParaRPr lang="en-US" sz="1300" dirty="0"/>
          </a:p>
        </p:txBody>
      </p:sp>
      <p:sp>
        <p:nvSpPr>
          <p:cNvPr id="59" name="Shape 57"/>
          <p:cNvSpPr/>
          <p:nvPr/>
        </p:nvSpPr>
        <p:spPr>
          <a:xfrm>
            <a:off x="6364224" y="4370832"/>
            <a:ext cx="3200400" cy="182880"/>
          </a:xfrm>
          <a:prstGeom prst="rect">
            <a:avLst/>
          </a:prstGeom>
          <a:solidFill>
            <a:srgbClr val="E8EDF3"/>
          </a:solidFill>
          <a:ln w="12700">
            <a:solidFill>
              <a:srgbClr val="E8EDF3"/>
            </a:solidFill>
            <a:prstDash val="solid"/>
          </a:ln>
        </p:spPr>
      </p:sp>
      <p:sp>
        <p:nvSpPr>
          <p:cNvPr id="60" name="Shape 58"/>
          <p:cNvSpPr/>
          <p:nvPr/>
        </p:nvSpPr>
        <p:spPr>
          <a:xfrm>
            <a:off x="6364224" y="4370832"/>
            <a:ext cx="256032" cy="182880"/>
          </a:xfrm>
          <a:prstGeom prst="rect">
            <a:avLst/>
          </a:prstGeom>
          <a:solidFill>
            <a:srgbClr val="C62828"/>
          </a:solidFill>
          <a:ln w="12700">
            <a:solidFill>
              <a:srgbClr val="C62828"/>
            </a:solidFill>
            <a:prstDash val="solid"/>
          </a:ln>
        </p:spPr>
      </p:sp>
      <p:sp>
        <p:nvSpPr>
          <p:cNvPr id="61" name="Text 59"/>
          <p:cNvSpPr/>
          <p:nvPr/>
        </p:nvSpPr>
        <p:spPr>
          <a:xfrm>
            <a:off x="530352" y="4572000"/>
            <a:ext cx="8229600" cy="201168"/>
          </a:xfrm>
          <a:prstGeom prst="rect">
            <a:avLst/>
          </a:prstGeom>
          <a:noFill/>
          <a:ln/>
        </p:spPr>
        <p:txBody>
          <a:bodyPr wrap="square" lIns="0" tIns="0" rIns="0" bIns="0" rtlCol="0" anchor="ctr"/>
          <a:lstStyle/>
          <a:p>
            <a:pPr indent="0" marL="0">
              <a:buNone/>
            </a:pPr>
            <a:r>
              <a:rPr lang="en-US" sz="950" i="1" dirty="0">
                <a:solidFill>
                  <a:srgbClr val="8896AB"/>
                </a:solidFill>
                <a:latin typeface="Calibri" pitchFamily="34" charset="0"/>
                <a:ea typeface="Calibri" pitchFamily="34" charset="-122"/>
                <a:cs typeface="Calibri" pitchFamily="34" charset="-120"/>
              </a:rPr>
              <a:t>Nothing in common — completely different topics</a:t>
            </a:r>
            <a:endParaRPr lang="en-US" sz="950" dirty="0"/>
          </a:p>
        </p:txBody>
      </p:sp>
      <p:sp>
        <p:nvSpPr>
          <p:cNvPr id="62" name="Shape 60"/>
          <p:cNvSpPr/>
          <p:nvPr/>
        </p:nvSpPr>
        <p:spPr>
          <a:xfrm>
            <a:off x="347472" y="4626864"/>
            <a:ext cx="8449056" cy="347472"/>
          </a:xfrm>
          <a:prstGeom prst="rect">
            <a:avLst/>
          </a:prstGeom>
          <a:solidFill>
            <a:srgbClr val="0D2349"/>
          </a:solidFill>
          <a:ln w="12700">
            <a:solidFill>
              <a:srgbClr val="0D2349"/>
            </a:solidFill>
            <a:prstDash val="solid"/>
          </a:ln>
        </p:spPr>
      </p:sp>
      <p:sp>
        <p:nvSpPr>
          <p:cNvPr id="63" name="Text 61"/>
          <p:cNvSpPr/>
          <p:nvPr/>
        </p:nvSpPr>
        <p:spPr>
          <a:xfrm>
            <a:off x="475488" y="4626864"/>
            <a:ext cx="8229600" cy="347472"/>
          </a:xfrm>
          <a:prstGeom prst="rect">
            <a:avLst/>
          </a:prstGeom>
          <a:noFill/>
          <a:ln/>
        </p:spPr>
        <p:txBody>
          <a:bodyPr wrap="square" lIns="0" tIns="0" rIns="0" bIns="0" rtlCol="0" anchor="ctr"/>
          <a:lstStyle/>
          <a:p>
            <a:pPr indent="0" marL="0">
              <a:buNone/>
            </a:pPr>
            <a:r>
              <a:rPr lang="en-US" sz="1050" b="1" dirty="0">
                <a:solidFill>
                  <a:srgbClr val="D4891A"/>
                </a:solidFill>
                <a:latin typeface="Calibri" pitchFamily="34" charset="0"/>
                <a:ea typeface="Calibri" pitchFamily="34" charset="-122"/>
                <a:cs typeface="Calibri" pitchFamily="34" charset="-120"/>
              </a:rPr>
              <a:t>★  Row 3 is the magic: </a:t>
            </a:r>
            <a:pPr indent="0" marL="0">
              <a:buNone/>
            </a:pPr>
            <a:r>
              <a:rPr lang="en-US" sz="1050" dirty="0">
                <a:solidFill>
                  <a:srgbClr val="FFFFFF"/>
                </a:solidFill>
                <a:latin typeface="Calibri" pitchFamily="34" charset="0"/>
                <a:ea typeface="Calibri" pitchFamily="34" charset="-122"/>
                <a:cs typeface="Calibri" pitchFamily="34" charset="-120"/>
              </a:rPr>
              <a:t>"CEO" and "founded" share </a:t>
            </a:r>
            <a:pPr indent="0" marL="0">
              <a:buNone/>
            </a:pPr>
            <a:r>
              <a:rPr lang="en-US" sz="1050" b="1" dirty="0">
                <a:solidFill>
                  <a:srgbClr val="C62828"/>
                </a:solidFill>
                <a:latin typeface="Calibri" pitchFamily="34" charset="0"/>
                <a:ea typeface="Calibri" pitchFamily="34" charset="-122"/>
                <a:cs typeface="Calibri" pitchFamily="34" charset="-120"/>
              </a:rPr>
              <a:t>zero keywords</a:t>
            </a:r>
            <a:pPr indent="0" marL="0">
              <a:buNone/>
            </a:pPr>
            <a:r>
              <a:rPr lang="en-US" sz="1050" dirty="0">
                <a:solidFill>
                  <a:srgbClr val="FFFFFF"/>
                </a:solidFill>
                <a:latin typeface="Calibri" pitchFamily="34" charset="0"/>
                <a:ea typeface="Calibri" pitchFamily="34" charset="-122"/>
                <a:cs typeface="Calibri" pitchFamily="34" charset="-120"/>
              </a:rPr>
              <a:t> — yet cosine similarity scores them </a:t>
            </a:r>
            <a:pPr indent="0" marL="0">
              <a:buNone/>
            </a:pPr>
            <a:r>
              <a:rPr lang="en-US" sz="1050" b="1" dirty="0">
                <a:solidFill>
                  <a:srgbClr val="00879E"/>
                </a:solidFill>
                <a:latin typeface="Calibri" pitchFamily="34" charset="0"/>
                <a:ea typeface="Calibri" pitchFamily="34" charset="-122"/>
                <a:cs typeface="Calibri" pitchFamily="34" charset="-120"/>
              </a:rPr>
              <a:t>0.48</a:t>
            </a:r>
            <a:pPr indent="0" marL="0">
              <a:buNone/>
            </a:pPr>
            <a:r>
              <a:rPr lang="en-US" sz="1050" dirty="0">
                <a:solidFill>
                  <a:srgbClr val="FFFFFF"/>
                </a:solidFill>
                <a:latin typeface="Calibri" pitchFamily="34" charset="0"/>
                <a:ea typeface="Calibri" pitchFamily="34" charset="-122"/>
                <a:cs typeface="Calibri" pitchFamily="34" charset="-120"/>
              </a:rPr>
              <a:t>. Keyword search scores them 0.</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34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929"/>
          </a:solidFill>
          <a:ln w="12700">
            <a:solidFill>
              <a:srgbClr val="0A192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Cosine Similarity — The Angle Analogy</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Shape 4"/>
          <p:cNvSpPr/>
          <p:nvPr/>
        </p:nvSpPr>
        <p:spPr>
          <a:xfrm>
            <a:off x="0" y="4937760"/>
            <a:ext cx="9144000" cy="205740"/>
          </a:xfrm>
          <a:prstGeom prst="rect">
            <a:avLst/>
          </a:prstGeom>
          <a:solidFill>
            <a:srgbClr val="0D2349"/>
          </a:solidFill>
          <a:ln w="12700">
            <a:solidFill>
              <a:srgbClr val="0D2349"/>
            </a:solidFill>
            <a:prstDash val="solid"/>
          </a:ln>
        </p:spPr>
      </p:sp>
      <p:sp>
        <p:nvSpPr>
          <p:cNvPr id="7" name="Text 5"/>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8" name="Shape 6"/>
          <p:cNvSpPr/>
          <p:nvPr/>
        </p:nvSpPr>
        <p:spPr>
          <a:xfrm>
            <a:off x="292608" y="960120"/>
            <a:ext cx="4114800" cy="3858768"/>
          </a:xfrm>
          <a:prstGeom prst="rect">
            <a:avLst/>
          </a:prstGeom>
          <a:solidFill>
            <a:srgbClr val="061A28"/>
          </a:solidFill>
          <a:ln w="25400">
            <a:solidFill>
              <a:srgbClr val="00879E"/>
            </a:solidFill>
            <a:prstDash val="solid"/>
          </a:ln>
        </p:spPr>
      </p:sp>
      <p:sp>
        <p:nvSpPr>
          <p:cNvPr id="9" name="Shape 7"/>
          <p:cNvSpPr/>
          <p:nvPr/>
        </p:nvSpPr>
        <p:spPr>
          <a:xfrm>
            <a:off x="292608" y="960120"/>
            <a:ext cx="4114800" cy="457200"/>
          </a:xfrm>
          <a:prstGeom prst="rect">
            <a:avLst/>
          </a:prstGeom>
          <a:solidFill>
            <a:srgbClr val="00879E"/>
          </a:solidFill>
          <a:ln w="12700">
            <a:solidFill>
              <a:srgbClr val="00879E"/>
            </a:solidFill>
            <a:prstDash val="solid"/>
          </a:ln>
        </p:spPr>
      </p:sp>
      <p:sp>
        <p:nvSpPr>
          <p:cNvPr id="10" name="Text 8"/>
          <p:cNvSpPr/>
          <p:nvPr/>
        </p:nvSpPr>
        <p:spPr>
          <a:xfrm>
            <a:off x="292608" y="960120"/>
            <a:ext cx="41148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SMALL ANGLE  ·  HIGH SIMILARITY</a:t>
            </a:r>
            <a:endParaRPr lang="en-US" sz="1100" dirty="0"/>
          </a:p>
        </p:txBody>
      </p:sp>
      <p:sp>
        <p:nvSpPr>
          <p:cNvPr id="11" name="Shape 9"/>
          <p:cNvSpPr/>
          <p:nvPr/>
        </p:nvSpPr>
        <p:spPr>
          <a:xfrm>
            <a:off x="1042416" y="3986784"/>
            <a:ext cx="256032" cy="256032"/>
          </a:xfrm>
          <a:prstGeom prst="ellipse">
            <a:avLst/>
          </a:prstGeom>
          <a:solidFill>
            <a:srgbClr val="FFFFFF"/>
          </a:solidFill>
          <a:ln w="12700">
            <a:solidFill>
              <a:srgbClr val="FFFFFF"/>
            </a:solidFill>
            <a:prstDash val="solid"/>
          </a:ln>
        </p:spPr>
      </p:sp>
      <p:sp>
        <p:nvSpPr>
          <p:cNvPr id="12" name="Text 10"/>
          <p:cNvSpPr/>
          <p:nvPr/>
        </p:nvSpPr>
        <p:spPr>
          <a:xfrm>
            <a:off x="1243584" y="4169664"/>
            <a:ext cx="731520" cy="201168"/>
          </a:xfrm>
          <a:prstGeom prst="rect">
            <a:avLst/>
          </a:prstGeom>
          <a:noFill/>
          <a:ln/>
        </p:spPr>
        <p:txBody>
          <a:bodyPr wrap="square" lIns="0" tIns="0" rIns="0" bIns="0" rtlCol="0" anchor="ctr"/>
          <a:lstStyle/>
          <a:p>
            <a:pPr indent="0" marL="0">
              <a:buNone/>
            </a:pPr>
            <a:r>
              <a:rPr lang="en-US" sz="900" i="1" dirty="0">
                <a:solidFill>
                  <a:srgbClr val="8896AB"/>
                </a:solidFill>
                <a:latin typeface="Calibri" pitchFamily="34" charset="0"/>
                <a:ea typeface="Calibri" pitchFamily="34" charset="-122"/>
                <a:cs typeface="Calibri" pitchFamily="34" charset="-120"/>
              </a:rPr>
              <a:t>origin</a:t>
            </a:r>
            <a:endParaRPr lang="en-US" sz="900" dirty="0"/>
          </a:p>
        </p:txBody>
      </p:sp>
      <p:sp>
        <p:nvSpPr>
          <p:cNvPr id="13" name="Shape 11"/>
          <p:cNvSpPr/>
          <p:nvPr/>
        </p:nvSpPr>
        <p:spPr>
          <a:xfrm>
            <a:off x="1170432" y="4114800"/>
            <a:ext cx="0" cy="-2011680"/>
          </a:xfrm>
          <a:prstGeom prst="line">
            <a:avLst/>
          </a:prstGeom>
          <a:noFill/>
          <a:ln w="76200">
            <a:solidFill>
              <a:srgbClr val="1A4B8C"/>
            </a:solidFill>
            <a:prstDash val="solid"/>
          </a:ln>
        </p:spPr>
      </p:sp>
      <p:sp>
        <p:nvSpPr>
          <p:cNvPr id="14" name="Shape 12"/>
          <p:cNvSpPr/>
          <p:nvPr/>
        </p:nvSpPr>
        <p:spPr>
          <a:xfrm>
            <a:off x="365760" y="1691640"/>
            <a:ext cx="1609344" cy="347472"/>
          </a:xfrm>
          <a:prstGeom prst="rect">
            <a:avLst/>
          </a:prstGeom>
          <a:solidFill>
            <a:srgbClr val="1A4B8C"/>
          </a:solidFill>
          <a:ln w="12700">
            <a:solidFill>
              <a:srgbClr val="1A4B8C"/>
            </a:solidFill>
            <a:prstDash val="solid"/>
          </a:ln>
        </p:spPr>
      </p:sp>
      <p:sp>
        <p:nvSpPr>
          <p:cNvPr id="15" name="Text 13"/>
          <p:cNvSpPr/>
          <p:nvPr/>
        </p:nvSpPr>
        <p:spPr>
          <a:xfrm>
            <a:off x="365760" y="1691640"/>
            <a:ext cx="1609344"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"deep learning"</a:t>
            </a:r>
            <a:endParaRPr lang="en-US" sz="1100" dirty="0"/>
          </a:p>
        </p:txBody>
      </p:sp>
      <p:sp>
        <p:nvSpPr>
          <p:cNvPr id="16" name="Shape 14"/>
          <p:cNvSpPr/>
          <p:nvPr/>
        </p:nvSpPr>
        <p:spPr>
          <a:xfrm>
            <a:off x="1170432" y="4114800"/>
            <a:ext cx="411480" cy="-1965960"/>
          </a:xfrm>
          <a:prstGeom prst="line">
            <a:avLst/>
          </a:prstGeom>
          <a:noFill/>
          <a:ln w="76200">
            <a:solidFill>
              <a:srgbClr val="00879E"/>
            </a:solidFill>
            <a:prstDash val="solid"/>
          </a:ln>
        </p:spPr>
      </p:sp>
      <p:sp>
        <p:nvSpPr>
          <p:cNvPr id="17" name="Shape 15"/>
          <p:cNvSpPr/>
          <p:nvPr/>
        </p:nvSpPr>
        <p:spPr>
          <a:xfrm>
            <a:off x="1645920" y="1938528"/>
            <a:ext cx="1609344" cy="347472"/>
          </a:xfrm>
          <a:prstGeom prst="rect">
            <a:avLst/>
          </a:prstGeom>
          <a:solidFill>
            <a:srgbClr val="00879E"/>
          </a:solidFill>
          <a:ln w="12700">
            <a:solidFill>
              <a:srgbClr val="00879E"/>
            </a:solidFill>
            <a:prstDash val="solid"/>
          </a:ln>
        </p:spPr>
      </p:sp>
      <p:sp>
        <p:nvSpPr>
          <p:cNvPr id="18" name="Text 16"/>
          <p:cNvSpPr/>
          <p:nvPr/>
        </p:nvSpPr>
        <p:spPr>
          <a:xfrm>
            <a:off x="1645920" y="1938528"/>
            <a:ext cx="1609344"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"machine learning"</a:t>
            </a:r>
            <a:endParaRPr lang="en-US" sz="1100" dirty="0"/>
          </a:p>
        </p:txBody>
      </p:sp>
      <p:sp>
        <p:nvSpPr>
          <p:cNvPr id="19" name="Shape 17"/>
          <p:cNvSpPr/>
          <p:nvPr/>
        </p:nvSpPr>
        <p:spPr>
          <a:xfrm>
            <a:off x="1298448" y="3291840"/>
            <a:ext cx="502920" cy="292608"/>
          </a:xfrm>
          <a:prstGeom prst="rect">
            <a:avLst/>
          </a:prstGeom>
          <a:solidFill>
            <a:srgbClr val="0A2535"/>
          </a:solidFill>
          <a:ln w="12700">
            <a:solidFill>
              <a:srgbClr val="00879E"/>
            </a:solidFill>
            <a:prstDash val="solid"/>
          </a:ln>
        </p:spPr>
      </p:sp>
      <p:sp>
        <p:nvSpPr>
          <p:cNvPr id="20" name="Text 18"/>
          <p:cNvSpPr/>
          <p:nvPr/>
        </p:nvSpPr>
        <p:spPr>
          <a:xfrm>
            <a:off x="1298448" y="3291840"/>
            <a:ext cx="502920" cy="292608"/>
          </a:xfrm>
          <a:prstGeom prst="rect">
            <a:avLst/>
          </a:prstGeom>
          <a:noFill/>
          <a:ln/>
        </p:spPr>
        <p:txBody>
          <a:bodyPr wrap="square" lIns="0" tIns="0" rIns="0" bIns="0" rtlCol="0" anchor="ctr"/>
          <a:lstStyle/>
          <a:p>
            <a:pPr algn="ctr" indent="0" marL="0">
              <a:buNone/>
            </a:pPr>
            <a:r>
              <a:rPr lang="en-US" sz="1100" b="1" dirty="0">
                <a:solidFill>
                  <a:srgbClr val="00879E"/>
                </a:solidFill>
                <a:latin typeface="Trebuchet MS" pitchFamily="34" charset="0"/>
                <a:ea typeface="Trebuchet MS" pitchFamily="34" charset="-122"/>
                <a:cs typeface="Trebuchet MS" pitchFamily="34" charset="-120"/>
              </a:rPr>
              <a:t>~12°</a:t>
            </a:r>
            <a:endParaRPr lang="en-US" sz="1100" dirty="0"/>
          </a:p>
        </p:txBody>
      </p:sp>
      <p:sp>
        <p:nvSpPr>
          <p:cNvPr id="21" name="Shape 19"/>
          <p:cNvSpPr/>
          <p:nvPr/>
        </p:nvSpPr>
        <p:spPr>
          <a:xfrm>
            <a:off x="402336" y="4379976"/>
            <a:ext cx="3895344" cy="384048"/>
          </a:xfrm>
          <a:prstGeom prst="rect">
            <a:avLst/>
          </a:prstGeom>
          <a:solidFill>
            <a:srgbClr val="00879E"/>
          </a:solidFill>
          <a:ln w="12700">
            <a:solidFill>
              <a:srgbClr val="00879E"/>
            </a:solidFill>
            <a:prstDash val="solid"/>
          </a:ln>
        </p:spPr>
      </p:sp>
      <p:sp>
        <p:nvSpPr>
          <p:cNvPr id="22" name="Text 20"/>
          <p:cNvSpPr/>
          <p:nvPr/>
        </p:nvSpPr>
        <p:spPr>
          <a:xfrm>
            <a:off x="402336" y="4379976"/>
            <a:ext cx="3895344"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Cosine Score: 0.87  ·  Very Similar</a:t>
            </a:r>
            <a:endParaRPr lang="en-US" sz="1300" dirty="0"/>
          </a:p>
        </p:txBody>
      </p:sp>
      <p:sp>
        <p:nvSpPr>
          <p:cNvPr id="23" name="Shape 21"/>
          <p:cNvSpPr/>
          <p:nvPr/>
        </p:nvSpPr>
        <p:spPr>
          <a:xfrm>
            <a:off x="4736592" y="960120"/>
            <a:ext cx="4114800" cy="3858768"/>
          </a:xfrm>
          <a:prstGeom prst="rect">
            <a:avLst/>
          </a:prstGeom>
          <a:solidFill>
            <a:srgbClr val="180606"/>
          </a:solidFill>
          <a:ln w="25400">
            <a:solidFill>
              <a:srgbClr val="C62828"/>
            </a:solidFill>
            <a:prstDash val="solid"/>
          </a:ln>
        </p:spPr>
      </p:sp>
      <p:sp>
        <p:nvSpPr>
          <p:cNvPr id="24" name="Shape 22"/>
          <p:cNvSpPr/>
          <p:nvPr/>
        </p:nvSpPr>
        <p:spPr>
          <a:xfrm>
            <a:off x="4736592" y="960120"/>
            <a:ext cx="4114800" cy="457200"/>
          </a:xfrm>
          <a:prstGeom prst="rect">
            <a:avLst/>
          </a:prstGeom>
          <a:solidFill>
            <a:srgbClr val="C62828"/>
          </a:solidFill>
          <a:ln w="12700">
            <a:solidFill>
              <a:srgbClr val="C62828"/>
            </a:solidFill>
            <a:prstDash val="solid"/>
          </a:ln>
        </p:spPr>
      </p:sp>
      <p:sp>
        <p:nvSpPr>
          <p:cNvPr id="25" name="Text 23"/>
          <p:cNvSpPr/>
          <p:nvPr/>
        </p:nvSpPr>
        <p:spPr>
          <a:xfrm>
            <a:off x="4736592" y="960120"/>
            <a:ext cx="41148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LARGE ANGLE  ·  LOW SIMILARITY</a:t>
            </a:r>
            <a:endParaRPr lang="en-US" sz="1100" dirty="0"/>
          </a:p>
        </p:txBody>
      </p:sp>
      <p:sp>
        <p:nvSpPr>
          <p:cNvPr id="26" name="Shape 24"/>
          <p:cNvSpPr/>
          <p:nvPr/>
        </p:nvSpPr>
        <p:spPr>
          <a:xfrm>
            <a:off x="5486400" y="3986784"/>
            <a:ext cx="256032" cy="256032"/>
          </a:xfrm>
          <a:prstGeom prst="ellipse">
            <a:avLst/>
          </a:prstGeom>
          <a:solidFill>
            <a:srgbClr val="FFFFFF"/>
          </a:solidFill>
          <a:ln w="12700">
            <a:solidFill>
              <a:srgbClr val="FFFFFF"/>
            </a:solidFill>
            <a:prstDash val="solid"/>
          </a:ln>
        </p:spPr>
      </p:sp>
      <p:sp>
        <p:nvSpPr>
          <p:cNvPr id="27" name="Text 25"/>
          <p:cNvSpPr/>
          <p:nvPr/>
        </p:nvSpPr>
        <p:spPr>
          <a:xfrm>
            <a:off x="5687568" y="4169664"/>
            <a:ext cx="731520" cy="201168"/>
          </a:xfrm>
          <a:prstGeom prst="rect">
            <a:avLst/>
          </a:prstGeom>
          <a:noFill/>
          <a:ln/>
        </p:spPr>
        <p:txBody>
          <a:bodyPr wrap="square" lIns="0" tIns="0" rIns="0" bIns="0" rtlCol="0" anchor="ctr"/>
          <a:lstStyle/>
          <a:p>
            <a:pPr indent="0" marL="0">
              <a:buNone/>
            </a:pPr>
            <a:r>
              <a:rPr lang="en-US" sz="900" i="1" dirty="0">
                <a:solidFill>
                  <a:srgbClr val="8896AB"/>
                </a:solidFill>
                <a:latin typeface="Calibri" pitchFamily="34" charset="0"/>
                <a:ea typeface="Calibri" pitchFamily="34" charset="-122"/>
                <a:cs typeface="Calibri" pitchFamily="34" charset="-120"/>
              </a:rPr>
              <a:t>origin</a:t>
            </a:r>
            <a:endParaRPr lang="en-US" sz="900" dirty="0"/>
          </a:p>
        </p:txBody>
      </p:sp>
      <p:sp>
        <p:nvSpPr>
          <p:cNvPr id="28" name="Shape 26"/>
          <p:cNvSpPr/>
          <p:nvPr/>
        </p:nvSpPr>
        <p:spPr>
          <a:xfrm>
            <a:off x="5614416" y="4114800"/>
            <a:ext cx="0" cy="-2011680"/>
          </a:xfrm>
          <a:prstGeom prst="line">
            <a:avLst/>
          </a:prstGeom>
          <a:noFill/>
          <a:ln w="76200">
            <a:solidFill>
              <a:srgbClr val="1A4B8C"/>
            </a:solidFill>
            <a:prstDash val="solid"/>
          </a:ln>
        </p:spPr>
      </p:sp>
      <p:sp>
        <p:nvSpPr>
          <p:cNvPr id="29" name="Shape 27"/>
          <p:cNvSpPr/>
          <p:nvPr/>
        </p:nvSpPr>
        <p:spPr>
          <a:xfrm>
            <a:off x="4809744" y="1691640"/>
            <a:ext cx="1609344" cy="347472"/>
          </a:xfrm>
          <a:prstGeom prst="rect">
            <a:avLst/>
          </a:prstGeom>
          <a:solidFill>
            <a:srgbClr val="1A4B8C"/>
          </a:solidFill>
          <a:ln w="12700">
            <a:solidFill>
              <a:srgbClr val="1A4B8C"/>
            </a:solidFill>
            <a:prstDash val="solid"/>
          </a:ln>
        </p:spPr>
      </p:sp>
      <p:sp>
        <p:nvSpPr>
          <p:cNvPr id="30" name="Text 28"/>
          <p:cNvSpPr/>
          <p:nvPr/>
        </p:nvSpPr>
        <p:spPr>
          <a:xfrm>
            <a:off x="4809744" y="1691640"/>
            <a:ext cx="1609344"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"machine learning"</a:t>
            </a:r>
            <a:endParaRPr lang="en-US" sz="1100" dirty="0"/>
          </a:p>
        </p:txBody>
      </p:sp>
      <p:sp>
        <p:nvSpPr>
          <p:cNvPr id="31" name="Shape 29"/>
          <p:cNvSpPr/>
          <p:nvPr/>
        </p:nvSpPr>
        <p:spPr>
          <a:xfrm>
            <a:off x="5614416" y="4114800"/>
            <a:ext cx="2011680" cy="0"/>
          </a:xfrm>
          <a:prstGeom prst="line">
            <a:avLst/>
          </a:prstGeom>
          <a:noFill/>
          <a:ln w="76200">
            <a:solidFill>
              <a:srgbClr val="C62828"/>
            </a:solidFill>
            <a:prstDash val="solid"/>
          </a:ln>
        </p:spPr>
      </p:sp>
      <p:sp>
        <p:nvSpPr>
          <p:cNvPr id="32" name="Shape 30"/>
          <p:cNvSpPr/>
          <p:nvPr/>
        </p:nvSpPr>
        <p:spPr>
          <a:xfrm>
            <a:off x="6126480" y="3108960"/>
            <a:ext cx="1609344" cy="347472"/>
          </a:xfrm>
          <a:prstGeom prst="rect">
            <a:avLst/>
          </a:prstGeom>
          <a:solidFill>
            <a:srgbClr val="C62828"/>
          </a:solidFill>
          <a:ln w="12700">
            <a:solidFill>
              <a:srgbClr val="C62828"/>
            </a:solidFill>
            <a:prstDash val="solid"/>
          </a:ln>
        </p:spPr>
      </p:sp>
      <p:sp>
        <p:nvSpPr>
          <p:cNvPr id="33" name="Text 31"/>
          <p:cNvSpPr/>
          <p:nvPr/>
        </p:nvSpPr>
        <p:spPr>
          <a:xfrm>
            <a:off x="6126480" y="3108960"/>
            <a:ext cx="1609344"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"cooking recipes"</a:t>
            </a:r>
            <a:endParaRPr lang="en-US" sz="1100" dirty="0"/>
          </a:p>
        </p:txBody>
      </p:sp>
      <p:sp>
        <p:nvSpPr>
          <p:cNvPr id="34" name="Shape 32"/>
          <p:cNvSpPr/>
          <p:nvPr/>
        </p:nvSpPr>
        <p:spPr>
          <a:xfrm>
            <a:off x="5550408" y="3392424"/>
            <a:ext cx="128016" cy="128016"/>
          </a:xfrm>
          <a:prstGeom prst="ellipse">
            <a:avLst/>
          </a:prstGeom>
          <a:solidFill>
            <a:srgbClr val="CC4444"/>
          </a:solidFill>
          <a:ln w="12700">
            <a:solidFill>
              <a:srgbClr val="CC4444"/>
            </a:solidFill>
            <a:prstDash val="solid"/>
          </a:ln>
        </p:spPr>
      </p:sp>
      <p:sp>
        <p:nvSpPr>
          <p:cNvPr id="35" name="Shape 33"/>
          <p:cNvSpPr/>
          <p:nvPr/>
        </p:nvSpPr>
        <p:spPr>
          <a:xfrm>
            <a:off x="5653399" y="3400530"/>
            <a:ext cx="128016" cy="128016"/>
          </a:xfrm>
          <a:prstGeom prst="ellipse">
            <a:avLst/>
          </a:prstGeom>
          <a:solidFill>
            <a:srgbClr val="CC4444"/>
          </a:solidFill>
          <a:ln w="12700">
            <a:solidFill>
              <a:srgbClr val="CC4444"/>
            </a:solidFill>
            <a:prstDash val="solid"/>
          </a:ln>
        </p:spPr>
      </p:sp>
      <p:sp>
        <p:nvSpPr>
          <p:cNvPr id="36" name="Shape 34"/>
          <p:cNvSpPr/>
          <p:nvPr/>
        </p:nvSpPr>
        <p:spPr>
          <a:xfrm>
            <a:off x="5753855" y="3424647"/>
            <a:ext cx="128016" cy="128016"/>
          </a:xfrm>
          <a:prstGeom prst="ellipse">
            <a:avLst/>
          </a:prstGeom>
          <a:solidFill>
            <a:srgbClr val="CC4444"/>
          </a:solidFill>
          <a:ln w="12700">
            <a:solidFill>
              <a:srgbClr val="CC4444"/>
            </a:solidFill>
            <a:prstDash val="solid"/>
          </a:ln>
        </p:spPr>
      </p:sp>
      <p:sp>
        <p:nvSpPr>
          <p:cNvPr id="37" name="Shape 35"/>
          <p:cNvSpPr/>
          <p:nvPr/>
        </p:nvSpPr>
        <p:spPr>
          <a:xfrm>
            <a:off x="5849301" y="3464182"/>
            <a:ext cx="128016" cy="128016"/>
          </a:xfrm>
          <a:prstGeom prst="ellipse">
            <a:avLst/>
          </a:prstGeom>
          <a:solidFill>
            <a:srgbClr val="CC4444"/>
          </a:solidFill>
          <a:ln w="12700">
            <a:solidFill>
              <a:srgbClr val="CC4444"/>
            </a:solidFill>
            <a:prstDash val="solid"/>
          </a:ln>
        </p:spPr>
      </p:sp>
      <p:sp>
        <p:nvSpPr>
          <p:cNvPr id="38" name="Shape 36"/>
          <p:cNvSpPr/>
          <p:nvPr/>
        </p:nvSpPr>
        <p:spPr>
          <a:xfrm>
            <a:off x="5937387" y="3518161"/>
            <a:ext cx="128016" cy="128016"/>
          </a:xfrm>
          <a:prstGeom prst="ellipse">
            <a:avLst/>
          </a:prstGeom>
          <a:solidFill>
            <a:srgbClr val="CC4444"/>
          </a:solidFill>
          <a:ln w="12700">
            <a:solidFill>
              <a:srgbClr val="CC4444"/>
            </a:solidFill>
            <a:prstDash val="solid"/>
          </a:ln>
        </p:spPr>
      </p:sp>
      <p:sp>
        <p:nvSpPr>
          <p:cNvPr id="39" name="Shape 37"/>
          <p:cNvSpPr/>
          <p:nvPr/>
        </p:nvSpPr>
        <p:spPr>
          <a:xfrm>
            <a:off x="6015944" y="3585256"/>
            <a:ext cx="128016" cy="128016"/>
          </a:xfrm>
          <a:prstGeom prst="ellipse">
            <a:avLst/>
          </a:prstGeom>
          <a:solidFill>
            <a:srgbClr val="CC4444"/>
          </a:solidFill>
          <a:ln w="12700">
            <a:solidFill>
              <a:srgbClr val="CC4444"/>
            </a:solidFill>
            <a:prstDash val="solid"/>
          </a:ln>
        </p:spPr>
      </p:sp>
      <p:sp>
        <p:nvSpPr>
          <p:cNvPr id="40" name="Shape 38"/>
          <p:cNvSpPr/>
          <p:nvPr/>
        </p:nvSpPr>
        <p:spPr>
          <a:xfrm>
            <a:off x="6083039" y="3663813"/>
            <a:ext cx="128016" cy="128016"/>
          </a:xfrm>
          <a:prstGeom prst="ellipse">
            <a:avLst/>
          </a:prstGeom>
          <a:solidFill>
            <a:srgbClr val="CC4444"/>
          </a:solidFill>
          <a:ln w="12700">
            <a:solidFill>
              <a:srgbClr val="CC4444"/>
            </a:solidFill>
            <a:prstDash val="solid"/>
          </a:ln>
        </p:spPr>
      </p:sp>
      <p:sp>
        <p:nvSpPr>
          <p:cNvPr id="41" name="Shape 39"/>
          <p:cNvSpPr/>
          <p:nvPr/>
        </p:nvSpPr>
        <p:spPr>
          <a:xfrm>
            <a:off x="6137018" y="3751899"/>
            <a:ext cx="128016" cy="128016"/>
          </a:xfrm>
          <a:prstGeom prst="ellipse">
            <a:avLst/>
          </a:prstGeom>
          <a:solidFill>
            <a:srgbClr val="CC4444"/>
          </a:solidFill>
          <a:ln w="12700">
            <a:solidFill>
              <a:srgbClr val="CC4444"/>
            </a:solidFill>
            <a:prstDash val="solid"/>
          </a:ln>
        </p:spPr>
      </p:sp>
      <p:sp>
        <p:nvSpPr>
          <p:cNvPr id="42" name="Shape 40"/>
          <p:cNvSpPr/>
          <p:nvPr/>
        </p:nvSpPr>
        <p:spPr>
          <a:xfrm>
            <a:off x="6176553" y="3847345"/>
            <a:ext cx="128016" cy="128016"/>
          </a:xfrm>
          <a:prstGeom prst="ellipse">
            <a:avLst/>
          </a:prstGeom>
          <a:solidFill>
            <a:srgbClr val="CC4444"/>
          </a:solidFill>
          <a:ln w="12700">
            <a:solidFill>
              <a:srgbClr val="CC4444"/>
            </a:solidFill>
            <a:prstDash val="solid"/>
          </a:ln>
        </p:spPr>
      </p:sp>
      <p:sp>
        <p:nvSpPr>
          <p:cNvPr id="43" name="Shape 41"/>
          <p:cNvSpPr/>
          <p:nvPr/>
        </p:nvSpPr>
        <p:spPr>
          <a:xfrm>
            <a:off x="6200670" y="3947801"/>
            <a:ext cx="128016" cy="128016"/>
          </a:xfrm>
          <a:prstGeom prst="ellipse">
            <a:avLst/>
          </a:prstGeom>
          <a:solidFill>
            <a:srgbClr val="CC4444"/>
          </a:solidFill>
          <a:ln w="12700">
            <a:solidFill>
              <a:srgbClr val="CC4444"/>
            </a:solidFill>
            <a:prstDash val="solid"/>
          </a:ln>
        </p:spPr>
      </p:sp>
      <p:sp>
        <p:nvSpPr>
          <p:cNvPr id="44" name="Shape 42"/>
          <p:cNvSpPr/>
          <p:nvPr/>
        </p:nvSpPr>
        <p:spPr>
          <a:xfrm>
            <a:off x="6208776" y="4050792"/>
            <a:ext cx="128016" cy="128016"/>
          </a:xfrm>
          <a:prstGeom prst="ellipse">
            <a:avLst/>
          </a:prstGeom>
          <a:solidFill>
            <a:srgbClr val="CC4444"/>
          </a:solidFill>
          <a:ln w="12700">
            <a:solidFill>
              <a:srgbClr val="CC4444"/>
            </a:solidFill>
            <a:prstDash val="solid"/>
          </a:ln>
        </p:spPr>
      </p:sp>
      <p:sp>
        <p:nvSpPr>
          <p:cNvPr id="45" name="Shape 43"/>
          <p:cNvSpPr/>
          <p:nvPr/>
        </p:nvSpPr>
        <p:spPr>
          <a:xfrm>
            <a:off x="5986674" y="3321918"/>
            <a:ext cx="548640" cy="292608"/>
          </a:xfrm>
          <a:prstGeom prst="rect">
            <a:avLst/>
          </a:prstGeom>
          <a:solidFill>
            <a:srgbClr val="300808"/>
          </a:solidFill>
          <a:ln w="12700">
            <a:solidFill>
              <a:srgbClr val="C62828"/>
            </a:solidFill>
            <a:prstDash val="solid"/>
          </a:ln>
        </p:spPr>
      </p:sp>
      <p:sp>
        <p:nvSpPr>
          <p:cNvPr id="46" name="Text 44"/>
          <p:cNvSpPr/>
          <p:nvPr/>
        </p:nvSpPr>
        <p:spPr>
          <a:xfrm>
            <a:off x="5986674" y="3321918"/>
            <a:ext cx="548640" cy="292608"/>
          </a:xfrm>
          <a:prstGeom prst="rect">
            <a:avLst/>
          </a:prstGeom>
          <a:noFill/>
          <a:ln/>
        </p:spPr>
        <p:txBody>
          <a:bodyPr wrap="square" lIns="0" tIns="0" rIns="0" bIns="0"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90°</a:t>
            </a:r>
            <a:endParaRPr lang="en-US" sz="1200" dirty="0"/>
          </a:p>
        </p:txBody>
      </p:sp>
      <p:sp>
        <p:nvSpPr>
          <p:cNvPr id="47" name="Shape 45"/>
          <p:cNvSpPr/>
          <p:nvPr/>
        </p:nvSpPr>
        <p:spPr>
          <a:xfrm>
            <a:off x="4846320" y="4379976"/>
            <a:ext cx="3895344" cy="384048"/>
          </a:xfrm>
          <a:prstGeom prst="rect">
            <a:avLst/>
          </a:prstGeom>
          <a:solidFill>
            <a:srgbClr val="C62828"/>
          </a:solidFill>
          <a:ln w="12700">
            <a:solidFill>
              <a:srgbClr val="C62828"/>
            </a:solidFill>
            <a:prstDash val="solid"/>
          </a:ln>
        </p:spPr>
      </p:sp>
      <p:sp>
        <p:nvSpPr>
          <p:cNvPr id="48" name="Text 46"/>
          <p:cNvSpPr/>
          <p:nvPr/>
        </p:nvSpPr>
        <p:spPr>
          <a:xfrm>
            <a:off x="4846320" y="4379976"/>
            <a:ext cx="389534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Score: 0.08  ·  Completely Unrelated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349"/>
          </a:solidFill>
          <a:ln w="12700">
            <a:solidFill>
              <a:srgbClr val="0D234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Similarity in Action — TechSolutions Examples</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Text 4"/>
          <p:cNvSpPr/>
          <p:nvPr/>
        </p:nvSpPr>
        <p:spPr>
          <a:xfrm>
            <a:off x="384048" y="749808"/>
            <a:ext cx="8229600" cy="256032"/>
          </a:xfrm>
          <a:prstGeom prst="rect">
            <a:avLst/>
          </a:prstGeom>
          <a:noFill/>
          <a:ln/>
        </p:spPr>
        <p:txBody>
          <a:bodyPr wrap="square" lIns="0" tIns="0" rIns="0" bIns="0" rtlCol="0" anchor="ctr"/>
          <a:lstStyle/>
          <a:p>
            <a:pPr indent="0" marL="0">
              <a:buNone/>
            </a:pPr>
            <a:r>
              <a:rPr lang="en-US" sz="1100" i="1" dirty="0">
                <a:solidFill>
                  <a:srgbClr val="00879E"/>
                </a:solidFill>
                <a:latin typeface="Calibri" pitchFamily="34" charset="0"/>
                <a:ea typeface="Calibri" pitchFamily="34" charset="-122"/>
                <a:cs typeface="Calibri" pitchFamily="34" charset="-120"/>
              </a:rPr>
              <a:t>Real cosine scores from our knowledge base</a:t>
            </a:r>
            <a:endParaRPr lang="en-US" sz="1100" dirty="0"/>
          </a:p>
        </p:txBody>
      </p:sp>
      <p:sp>
        <p:nvSpPr>
          <p:cNvPr id="7" name="Shape 5"/>
          <p:cNvSpPr/>
          <p:nvPr/>
        </p:nvSpPr>
        <p:spPr>
          <a:xfrm>
            <a:off x="0" y="4937760"/>
            <a:ext cx="9144000" cy="205740"/>
          </a:xfrm>
          <a:prstGeom prst="rect">
            <a:avLst/>
          </a:prstGeom>
          <a:solidFill>
            <a:srgbClr val="0D2349"/>
          </a:solidFill>
          <a:ln w="12700">
            <a:solidFill>
              <a:srgbClr val="0D2349"/>
            </a:solidFill>
            <a:prstDash val="solid"/>
          </a:ln>
        </p:spPr>
      </p:sp>
      <p:sp>
        <p:nvSpPr>
          <p:cNvPr id="8" name="Text 6"/>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9" name="Shape 7"/>
          <p:cNvSpPr/>
          <p:nvPr/>
        </p:nvSpPr>
        <p:spPr>
          <a:xfrm>
            <a:off x="347472" y="969264"/>
            <a:ext cx="8449056" cy="658368"/>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10" name="Shape 8"/>
          <p:cNvSpPr/>
          <p:nvPr/>
        </p:nvSpPr>
        <p:spPr>
          <a:xfrm>
            <a:off x="347472" y="969264"/>
            <a:ext cx="64008" cy="658368"/>
          </a:xfrm>
          <a:prstGeom prst="rect">
            <a:avLst/>
          </a:prstGeom>
          <a:solidFill>
            <a:srgbClr val="2E7D32"/>
          </a:solidFill>
          <a:ln w="12700">
            <a:solidFill>
              <a:srgbClr val="2E7D32"/>
            </a:solidFill>
            <a:prstDash val="solid"/>
          </a:ln>
        </p:spPr>
      </p:sp>
      <p:sp>
        <p:nvSpPr>
          <p:cNvPr id="11" name="Text 9"/>
          <p:cNvSpPr/>
          <p:nvPr/>
        </p:nvSpPr>
        <p:spPr>
          <a:xfrm>
            <a:off x="548640" y="1078992"/>
            <a:ext cx="2834640" cy="274320"/>
          </a:xfrm>
          <a:prstGeom prst="rect">
            <a:avLst/>
          </a:prstGeom>
          <a:noFill/>
          <a:ln/>
        </p:spPr>
        <p:txBody>
          <a:bodyPr wrap="square" lIns="0" tIns="0" rIns="0" bIns="0" rtlCol="0" anchor="ctr"/>
          <a:lstStyle/>
          <a:p>
            <a:pPr indent="0" marL="0">
              <a:buNone/>
            </a:pPr>
            <a:r>
              <a:rPr lang="en-US" sz="1050" dirty="0">
                <a:solidFill>
                  <a:srgbClr val="2D3A4A"/>
                </a:solidFill>
                <a:latin typeface="Consolas" pitchFamily="34" charset="0"/>
                <a:ea typeface="Consolas" pitchFamily="34" charset="-122"/>
                <a:cs typeface="Consolas" pitchFamily="34" charset="-120"/>
              </a:rPr>
              <a:t>"machine learning"</a:t>
            </a:r>
            <a:endParaRPr lang="en-US" sz="1050" dirty="0"/>
          </a:p>
        </p:txBody>
      </p:sp>
      <p:sp>
        <p:nvSpPr>
          <p:cNvPr id="12" name="Text 10"/>
          <p:cNvSpPr/>
          <p:nvPr/>
        </p:nvSpPr>
        <p:spPr>
          <a:xfrm>
            <a:off x="3438144" y="1060704"/>
            <a:ext cx="365760" cy="320040"/>
          </a:xfrm>
          <a:prstGeom prst="rect">
            <a:avLst/>
          </a:prstGeom>
          <a:noFill/>
          <a:ln/>
        </p:spPr>
        <p:txBody>
          <a:bodyPr wrap="square" lIns="0" tIns="0" rIns="0" bIns="0" rtlCol="0" anchor="ctr"/>
          <a:lstStyle/>
          <a:p>
            <a:pPr algn="ctr" indent="0" marL="0">
              <a:buNone/>
            </a:pPr>
            <a:r>
              <a:rPr lang="en-US" sz="1400" b="1" dirty="0">
                <a:solidFill>
                  <a:srgbClr val="2E7D32"/>
                </a:solidFill>
              </a:rPr>
              <a:t>↔</a:t>
            </a:r>
            <a:endParaRPr lang="en-US" sz="1400" dirty="0"/>
          </a:p>
        </p:txBody>
      </p:sp>
      <p:sp>
        <p:nvSpPr>
          <p:cNvPr id="13" name="Text 11"/>
          <p:cNvSpPr/>
          <p:nvPr/>
        </p:nvSpPr>
        <p:spPr>
          <a:xfrm>
            <a:off x="3840480" y="1078992"/>
            <a:ext cx="3108960" cy="274320"/>
          </a:xfrm>
          <a:prstGeom prst="rect">
            <a:avLst/>
          </a:prstGeom>
          <a:noFill/>
          <a:ln/>
        </p:spPr>
        <p:txBody>
          <a:bodyPr wrap="square" lIns="0" tIns="0" rIns="0" bIns="0" rtlCol="0" anchor="ctr"/>
          <a:lstStyle/>
          <a:p>
            <a:pPr indent="0" marL="0">
              <a:buNone/>
            </a:pPr>
            <a:r>
              <a:rPr lang="en-US" sz="1050" dirty="0">
                <a:solidFill>
                  <a:srgbClr val="2D3A4A"/>
                </a:solidFill>
                <a:latin typeface="Consolas" pitchFamily="34" charset="0"/>
                <a:ea typeface="Consolas" pitchFamily="34" charset="-122"/>
                <a:cs typeface="Consolas" pitchFamily="34" charset="-120"/>
              </a:rPr>
              <a:t>"deep learning"</a:t>
            </a:r>
            <a:endParaRPr lang="en-US" sz="1050" dirty="0"/>
          </a:p>
        </p:txBody>
      </p:sp>
      <p:sp>
        <p:nvSpPr>
          <p:cNvPr id="14" name="Shape 12"/>
          <p:cNvSpPr/>
          <p:nvPr/>
        </p:nvSpPr>
        <p:spPr>
          <a:xfrm>
            <a:off x="7086600" y="1060704"/>
            <a:ext cx="658368" cy="310896"/>
          </a:xfrm>
          <a:prstGeom prst="roundRect">
            <a:avLst>
              <a:gd name="adj" fmla="val 14706"/>
            </a:avLst>
          </a:prstGeom>
          <a:solidFill>
            <a:srgbClr val="2E7D32"/>
          </a:solidFill>
          <a:ln w="12700">
            <a:solidFill>
              <a:srgbClr val="2E7D32"/>
            </a:solidFill>
            <a:prstDash val="solid"/>
          </a:ln>
        </p:spPr>
      </p:sp>
      <p:sp>
        <p:nvSpPr>
          <p:cNvPr id="15" name="Text 13"/>
          <p:cNvSpPr/>
          <p:nvPr/>
        </p:nvSpPr>
        <p:spPr>
          <a:xfrm>
            <a:off x="7086600" y="1060704"/>
            <a:ext cx="6583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0.82</a:t>
            </a:r>
            <a:endParaRPr lang="en-US" sz="1300" dirty="0"/>
          </a:p>
        </p:txBody>
      </p:sp>
      <p:sp>
        <p:nvSpPr>
          <p:cNvPr id="16" name="Text 14"/>
          <p:cNvSpPr/>
          <p:nvPr/>
        </p:nvSpPr>
        <p:spPr>
          <a:xfrm>
            <a:off x="7818120" y="1078992"/>
            <a:ext cx="914400" cy="274320"/>
          </a:xfrm>
          <a:prstGeom prst="rect">
            <a:avLst/>
          </a:prstGeom>
          <a:noFill/>
          <a:ln/>
        </p:spPr>
        <p:txBody>
          <a:bodyPr wrap="square" lIns="0" tIns="0" rIns="0" bIns="0" rtlCol="0" anchor="ctr"/>
          <a:lstStyle/>
          <a:p>
            <a:pPr indent="0" marL="0">
              <a:buNone/>
            </a:pPr>
            <a:r>
              <a:rPr lang="en-US" sz="850" i="1" dirty="0">
                <a:solidFill>
                  <a:srgbClr val="8896AB"/>
                </a:solidFill>
                <a:latin typeface="Calibri" pitchFamily="34" charset="0"/>
                <a:ea typeface="Calibri" pitchFamily="34" charset="-122"/>
                <a:cs typeface="Calibri" pitchFamily="34" charset="-120"/>
              </a:rPr>
              <a:t>Both AI/ML topics</a:t>
            </a:r>
            <a:endParaRPr lang="en-US" sz="850" dirty="0"/>
          </a:p>
        </p:txBody>
      </p:sp>
      <p:sp>
        <p:nvSpPr>
          <p:cNvPr id="17" name="Shape 15"/>
          <p:cNvSpPr/>
          <p:nvPr/>
        </p:nvSpPr>
        <p:spPr>
          <a:xfrm>
            <a:off x="347472" y="1719072"/>
            <a:ext cx="8449056" cy="658368"/>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18" name="Shape 16"/>
          <p:cNvSpPr/>
          <p:nvPr/>
        </p:nvSpPr>
        <p:spPr>
          <a:xfrm>
            <a:off x="347472" y="1719072"/>
            <a:ext cx="64008" cy="658368"/>
          </a:xfrm>
          <a:prstGeom prst="rect">
            <a:avLst/>
          </a:prstGeom>
          <a:solidFill>
            <a:srgbClr val="00879E"/>
          </a:solidFill>
          <a:ln w="12700">
            <a:solidFill>
              <a:srgbClr val="00879E"/>
            </a:solidFill>
            <a:prstDash val="solid"/>
          </a:ln>
        </p:spPr>
      </p:sp>
      <p:sp>
        <p:nvSpPr>
          <p:cNvPr id="19" name="Text 17"/>
          <p:cNvSpPr/>
          <p:nvPr/>
        </p:nvSpPr>
        <p:spPr>
          <a:xfrm>
            <a:off x="548640" y="1828800"/>
            <a:ext cx="2834640" cy="274320"/>
          </a:xfrm>
          <a:prstGeom prst="rect">
            <a:avLst/>
          </a:prstGeom>
          <a:noFill/>
          <a:ln/>
        </p:spPr>
        <p:txBody>
          <a:bodyPr wrap="square" lIns="0" tIns="0" rIns="0" bIns="0" rtlCol="0" anchor="ctr"/>
          <a:lstStyle/>
          <a:p>
            <a:pPr indent="0" marL="0">
              <a:buNone/>
            </a:pPr>
            <a:r>
              <a:rPr lang="en-US" sz="1050" dirty="0">
                <a:solidFill>
                  <a:srgbClr val="2D3A4A"/>
                </a:solidFill>
                <a:latin typeface="Consolas" pitchFamily="34" charset="0"/>
                <a:ea typeface="Consolas" pitchFamily="34" charset="-122"/>
                <a:cs typeface="Consolas" pitchFamily="34" charset="-120"/>
              </a:rPr>
              <a:t>"machine learning"</a:t>
            </a:r>
            <a:endParaRPr lang="en-US" sz="1050" dirty="0"/>
          </a:p>
        </p:txBody>
      </p:sp>
      <p:sp>
        <p:nvSpPr>
          <p:cNvPr id="20" name="Text 18"/>
          <p:cNvSpPr/>
          <p:nvPr/>
        </p:nvSpPr>
        <p:spPr>
          <a:xfrm>
            <a:off x="3438144" y="1810512"/>
            <a:ext cx="365760" cy="320040"/>
          </a:xfrm>
          <a:prstGeom prst="rect">
            <a:avLst/>
          </a:prstGeom>
          <a:noFill/>
          <a:ln/>
        </p:spPr>
        <p:txBody>
          <a:bodyPr wrap="square" lIns="0" tIns="0" rIns="0" bIns="0" rtlCol="0" anchor="ctr"/>
          <a:lstStyle/>
          <a:p>
            <a:pPr algn="ctr" indent="0" marL="0">
              <a:buNone/>
            </a:pPr>
            <a:r>
              <a:rPr lang="en-US" sz="1400" b="1" dirty="0">
                <a:solidFill>
                  <a:srgbClr val="00879E"/>
                </a:solidFill>
              </a:rPr>
              <a:t>↔</a:t>
            </a:r>
            <a:endParaRPr lang="en-US" sz="1400" dirty="0"/>
          </a:p>
        </p:txBody>
      </p:sp>
      <p:sp>
        <p:nvSpPr>
          <p:cNvPr id="21" name="Text 19"/>
          <p:cNvSpPr/>
          <p:nvPr/>
        </p:nvSpPr>
        <p:spPr>
          <a:xfrm>
            <a:off x="3840480" y="1828800"/>
            <a:ext cx="3108960" cy="274320"/>
          </a:xfrm>
          <a:prstGeom prst="rect">
            <a:avLst/>
          </a:prstGeom>
          <a:noFill/>
          <a:ln/>
        </p:spPr>
        <p:txBody>
          <a:bodyPr wrap="square" lIns="0" tIns="0" rIns="0" bIns="0" rtlCol="0" anchor="ctr"/>
          <a:lstStyle/>
          <a:p>
            <a:pPr indent="0" marL="0">
              <a:buNone/>
            </a:pPr>
            <a:r>
              <a:rPr lang="en-US" sz="1050" dirty="0">
                <a:solidFill>
                  <a:srgbClr val="2D3A4A"/>
                </a:solidFill>
                <a:latin typeface="Consolas" pitchFamily="34" charset="0"/>
                <a:ea typeface="Consolas" pitchFamily="34" charset="-122"/>
                <a:cs typeface="Consolas" pitchFamily="34" charset="-120"/>
              </a:rPr>
              <a:t>"data analysis"</a:t>
            </a:r>
            <a:endParaRPr lang="en-US" sz="1050" dirty="0"/>
          </a:p>
        </p:txBody>
      </p:sp>
      <p:sp>
        <p:nvSpPr>
          <p:cNvPr id="22" name="Shape 20"/>
          <p:cNvSpPr/>
          <p:nvPr/>
        </p:nvSpPr>
        <p:spPr>
          <a:xfrm>
            <a:off x="7086600" y="1810512"/>
            <a:ext cx="658368" cy="310896"/>
          </a:xfrm>
          <a:prstGeom prst="roundRect">
            <a:avLst>
              <a:gd name="adj" fmla="val 14706"/>
            </a:avLst>
          </a:prstGeom>
          <a:solidFill>
            <a:srgbClr val="00879E"/>
          </a:solidFill>
          <a:ln w="12700">
            <a:solidFill>
              <a:srgbClr val="00879E"/>
            </a:solidFill>
            <a:prstDash val="solid"/>
          </a:ln>
        </p:spPr>
      </p:sp>
      <p:sp>
        <p:nvSpPr>
          <p:cNvPr id="23" name="Text 21"/>
          <p:cNvSpPr/>
          <p:nvPr/>
        </p:nvSpPr>
        <p:spPr>
          <a:xfrm>
            <a:off x="7086600" y="1810512"/>
            <a:ext cx="6583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0.61</a:t>
            </a:r>
            <a:endParaRPr lang="en-US" sz="1300" dirty="0"/>
          </a:p>
        </p:txBody>
      </p:sp>
      <p:sp>
        <p:nvSpPr>
          <p:cNvPr id="24" name="Text 22"/>
          <p:cNvSpPr/>
          <p:nvPr/>
        </p:nvSpPr>
        <p:spPr>
          <a:xfrm>
            <a:off x="7818120" y="1828800"/>
            <a:ext cx="914400" cy="274320"/>
          </a:xfrm>
          <a:prstGeom prst="rect">
            <a:avLst/>
          </a:prstGeom>
          <a:noFill/>
          <a:ln/>
        </p:spPr>
        <p:txBody>
          <a:bodyPr wrap="square" lIns="0" tIns="0" rIns="0" bIns="0" rtlCol="0" anchor="ctr"/>
          <a:lstStyle/>
          <a:p>
            <a:pPr indent="0" marL="0">
              <a:buNone/>
            </a:pPr>
            <a:r>
              <a:rPr lang="en-US" sz="850" i="1" dirty="0">
                <a:solidFill>
                  <a:srgbClr val="8896AB"/>
                </a:solidFill>
                <a:latin typeface="Calibri" pitchFamily="34" charset="0"/>
                <a:ea typeface="Calibri" pitchFamily="34" charset="-122"/>
                <a:cs typeface="Calibri" pitchFamily="34" charset="-120"/>
              </a:rPr>
              <a:t>Related tech fields</a:t>
            </a:r>
            <a:endParaRPr lang="en-US" sz="850" dirty="0"/>
          </a:p>
        </p:txBody>
      </p:sp>
      <p:sp>
        <p:nvSpPr>
          <p:cNvPr id="25" name="Shape 23"/>
          <p:cNvSpPr/>
          <p:nvPr/>
        </p:nvSpPr>
        <p:spPr>
          <a:xfrm>
            <a:off x="347472" y="2468880"/>
            <a:ext cx="8449056" cy="658368"/>
          </a:xfrm>
          <a:prstGeom prst="rect">
            <a:avLst/>
          </a:prstGeom>
          <a:solidFill>
            <a:srgbClr val="FFF8E1"/>
          </a:solidFill>
          <a:ln w="12700">
            <a:solidFill>
              <a:srgbClr val="D4891A"/>
            </a:solidFill>
            <a:prstDash val="solid"/>
          </a:ln>
          <a:effectLst>
            <a:outerShdw sx="100000" sy="100000" kx="0" ky="0" algn="bl" rotWithShape="0" blurRad="50800" dist="12700" dir="8100000">
              <a:srgbClr val="000000">
                <a:alpha val="8000"/>
              </a:srgbClr>
            </a:outerShdw>
          </a:effectLst>
        </p:spPr>
      </p:sp>
      <p:sp>
        <p:nvSpPr>
          <p:cNvPr id="26" name="Shape 24"/>
          <p:cNvSpPr/>
          <p:nvPr/>
        </p:nvSpPr>
        <p:spPr>
          <a:xfrm>
            <a:off x="347472" y="2468880"/>
            <a:ext cx="64008" cy="658368"/>
          </a:xfrm>
          <a:prstGeom prst="rect">
            <a:avLst/>
          </a:prstGeom>
          <a:solidFill>
            <a:srgbClr val="D4891A"/>
          </a:solidFill>
          <a:ln w="12700">
            <a:solidFill>
              <a:srgbClr val="D4891A"/>
            </a:solidFill>
            <a:prstDash val="solid"/>
          </a:ln>
        </p:spPr>
      </p:sp>
      <p:sp>
        <p:nvSpPr>
          <p:cNvPr id="27" name="Shape 25"/>
          <p:cNvSpPr/>
          <p:nvPr/>
        </p:nvSpPr>
        <p:spPr>
          <a:xfrm>
            <a:off x="347472" y="2468880"/>
            <a:ext cx="8449056" cy="36576"/>
          </a:xfrm>
          <a:prstGeom prst="rect">
            <a:avLst/>
          </a:prstGeom>
          <a:solidFill>
            <a:srgbClr val="D4891A"/>
          </a:solidFill>
          <a:ln w="12700">
            <a:solidFill>
              <a:srgbClr val="D4891A"/>
            </a:solidFill>
            <a:prstDash val="solid"/>
          </a:ln>
        </p:spPr>
      </p:sp>
      <p:sp>
        <p:nvSpPr>
          <p:cNvPr id="28" name="Text 26"/>
          <p:cNvSpPr/>
          <p:nvPr/>
        </p:nvSpPr>
        <p:spPr>
          <a:xfrm>
            <a:off x="548640" y="2578608"/>
            <a:ext cx="2834640" cy="274320"/>
          </a:xfrm>
          <a:prstGeom prst="rect">
            <a:avLst/>
          </a:prstGeom>
          <a:noFill/>
          <a:ln/>
        </p:spPr>
        <p:txBody>
          <a:bodyPr wrap="square" lIns="0" tIns="0" rIns="0" bIns="0" rtlCol="0" anchor="ctr"/>
          <a:lstStyle/>
          <a:p>
            <a:pPr indent="0" marL="0">
              <a:buNone/>
            </a:pPr>
            <a:r>
              <a:rPr lang="en-US" sz="1050" dirty="0">
                <a:solidFill>
                  <a:srgbClr val="2D3A4A"/>
                </a:solidFill>
                <a:latin typeface="Consolas" pitchFamily="34" charset="0"/>
                <a:ea typeface="Consolas" pitchFamily="34" charset="-122"/>
                <a:cs typeface="Consolas" pitchFamily="34" charset="-120"/>
              </a:rPr>
              <a:t>"CEO of the company"</a:t>
            </a:r>
            <a:endParaRPr lang="en-US" sz="1050" dirty="0"/>
          </a:p>
        </p:txBody>
      </p:sp>
      <p:sp>
        <p:nvSpPr>
          <p:cNvPr id="29" name="Text 27"/>
          <p:cNvSpPr/>
          <p:nvPr/>
        </p:nvSpPr>
        <p:spPr>
          <a:xfrm>
            <a:off x="3438144" y="2560320"/>
            <a:ext cx="365760" cy="320040"/>
          </a:xfrm>
          <a:prstGeom prst="rect">
            <a:avLst/>
          </a:prstGeom>
          <a:noFill/>
          <a:ln/>
        </p:spPr>
        <p:txBody>
          <a:bodyPr wrap="square" lIns="0" tIns="0" rIns="0" bIns="0" rtlCol="0" anchor="ctr"/>
          <a:lstStyle/>
          <a:p>
            <a:pPr algn="ctr" indent="0" marL="0">
              <a:buNone/>
            </a:pPr>
            <a:r>
              <a:rPr lang="en-US" sz="1400" b="1" dirty="0">
                <a:solidFill>
                  <a:srgbClr val="D4891A"/>
                </a:solidFill>
              </a:rPr>
              <a:t>↔</a:t>
            </a:r>
            <a:endParaRPr lang="en-US" sz="1400" dirty="0"/>
          </a:p>
        </p:txBody>
      </p:sp>
      <p:sp>
        <p:nvSpPr>
          <p:cNvPr id="30" name="Text 28"/>
          <p:cNvSpPr/>
          <p:nvPr/>
        </p:nvSpPr>
        <p:spPr>
          <a:xfrm>
            <a:off x="3840480" y="2578608"/>
            <a:ext cx="3108960" cy="274320"/>
          </a:xfrm>
          <a:prstGeom prst="rect">
            <a:avLst/>
          </a:prstGeom>
          <a:noFill/>
          <a:ln/>
        </p:spPr>
        <p:txBody>
          <a:bodyPr wrap="square" lIns="0" tIns="0" rIns="0" bIns="0" rtlCol="0" anchor="ctr"/>
          <a:lstStyle/>
          <a:p>
            <a:pPr indent="0" marL="0">
              <a:buNone/>
            </a:pPr>
            <a:r>
              <a:rPr lang="en-US" sz="1050" dirty="0">
                <a:solidFill>
                  <a:srgbClr val="2D3A4A"/>
                </a:solidFill>
                <a:latin typeface="Consolas" pitchFamily="34" charset="0"/>
                <a:ea typeface="Consolas" pitchFamily="34" charset="-122"/>
                <a:cs typeface="Consolas" pitchFamily="34" charset="-120"/>
              </a:rPr>
              <a:t>"Priya Sharma founded TechSolutions"</a:t>
            </a:r>
            <a:endParaRPr lang="en-US" sz="1050" dirty="0"/>
          </a:p>
        </p:txBody>
      </p:sp>
      <p:sp>
        <p:nvSpPr>
          <p:cNvPr id="31" name="Shape 29"/>
          <p:cNvSpPr/>
          <p:nvPr/>
        </p:nvSpPr>
        <p:spPr>
          <a:xfrm>
            <a:off x="7086600" y="2560320"/>
            <a:ext cx="658368" cy="310896"/>
          </a:xfrm>
          <a:prstGeom prst="roundRect">
            <a:avLst>
              <a:gd name="adj" fmla="val 14706"/>
            </a:avLst>
          </a:prstGeom>
          <a:solidFill>
            <a:srgbClr val="D4891A"/>
          </a:solidFill>
          <a:ln w="12700">
            <a:solidFill>
              <a:srgbClr val="D4891A"/>
            </a:solidFill>
            <a:prstDash val="solid"/>
          </a:ln>
        </p:spPr>
      </p:sp>
      <p:sp>
        <p:nvSpPr>
          <p:cNvPr id="32" name="Text 30"/>
          <p:cNvSpPr/>
          <p:nvPr/>
        </p:nvSpPr>
        <p:spPr>
          <a:xfrm>
            <a:off x="7086600" y="2560320"/>
            <a:ext cx="658368" cy="310896"/>
          </a:xfrm>
          <a:prstGeom prst="rect">
            <a:avLst/>
          </a:prstGeom>
          <a:noFill/>
          <a:ln/>
        </p:spPr>
        <p:txBody>
          <a:bodyPr wrap="square" lIns="0" tIns="0" rIns="0" bIns="0" rtlCol="0" anchor="ctr"/>
          <a:lstStyle/>
          <a:p>
            <a:pPr algn="ctr" indent="0" marL="0">
              <a:buNone/>
            </a:pPr>
            <a:r>
              <a:rPr lang="en-US" sz="1300" b="1" dirty="0">
                <a:solidFill>
                  <a:srgbClr val="0D2349"/>
                </a:solidFill>
                <a:latin typeface="Trebuchet MS" pitchFamily="34" charset="0"/>
                <a:ea typeface="Trebuchet MS" pitchFamily="34" charset="-122"/>
                <a:cs typeface="Trebuchet MS" pitchFamily="34" charset="-120"/>
              </a:rPr>
              <a:t>0.48</a:t>
            </a:r>
            <a:endParaRPr lang="en-US" sz="1300" dirty="0"/>
          </a:p>
        </p:txBody>
      </p:sp>
      <p:sp>
        <p:nvSpPr>
          <p:cNvPr id="33" name="Text 31"/>
          <p:cNvSpPr/>
          <p:nvPr/>
        </p:nvSpPr>
        <p:spPr>
          <a:xfrm>
            <a:off x="7818120" y="2578608"/>
            <a:ext cx="914400" cy="274320"/>
          </a:xfrm>
          <a:prstGeom prst="rect">
            <a:avLst/>
          </a:prstGeom>
          <a:noFill/>
          <a:ln/>
        </p:spPr>
        <p:txBody>
          <a:bodyPr wrap="square" lIns="0" tIns="0" rIns="0" bIns="0" rtlCol="0" anchor="ctr"/>
          <a:lstStyle/>
          <a:p>
            <a:pPr indent="0" marL="0">
              <a:buNone/>
            </a:pPr>
            <a:r>
              <a:rPr lang="en-US" sz="850" i="1" dirty="0">
                <a:solidFill>
                  <a:srgbClr val="D4891A"/>
                </a:solidFill>
                <a:latin typeface="Calibri" pitchFamily="34" charset="0"/>
                <a:ea typeface="Calibri" pitchFamily="34" charset="-122"/>
                <a:cs typeface="Calibri" pitchFamily="34" charset="-120"/>
              </a:rPr>
              <a:t>Both about company leadership — no shared keywords!</a:t>
            </a:r>
            <a:endParaRPr lang="en-US" sz="850" dirty="0"/>
          </a:p>
        </p:txBody>
      </p:sp>
      <p:sp>
        <p:nvSpPr>
          <p:cNvPr id="34" name="Shape 32"/>
          <p:cNvSpPr/>
          <p:nvPr/>
        </p:nvSpPr>
        <p:spPr>
          <a:xfrm>
            <a:off x="347472" y="3218688"/>
            <a:ext cx="8449056" cy="658368"/>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35" name="Shape 33"/>
          <p:cNvSpPr/>
          <p:nvPr/>
        </p:nvSpPr>
        <p:spPr>
          <a:xfrm>
            <a:off x="347472" y="3218688"/>
            <a:ext cx="64008" cy="658368"/>
          </a:xfrm>
          <a:prstGeom prst="rect">
            <a:avLst/>
          </a:prstGeom>
          <a:solidFill>
            <a:srgbClr val="C62828"/>
          </a:solidFill>
          <a:ln w="12700">
            <a:solidFill>
              <a:srgbClr val="C62828"/>
            </a:solidFill>
            <a:prstDash val="solid"/>
          </a:ln>
        </p:spPr>
      </p:sp>
      <p:sp>
        <p:nvSpPr>
          <p:cNvPr id="36" name="Text 34"/>
          <p:cNvSpPr/>
          <p:nvPr/>
        </p:nvSpPr>
        <p:spPr>
          <a:xfrm>
            <a:off x="548640" y="3328416"/>
            <a:ext cx="2834640" cy="274320"/>
          </a:xfrm>
          <a:prstGeom prst="rect">
            <a:avLst/>
          </a:prstGeom>
          <a:noFill/>
          <a:ln/>
        </p:spPr>
        <p:txBody>
          <a:bodyPr wrap="square" lIns="0" tIns="0" rIns="0" bIns="0" rtlCol="0" anchor="ctr"/>
          <a:lstStyle/>
          <a:p>
            <a:pPr indent="0" marL="0">
              <a:buNone/>
            </a:pPr>
            <a:r>
              <a:rPr lang="en-US" sz="1050" dirty="0">
                <a:solidFill>
                  <a:srgbClr val="2D3A4A"/>
                </a:solidFill>
                <a:latin typeface="Consolas" pitchFamily="34" charset="0"/>
                <a:ea typeface="Consolas" pitchFamily="34" charset="-122"/>
                <a:cs typeface="Consolas" pitchFamily="34" charset="-120"/>
              </a:rPr>
              <a:t>"machine learning"</a:t>
            </a:r>
            <a:endParaRPr lang="en-US" sz="1050" dirty="0"/>
          </a:p>
        </p:txBody>
      </p:sp>
      <p:sp>
        <p:nvSpPr>
          <p:cNvPr id="37" name="Text 35"/>
          <p:cNvSpPr/>
          <p:nvPr/>
        </p:nvSpPr>
        <p:spPr>
          <a:xfrm>
            <a:off x="3438144" y="3310128"/>
            <a:ext cx="365760" cy="320040"/>
          </a:xfrm>
          <a:prstGeom prst="rect">
            <a:avLst/>
          </a:prstGeom>
          <a:noFill/>
          <a:ln/>
        </p:spPr>
        <p:txBody>
          <a:bodyPr wrap="square" lIns="0" tIns="0" rIns="0" bIns="0" rtlCol="0" anchor="ctr"/>
          <a:lstStyle/>
          <a:p>
            <a:pPr algn="ctr" indent="0" marL="0">
              <a:buNone/>
            </a:pPr>
            <a:r>
              <a:rPr lang="en-US" sz="1400" b="1" dirty="0">
                <a:solidFill>
                  <a:srgbClr val="C62828"/>
                </a:solidFill>
              </a:rPr>
              <a:t>↔</a:t>
            </a:r>
            <a:endParaRPr lang="en-US" sz="1400" dirty="0"/>
          </a:p>
        </p:txBody>
      </p:sp>
      <p:sp>
        <p:nvSpPr>
          <p:cNvPr id="38" name="Text 36"/>
          <p:cNvSpPr/>
          <p:nvPr/>
        </p:nvSpPr>
        <p:spPr>
          <a:xfrm>
            <a:off x="3840480" y="3328416"/>
            <a:ext cx="3108960" cy="274320"/>
          </a:xfrm>
          <a:prstGeom prst="rect">
            <a:avLst/>
          </a:prstGeom>
          <a:noFill/>
          <a:ln/>
        </p:spPr>
        <p:txBody>
          <a:bodyPr wrap="square" lIns="0" tIns="0" rIns="0" bIns="0" rtlCol="0" anchor="ctr"/>
          <a:lstStyle/>
          <a:p>
            <a:pPr indent="0" marL="0">
              <a:buNone/>
            </a:pPr>
            <a:r>
              <a:rPr lang="en-US" sz="1050" dirty="0">
                <a:solidFill>
                  <a:srgbClr val="2D3A4A"/>
                </a:solidFill>
                <a:latin typeface="Consolas" pitchFamily="34" charset="0"/>
                <a:ea typeface="Consolas" pitchFamily="34" charset="-122"/>
                <a:cs typeface="Consolas" pitchFamily="34" charset="-120"/>
              </a:rPr>
              <a:t>"cooking recipes"</a:t>
            </a:r>
            <a:endParaRPr lang="en-US" sz="1050" dirty="0"/>
          </a:p>
        </p:txBody>
      </p:sp>
      <p:sp>
        <p:nvSpPr>
          <p:cNvPr id="39" name="Shape 37"/>
          <p:cNvSpPr/>
          <p:nvPr/>
        </p:nvSpPr>
        <p:spPr>
          <a:xfrm>
            <a:off x="7086600" y="3310128"/>
            <a:ext cx="658368" cy="310896"/>
          </a:xfrm>
          <a:prstGeom prst="roundRect">
            <a:avLst>
              <a:gd name="adj" fmla="val 14706"/>
            </a:avLst>
          </a:prstGeom>
          <a:solidFill>
            <a:srgbClr val="C62828"/>
          </a:solidFill>
          <a:ln w="12700">
            <a:solidFill>
              <a:srgbClr val="C62828"/>
            </a:solidFill>
            <a:prstDash val="solid"/>
          </a:ln>
        </p:spPr>
      </p:sp>
      <p:sp>
        <p:nvSpPr>
          <p:cNvPr id="40" name="Text 38"/>
          <p:cNvSpPr/>
          <p:nvPr/>
        </p:nvSpPr>
        <p:spPr>
          <a:xfrm>
            <a:off x="7086600" y="3310128"/>
            <a:ext cx="6583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0.12</a:t>
            </a:r>
            <a:endParaRPr lang="en-US" sz="1300" dirty="0"/>
          </a:p>
        </p:txBody>
      </p:sp>
      <p:sp>
        <p:nvSpPr>
          <p:cNvPr id="41" name="Text 39"/>
          <p:cNvSpPr/>
          <p:nvPr/>
        </p:nvSpPr>
        <p:spPr>
          <a:xfrm>
            <a:off x="7818120" y="3328416"/>
            <a:ext cx="914400" cy="274320"/>
          </a:xfrm>
          <a:prstGeom prst="rect">
            <a:avLst/>
          </a:prstGeom>
          <a:noFill/>
          <a:ln/>
        </p:spPr>
        <p:txBody>
          <a:bodyPr wrap="square" lIns="0" tIns="0" rIns="0" bIns="0" rtlCol="0" anchor="ctr"/>
          <a:lstStyle/>
          <a:p>
            <a:pPr indent="0" marL="0">
              <a:buNone/>
            </a:pPr>
            <a:r>
              <a:rPr lang="en-US" sz="850" i="1" dirty="0">
                <a:solidFill>
                  <a:srgbClr val="8896AB"/>
                </a:solidFill>
                <a:latin typeface="Calibri" pitchFamily="34" charset="0"/>
                <a:ea typeface="Calibri" pitchFamily="34" charset="-122"/>
                <a:cs typeface="Calibri" pitchFamily="34" charset="-120"/>
              </a:rPr>
              <a:t>Completely different topics</a:t>
            </a:r>
            <a:endParaRPr lang="en-US" sz="850" dirty="0"/>
          </a:p>
        </p:txBody>
      </p:sp>
      <p:sp>
        <p:nvSpPr>
          <p:cNvPr id="42" name="Shape 40"/>
          <p:cNvSpPr/>
          <p:nvPr/>
        </p:nvSpPr>
        <p:spPr>
          <a:xfrm>
            <a:off x="347472" y="3968496"/>
            <a:ext cx="8449056" cy="658368"/>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43" name="Shape 41"/>
          <p:cNvSpPr/>
          <p:nvPr/>
        </p:nvSpPr>
        <p:spPr>
          <a:xfrm>
            <a:off x="347472" y="3968496"/>
            <a:ext cx="64008" cy="658368"/>
          </a:xfrm>
          <a:prstGeom prst="rect">
            <a:avLst/>
          </a:prstGeom>
          <a:solidFill>
            <a:srgbClr val="C62828"/>
          </a:solidFill>
          <a:ln w="12700">
            <a:solidFill>
              <a:srgbClr val="C62828"/>
            </a:solidFill>
            <a:prstDash val="solid"/>
          </a:ln>
        </p:spPr>
      </p:sp>
      <p:sp>
        <p:nvSpPr>
          <p:cNvPr id="44" name="Text 42"/>
          <p:cNvSpPr/>
          <p:nvPr/>
        </p:nvSpPr>
        <p:spPr>
          <a:xfrm>
            <a:off x="548640" y="4078224"/>
            <a:ext cx="2834640" cy="274320"/>
          </a:xfrm>
          <a:prstGeom prst="rect">
            <a:avLst/>
          </a:prstGeom>
          <a:noFill/>
          <a:ln/>
        </p:spPr>
        <p:txBody>
          <a:bodyPr wrap="square" lIns="0" tIns="0" rIns="0" bIns="0" rtlCol="0" anchor="ctr"/>
          <a:lstStyle/>
          <a:p>
            <a:pPr indent="0" marL="0">
              <a:buNone/>
            </a:pPr>
            <a:r>
              <a:rPr lang="en-US" sz="1050" dirty="0">
                <a:solidFill>
                  <a:srgbClr val="2D3A4A"/>
                </a:solidFill>
                <a:latin typeface="Consolas" pitchFamily="34" charset="0"/>
                <a:ea typeface="Consolas" pitchFamily="34" charset="-122"/>
                <a:cs typeface="Consolas" pitchFamily="34" charset="-120"/>
              </a:rPr>
              <a:t>"machine learning"</a:t>
            </a:r>
            <a:endParaRPr lang="en-US" sz="1050" dirty="0"/>
          </a:p>
        </p:txBody>
      </p:sp>
      <p:sp>
        <p:nvSpPr>
          <p:cNvPr id="45" name="Text 43"/>
          <p:cNvSpPr/>
          <p:nvPr/>
        </p:nvSpPr>
        <p:spPr>
          <a:xfrm>
            <a:off x="3438144" y="4059936"/>
            <a:ext cx="365760" cy="320040"/>
          </a:xfrm>
          <a:prstGeom prst="rect">
            <a:avLst/>
          </a:prstGeom>
          <a:noFill/>
          <a:ln/>
        </p:spPr>
        <p:txBody>
          <a:bodyPr wrap="square" lIns="0" tIns="0" rIns="0" bIns="0" rtlCol="0" anchor="ctr"/>
          <a:lstStyle/>
          <a:p>
            <a:pPr algn="ctr" indent="0" marL="0">
              <a:buNone/>
            </a:pPr>
            <a:r>
              <a:rPr lang="en-US" sz="1400" b="1" dirty="0">
                <a:solidFill>
                  <a:srgbClr val="C62828"/>
                </a:solidFill>
              </a:rPr>
              <a:t>↔</a:t>
            </a:r>
            <a:endParaRPr lang="en-US" sz="1400" dirty="0"/>
          </a:p>
        </p:txBody>
      </p:sp>
      <p:sp>
        <p:nvSpPr>
          <p:cNvPr id="46" name="Text 44"/>
          <p:cNvSpPr/>
          <p:nvPr/>
        </p:nvSpPr>
        <p:spPr>
          <a:xfrm>
            <a:off x="3840480" y="4078224"/>
            <a:ext cx="3108960" cy="274320"/>
          </a:xfrm>
          <a:prstGeom prst="rect">
            <a:avLst/>
          </a:prstGeom>
          <a:noFill/>
          <a:ln/>
        </p:spPr>
        <p:txBody>
          <a:bodyPr wrap="square" lIns="0" tIns="0" rIns="0" bIns="0" rtlCol="0" anchor="ctr"/>
          <a:lstStyle/>
          <a:p>
            <a:pPr indent="0" marL="0">
              <a:buNone/>
            </a:pPr>
            <a:r>
              <a:rPr lang="en-US" sz="1050" dirty="0">
                <a:solidFill>
                  <a:srgbClr val="2D3A4A"/>
                </a:solidFill>
                <a:latin typeface="Consolas" pitchFamily="34" charset="0"/>
                <a:ea typeface="Consolas" pitchFamily="34" charset="-122"/>
                <a:cs typeface="Consolas" pitchFamily="34" charset="-120"/>
              </a:rPr>
              <a:t>"cricket tournament"</a:t>
            </a:r>
            <a:endParaRPr lang="en-US" sz="1050" dirty="0"/>
          </a:p>
        </p:txBody>
      </p:sp>
      <p:sp>
        <p:nvSpPr>
          <p:cNvPr id="47" name="Shape 45"/>
          <p:cNvSpPr/>
          <p:nvPr/>
        </p:nvSpPr>
        <p:spPr>
          <a:xfrm>
            <a:off x="7086600" y="4059936"/>
            <a:ext cx="658368" cy="310896"/>
          </a:xfrm>
          <a:prstGeom prst="roundRect">
            <a:avLst>
              <a:gd name="adj" fmla="val 14706"/>
            </a:avLst>
          </a:prstGeom>
          <a:solidFill>
            <a:srgbClr val="C62828"/>
          </a:solidFill>
          <a:ln w="12700">
            <a:solidFill>
              <a:srgbClr val="C62828"/>
            </a:solidFill>
            <a:prstDash val="solid"/>
          </a:ln>
        </p:spPr>
      </p:sp>
      <p:sp>
        <p:nvSpPr>
          <p:cNvPr id="48" name="Text 46"/>
          <p:cNvSpPr/>
          <p:nvPr/>
        </p:nvSpPr>
        <p:spPr>
          <a:xfrm>
            <a:off x="7086600" y="4059936"/>
            <a:ext cx="6583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0.10</a:t>
            </a:r>
            <a:endParaRPr lang="en-US" sz="1300" dirty="0"/>
          </a:p>
        </p:txBody>
      </p:sp>
      <p:sp>
        <p:nvSpPr>
          <p:cNvPr id="49" name="Text 47"/>
          <p:cNvSpPr/>
          <p:nvPr/>
        </p:nvSpPr>
        <p:spPr>
          <a:xfrm>
            <a:off x="7818120" y="4078224"/>
            <a:ext cx="914400" cy="274320"/>
          </a:xfrm>
          <a:prstGeom prst="rect">
            <a:avLst/>
          </a:prstGeom>
          <a:noFill/>
          <a:ln/>
        </p:spPr>
        <p:txBody>
          <a:bodyPr wrap="square" lIns="0" tIns="0" rIns="0" bIns="0" rtlCol="0" anchor="ctr"/>
          <a:lstStyle/>
          <a:p>
            <a:pPr indent="0" marL="0">
              <a:buNone/>
            </a:pPr>
            <a:r>
              <a:rPr lang="en-US" sz="850" i="1" dirty="0">
                <a:solidFill>
                  <a:srgbClr val="8896AB"/>
                </a:solidFill>
                <a:latin typeface="Calibri" pitchFamily="34" charset="0"/>
                <a:ea typeface="Calibri" pitchFamily="34" charset="-122"/>
                <a:cs typeface="Calibri" pitchFamily="34" charset="-120"/>
              </a:rPr>
              <a:t>Completely different topics</a:t>
            </a:r>
            <a:endParaRPr lang="en-US" sz="850" dirty="0"/>
          </a:p>
        </p:txBody>
      </p:sp>
      <p:sp>
        <p:nvSpPr>
          <p:cNvPr id="50" name="Shape 48"/>
          <p:cNvSpPr/>
          <p:nvPr/>
        </p:nvSpPr>
        <p:spPr>
          <a:xfrm>
            <a:off x="347472" y="4681728"/>
            <a:ext cx="8449056" cy="0"/>
          </a:xfrm>
          <a:prstGeom prst="rect">
            <a:avLst/>
          </a:prstGeom>
          <a:solidFill>
            <a:srgbClr val="E8EDF3"/>
          </a:solidFill>
          <a:ln w="12700">
            <a:solidFill>
              <a:srgbClr val="E8EDF3"/>
            </a:solidFill>
            <a:prstDash val="solid"/>
          </a:ln>
        </p:spPr>
      </p:sp>
      <p:sp>
        <p:nvSpPr>
          <p:cNvPr id="51" name="Text 49"/>
          <p:cNvSpPr/>
          <p:nvPr/>
        </p:nvSpPr>
        <p:spPr>
          <a:xfrm>
            <a:off x="347472" y="4462272"/>
            <a:ext cx="8449056" cy="347472"/>
          </a:xfrm>
          <a:prstGeom prst="rect">
            <a:avLst/>
          </a:prstGeom>
          <a:noFill/>
          <a:ln/>
        </p:spPr>
        <p:txBody>
          <a:bodyPr wrap="square" lIns="0" tIns="0" rIns="0" bIns="0" rtlCol="0" anchor="ctr"/>
          <a:lstStyle/>
          <a:p>
            <a:pPr indent="0" marL="0">
              <a:buNone/>
            </a:pPr>
            <a:r>
              <a:rPr lang="en-US" sz="1050" b="1" dirty="0">
                <a:solidFill>
                  <a:srgbClr val="D4891A"/>
                </a:solidFill>
                <a:latin typeface="Calibri" pitchFamily="34" charset="0"/>
                <a:ea typeface="Calibri" pitchFamily="34" charset="-122"/>
                <a:cs typeface="Calibri" pitchFamily="34" charset="-120"/>
              </a:rPr>
              <a:t>★  Row 3 is the magic: </a:t>
            </a:r>
            <a:pPr indent="0" marL="0">
              <a:buNone/>
            </a:pPr>
            <a:r>
              <a:rPr lang="en-US" sz="1050" dirty="0">
                <a:solidFill>
                  <a:srgbClr val="FFFFFF"/>
                </a:solidFill>
                <a:latin typeface="Calibri" pitchFamily="34" charset="0"/>
                <a:ea typeface="Calibri" pitchFamily="34" charset="-122"/>
                <a:cs typeface="Calibri" pitchFamily="34" charset="-120"/>
              </a:rPr>
              <a:t>"CEO" and "founded" share zero keywords — yet embeddings score them 0.48. Keyword search scores them 0. This is exactly what RAG was missing.</a:t>
            </a:r>
            <a:endParaRPr lang="en-US" sz="1050" dirty="0"/>
          </a:p>
        </p:txBody>
      </p:sp>
      <p:sp>
        <p:nvSpPr>
          <p:cNvPr id="52" name="Shape 50"/>
          <p:cNvSpPr/>
          <p:nvPr/>
        </p:nvSpPr>
        <p:spPr>
          <a:xfrm>
            <a:off x="347472" y="4462272"/>
            <a:ext cx="8449056" cy="347472"/>
          </a:xfrm>
          <a:prstGeom prst="rect">
            <a:avLst/>
          </a:prstGeom>
          <a:solidFill>
            <a:srgbClr val="0D2349"/>
          </a:solidFill>
          <a:ln w="12700">
            <a:solidFill>
              <a:srgbClr val="0D2349"/>
            </a:solidFill>
            <a:prstDash val="solid"/>
          </a:ln>
        </p:spPr>
      </p:sp>
      <p:sp>
        <p:nvSpPr>
          <p:cNvPr id="53" name="Text 51"/>
          <p:cNvSpPr/>
          <p:nvPr/>
        </p:nvSpPr>
        <p:spPr>
          <a:xfrm>
            <a:off x="457200" y="4462272"/>
            <a:ext cx="8321040" cy="347472"/>
          </a:xfrm>
          <a:prstGeom prst="rect">
            <a:avLst/>
          </a:prstGeom>
          <a:noFill/>
          <a:ln/>
        </p:spPr>
        <p:txBody>
          <a:bodyPr wrap="square" lIns="0" tIns="0" rIns="0" bIns="0" rtlCol="0" anchor="ctr"/>
          <a:lstStyle/>
          <a:p>
            <a:pPr indent="0" marL="0">
              <a:buNone/>
            </a:pPr>
            <a:r>
              <a:rPr lang="en-US" sz="1050" b="1" dirty="0">
                <a:solidFill>
                  <a:srgbClr val="D4891A"/>
                </a:solidFill>
                <a:latin typeface="Calibri" pitchFamily="34" charset="0"/>
                <a:ea typeface="Calibri" pitchFamily="34" charset="-122"/>
                <a:cs typeface="Calibri" pitchFamily="34" charset="-120"/>
              </a:rPr>
              <a:t>★  Row 3 is the magic: </a:t>
            </a:r>
            <a:pPr indent="0" marL="0">
              <a:buNone/>
            </a:pPr>
            <a:r>
              <a:rPr lang="en-US" sz="1050" dirty="0">
                <a:solidFill>
                  <a:srgbClr val="FFFFFF"/>
                </a:solidFill>
                <a:latin typeface="Calibri" pitchFamily="34" charset="0"/>
                <a:ea typeface="Calibri" pitchFamily="34" charset="-122"/>
                <a:cs typeface="Calibri" pitchFamily="34" charset="-120"/>
              </a:rPr>
              <a:t>"CEO" and "founded" share zero keywords — yet embeddings score them 0.48. Keyword search scores them 0. This is exactly what RAG was missing.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349"/>
          </a:solidFill>
          <a:ln w="12700">
            <a:solidFill>
              <a:srgbClr val="0D234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Embedding Models</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Text 4"/>
          <p:cNvSpPr/>
          <p:nvPr/>
        </p:nvSpPr>
        <p:spPr>
          <a:xfrm>
            <a:off x="384048" y="749808"/>
            <a:ext cx="8229600" cy="256032"/>
          </a:xfrm>
          <a:prstGeom prst="rect">
            <a:avLst/>
          </a:prstGeom>
          <a:noFill/>
          <a:ln/>
        </p:spPr>
        <p:txBody>
          <a:bodyPr wrap="square" lIns="0" tIns="0" rIns="0" bIns="0" rtlCol="0" anchor="ctr"/>
          <a:lstStyle/>
          <a:p>
            <a:pPr indent="0" marL="0">
              <a:buNone/>
            </a:pPr>
            <a:r>
              <a:rPr lang="en-US" sz="1100" i="1" dirty="0">
                <a:solidFill>
                  <a:srgbClr val="00879E"/>
                </a:solidFill>
                <a:latin typeface="Calibri" pitchFamily="34" charset="0"/>
                <a:ea typeface="Calibri" pitchFamily="34" charset="-122"/>
                <a:cs typeface="Calibri" pitchFamily="34" charset="-120"/>
              </a:rPr>
              <a:t>Different models, different quality and cost tradeoffs</a:t>
            </a:r>
            <a:endParaRPr lang="en-US" sz="1100" dirty="0"/>
          </a:p>
        </p:txBody>
      </p:sp>
      <p:sp>
        <p:nvSpPr>
          <p:cNvPr id="7" name="Shape 5"/>
          <p:cNvSpPr/>
          <p:nvPr/>
        </p:nvSpPr>
        <p:spPr>
          <a:xfrm>
            <a:off x="0" y="4937760"/>
            <a:ext cx="9144000" cy="205740"/>
          </a:xfrm>
          <a:prstGeom prst="rect">
            <a:avLst/>
          </a:prstGeom>
          <a:solidFill>
            <a:srgbClr val="0D2349"/>
          </a:solidFill>
          <a:ln w="12700">
            <a:solidFill>
              <a:srgbClr val="0D2349"/>
            </a:solidFill>
            <a:prstDash val="solid"/>
          </a:ln>
        </p:spPr>
      </p:sp>
      <p:sp>
        <p:nvSpPr>
          <p:cNvPr id="8" name="Text 6"/>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9" name="Shape 7"/>
          <p:cNvSpPr/>
          <p:nvPr/>
        </p:nvSpPr>
        <p:spPr>
          <a:xfrm>
            <a:off x="347472" y="1024128"/>
            <a:ext cx="8449056" cy="987552"/>
          </a:xfrm>
          <a:prstGeom prst="rect">
            <a:avLst/>
          </a:prstGeom>
          <a:solidFill>
            <a:srgbClr val="E8F8FA"/>
          </a:solidFill>
          <a:ln w="12700">
            <a:solidFill>
              <a:srgbClr val="00879E"/>
            </a:solidFill>
            <a:prstDash val="solid"/>
          </a:ln>
          <a:effectLst>
            <a:outerShdw sx="100000" sy="100000" kx="0" ky="0" algn="bl" rotWithShape="0" blurRad="50800" dist="12700" dir="8100000">
              <a:srgbClr val="000000">
                <a:alpha val="8000"/>
              </a:srgbClr>
            </a:outerShdw>
          </a:effectLst>
        </p:spPr>
      </p:sp>
      <p:sp>
        <p:nvSpPr>
          <p:cNvPr id="10" name="Shape 8"/>
          <p:cNvSpPr/>
          <p:nvPr/>
        </p:nvSpPr>
        <p:spPr>
          <a:xfrm>
            <a:off x="347472" y="1024128"/>
            <a:ext cx="64008" cy="987552"/>
          </a:xfrm>
          <a:prstGeom prst="rect">
            <a:avLst/>
          </a:prstGeom>
          <a:solidFill>
            <a:srgbClr val="00879E"/>
          </a:solidFill>
          <a:ln w="12700">
            <a:solidFill>
              <a:srgbClr val="00879E"/>
            </a:solidFill>
            <a:prstDash val="solid"/>
          </a:ln>
        </p:spPr>
      </p:sp>
      <p:sp>
        <p:nvSpPr>
          <p:cNvPr id="11" name="Shape 9"/>
          <p:cNvSpPr/>
          <p:nvPr/>
        </p:nvSpPr>
        <p:spPr>
          <a:xfrm>
            <a:off x="347472" y="1024128"/>
            <a:ext cx="8449056" cy="36576"/>
          </a:xfrm>
          <a:prstGeom prst="rect">
            <a:avLst/>
          </a:prstGeom>
          <a:solidFill>
            <a:srgbClr val="00879E"/>
          </a:solidFill>
          <a:ln w="12700">
            <a:solidFill>
              <a:srgbClr val="00879E"/>
            </a:solidFill>
            <a:prstDash val="solid"/>
          </a:ln>
        </p:spPr>
      </p:sp>
      <p:sp>
        <p:nvSpPr>
          <p:cNvPr id="12" name="Text 10"/>
          <p:cNvSpPr/>
          <p:nvPr/>
        </p:nvSpPr>
        <p:spPr>
          <a:xfrm>
            <a:off x="566928" y="1115568"/>
            <a:ext cx="2926080" cy="310896"/>
          </a:xfrm>
          <a:prstGeom prst="rect">
            <a:avLst/>
          </a:prstGeom>
          <a:noFill/>
          <a:ln/>
        </p:spPr>
        <p:txBody>
          <a:bodyPr wrap="square" lIns="0" tIns="0" rIns="0" bIns="0" rtlCol="0" anchor="ctr"/>
          <a:lstStyle/>
          <a:p>
            <a:pPr indent="0" marL="0">
              <a:buNone/>
            </a:pPr>
            <a:r>
              <a:rPr lang="en-US" sz="1400" b="1" dirty="0">
                <a:solidFill>
                  <a:srgbClr val="2D3A4A"/>
                </a:solidFill>
                <a:latin typeface="Consolas" pitchFamily="34" charset="0"/>
                <a:ea typeface="Consolas" pitchFamily="34" charset="-122"/>
                <a:cs typeface="Consolas" pitchFamily="34" charset="-120"/>
              </a:rPr>
              <a:t>all-MiniLM-L6-v2</a:t>
            </a:r>
            <a:endParaRPr lang="en-US" sz="1400" dirty="0"/>
          </a:p>
        </p:txBody>
      </p:sp>
      <p:sp>
        <p:nvSpPr>
          <p:cNvPr id="13" name="Text 11"/>
          <p:cNvSpPr/>
          <p:nvPr/>
        </p:nvSpPr>
        <p:spPr>
          <a:xfrm>
            <a:off x="566928" y="1444752"/>
            <a:ext cx="2926080" cy="237744"/>
          </a:xfrm>
          <a:prstGeom prst="rect">
            <a:avLst/>
          </a:prstGeom>
          <a:noFill/>
          <a:ln/>
        </p:spPr>
        <p:txBody>
          <a:bodyPr wrap="square" lIns="0" tIns="0" rIns="0" bIns="0" rtlCol="0" anchor="ctr"/>
          <a:lstStyle/>
          <a:p>
            <a:pPr indent="0" marL="0">
              <a:buNone/>
            </a:pPr>
            <a:r>
              <a:rPr lang="en-US" sz="1000" i="1" dirty="0">
                <a:solidFill>
                  <a:srgbClr val="00879E"/>
                </a:solidFill>
                <a:latin typeface="Calibri" pitchFamily="34" charset="0"/>
                <a:ea typeface="Calibri" pitchFamily="34" charset="-122"/>
                <a:cs typeface="Calibri" pitchFamily="34" charset="-120"/>
              </a:rPr>
              <a:t>← We use this in the notebook</a:t>
            </a:r>
            <a:endParaRPr lang="en-US" sz="1000" dirty="0"/>
          </a:p>
        </p:txBody>
      </p:sp>
      <p:sp>
        <p:nvSpPr>
          <p:cNvPr id="14" name="Shape 12"/>
          <p:cNvSpPr/>
          <p:nvPr/>
        </p:nvSpPr>
        <p:spPr>
          <a:xfrm>
            <a:off x="3639312" y="1161288"/>
            <a:ext cx="1188720" cy="201168"/>
          </a:xfrm>
          <a:prstGeom prst="rect">
            <a:avLst/>
          </a:prstGeom>
          <a:solidFill>
            <a:srgbClr val="1A4B8C"/>
          </a:solidFill>
          <a:ln w="12700">
            <a:solidFill>
              <a:srgbClr val="1A4B8C"/>
            </a:solidFill>
            <a:prstDash val="solid"/>
          </a:ln>
        </p:spPr>
      </p:sp>
      <p:sp>
        <p:nvSpPr>
          <p:cNvPr id="15" name="Text 13"/>
          <p:cNvSpPr/>
          <p:nvPr/>
        </p:nvSpPr>
        <p:spPr>
          <a:xfrm>
            <a:off x="3639312" y="1161288"/>
            <a:ext cx="11887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Dimensions</a:t>
            </a:r>
            <a:endParaRPr lang="en-US" sz="800" dirty="0"/>
          </a:p>
        </p:txBody>
      </p:sp>
      <p:sp>
        <p:nvSpPr>
          <p:cNvPr id="16" name="Text 14"/>
          <p:cNvSpPr/>
          <p:nvPr/>
        </p:nvSpPr>
        <p:spPr>
          <a:xfrm>
            <a:off x="3639312" y="1389888"/>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384</a:t>
            </a:r>
            <a:endParaRPr lang="en-US" sz="1050" dirty="0"/>
          </a:p>
        </p:txBody>
      </p:sp>
      <p:sp>
        <p:nvSpPr>
          <p:cNvPr id="17" name="Shape 15"/>
          <p:cNvSpPr/>
          <p:nvPr/>
        </p:nvSpPr>
        <p:spPr>
          <a:xfrm>
            <a:off x="4937760" y="1161288"/>
            <a:ext cx="1188720" cy="201168"/>
          </a:xfrm>
          <a:prstGeom prst="rect">
            <a:avLst/>
          </a:prstGeom>
          <a:solidFill>
            <a:srgbClr val="00879E"/>
          </a:solidFill>
          <a:ln w="12700">
            <a:solidFill>
              <a:srgbClr val="00879E"/>
            </a:solidFill>
            <a:prstDash val="solid"/>
          </a:ln>
        </p:spPr>
      </p:sp>
      <p:sp>
        <p:nvSpPr>
          <p:cNvPr id="18" name="Text 16"/>
          <p:cNvSpPr/>
          <p:nvPr/>
        </p:nvSpPr>
        <p:spPr>
          <a:xfrm>
            <a:off x="4937760" y="1161288"/>
            <a:ext cx="11887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Speed</a:t>
            </a:r>
            <a:endParaRPr lang="en-US" sz="800" dirty="0"/>
          </a:p>
        </p:txBody>
      </p:sp>
      <p:sp>
        <p:nvSpPr>
          <p:cNvPr id="19" name="Text 17"/>
          <p:cNvSpPr/>
          <p:nvPr/>
        </p:nvSpPr>
        <p:spPr>
          <a:xfrm>
            <a:off x="4937760" y="1389888"/>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Fast</a:t>
            </a:r>
            <a:endParaRPr lang="en-US" sz="1050" dirty="0"/>
          </a:p>
        </p:txBody>
      </p:sp>
      <p:sp>
        <p:nvSpPr>
          <p:cNvPr id="20" name="Shape 18"/>
          <p:cNvSpPr/>
          <p:nvPr/>
        </p:nvSpPr>
        <p:spPr>
          <a:xfrm>
            <a:off x="6236208" y="1161288"/>
            <a:ext cx="1188720" cy="201168"/>
          </a:xfrm>
          <a:prstGeom prst="rect">
            <a:avLst/>
          </a:prstGeom>
          <a:solidFill>
            <a:srgbClr val="2E7D32"/>
          </a:solidFill>
          <a:ln w="12700">
            <a:solidFill>
              <a:srgbClr val="2E7D32"/>
            </a:solidFill>
            <a:prstDash val="solid"/>
          </a:ln>
        </p:spPr>
      </p:sp>
      <p:sp>
        <p:nvSpPr>
          <p:cNvPr id="21" name="Text 19"/>
          <p:cNvSpPr/>
          <p:nvPr/>
        </p:nvSpPr>
        <p:spPr>
          <a:xfrm>
            <a:off x="6236208" y="1161288"/>
            <a:ext cx="11887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Quality</a:t>
            </a:r>
            <a:endParaRPr lang="en-US" sz="800" dirty="0"/>
          </a:p>
        </p:txBody>
      </p:sp>
      <p:sp>
        <p:nvSpPr>
          <p:cNvPr id="22" name="Text 20"/>
          <p:cNvSpPr/>
          <p:nvPr/>
        </p:nvSpPr>
        <p:spPr>
          <a:xfrm>
            <a:off x="6236208" y="1389888"/>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Good</a:t>
            </a:r>
            <a:endParaRPr lang="en-US" sz="1050" dirty="0"/>
          </a:p>
        </p:txBody>
      </p:sp>
      <p:sp>
        <p:nvSpPr>
          <p:cNvPr id="23" name="Shape 21"/>
          <p:cNvSpPr/>
          <p:nvPr/>
        </p:nvSpPr>
        <p:spPr>
          <a:xfrm>
            <a:off x="7534656" y="1161288"/>
            <a:ext cx="1188720" cy="201168"/>
          </a:xfrm>
          <a:prstGeom prst="rect">
            <a:avLst/>
          </a:prstGeom>
          <a:solidFill>
            <a:srgbClr val="2E7D32"/>
          </a:solidFill>
          <a:ln w="12700">
            <a:solidFill>
              <a:srgbClr val="2E7D32"/>
            </a:solidFill>
            <a:prstDash val="solid"/>
          </a:ln>
        </p:spPr>
      </p:sp>
      <p:sp>
        <p:nvSpPr>
          <p:cNvPr id="24" name="Text 22"/>
          <p:cNvSpPr/>
          <p:nvPr/>
        </p:nvSpPr>
        <p:spPr>
          <a:xfrm>
            <a:off x="7534656" y="1161288"/>
            <a:ext cx="11887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Cost</a:t>
            </a:r>
            <a:endParaRPr lang="en-US" sz="800" dirty="0"/>
          </a:p>
        </p:txBody>
      </p:sp>
      <p:sp>
        <p:nvSpPr>
          <p:cNvPr id="25" name="Text 23"/>
          <p:cNvSpPr/>
          <p:nvPr/>
        </p:nvSpPr>
        <p:spPr>
          <a:xfrm>
            <a:off x="7534656" y="1389888"/>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Free (local)</a:t>
            </a:r>
            <a:endParaRPr lang="en-US" sz="1050" dirty="0"/>
          </a:p>
        </p:txBody>
      </p:sp>
      <p:sp>
        <p:nvSpPr>
          <p:cNvPr id="26" name="Shape 24"/>
          <p:cNvSpPr/>
          <p:nvPr/>
        </p:nvSpPr>
        <p:spPr>
          <a:xfrm>
            <a:off x="347472" y="2176272"/>
            <a:ext cx="8449056" cy="987552"/>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27" name="Shape 25"/>
          <p:cNvSpPr/>
          <p:nvPr/>
        </p:nvSpPr>
        <p:spPr>
          <a:xfrm>
            <a:off x="347472" y="2176272"/>
            <a:ext cx="64008" cy="987552"/>
          </a:xfrm>
          <a:prstGeom prst="rect">
            <a:avLst/>
          </a:prstGeom>
          <a:solidFill>
            <a:srgbClr val="1A4B8C"/>
          </a:solidFill>
          <a:ln w="12700">
            <a:solidFill>
              <a:srgbClr val="1A4B8C"/>
            </a:solidFill>
            <a:prstDash val="solid"/>
          </a:ln>
        </p:spPr>
      </p:sp>
      <p:sp>
        <p:nvSpPr>
          <p:cNvPr id="28" name="Text 26"/>
          <p:cNvSpPr/>
          <p:nvPr/>
        </p:nvSpPr>
        <p:spPr>
          <a:xfrm>
            <a:off x="566928" y="2267712"/>
            <a:ext cx="2926080" cy="310896"/>
          </a:xfrm>
          <a:prstGeom prst="rect">
            <a:avLst/>
          </a:prstGeom>
          <a:noFill/>
          <a:ln/>
        </p:spPr>
        <p:txBody>
          <a:bodyPr wrap="square" lIns="0" tIns="0" rIns="0" bIns="0" rtlCol="0" anchor="ctr"/>
          <a:lstStyle/>
          <a:p>
            <a:pPr indent="0" marL="0">
              <a:buNone/>
            </a:pPr>
            <a:r>
              <a:rPr lang="en-US" sz="1400" b="1" dirty="0">
                <a:solidFill>
                  <a:srgbClr val="2D3A4A"/>
                </a:solidFill>
                <a:latin typeface="Consolas" pitchFamily="34" charset="0"/>
                <a:ea typeface="Consolas" pitchFamily="34" charset="-122"/>
                <a:cs typeface="Consolas" pitchFamily="34" charset="-120"/>
              </a:rPr>
              <a:t>all-mpnet-base-v2</a:t>
            </a:r>
            <a:endParaRPr lang="en-US" sz="1400" dirty="0"/>
          </a:p>
        </p:txBody>
      </p:sp>
      <p:sp>
        <p:nvSpPr>
          <p:cNvPr id="29" name="Text 27"/>
          <p:cNvSpPr/>
          <p:nvPr/>
        </p:nvSpPr>
        <p:spPr>
          <a:xfrm>
            <a:off x="566928" y="2596896"/>
            <a:ext cx="2926080" cy="237744"/>
          </a:xfrm>
          <a:prstGeom prst="rect">
            <a:avLst/>
          </a:prstGeom>
          <a:noFill/>
          <a:ln/>
        </p:spPr>
        <p:txBody>
          <a:bodyPr wrap="square" lIns="0" tIns="0" rIns="0" bIns="0" rtlCol="0" anchor="ctr"/>
          <a:lstStyle/>
          <a:p>
            <a:pPr indent="0" marL="0">
              <a:buNone/>
            </a:pPr>
            <a:r>
              <a:rPr lang="en-US" sz="1000" i="1" dirty="0">
                <a:solidFill>
                  <a:srgbClr val="8896AB"/>
                </a:solidFill>
                <a:latin typeface="Calibri" pitchFamily="34" charset="0"/>
                <a:ea typeface="Calibri" pitchFamily="34" charset="-122"/>
                <a:cs typeface="Calibri" pitchFamily="34" charset="-120"/>
              </a:rPr>
              <a:t>More nuance, more compute</a:t>
            </a:r>
            <a:endParaRPr lang="en-US" sz="1000" dirty="0"/>
          </a:p>
        </p:txBody>
      </p:sp>
      <p:sp>
        <p:nvSpPr>
          <p:cNvPr id="30" name="Shape 28"/>
          <p:cNvSpPr/>
          <p:nvPr/>
        </p:nvSpPr>
        <p:spPr>
          <a:xfrm>
            <a:off x="3639312" y="2313432"/>
            <a:ext cx="1188720" cy="201168"/>
          </a:xfrm>
          <a:prstGeom prst="rect">
            <a:avLst/>
          </a:prstGeom>
          <a:solidFill>
            <a:srgbClr val="1A4B8C"/>
          </a:solidFill>
          <a:ln w="12700">
            <a:solidFill>
              <a:srgbClr val="1A4B8C"/>
            </a:solidFill>
            <a:prstDash val="solid"/>
          </a:ln>
        </p:spPr>
      </p:sp>
      <p:sp>
        <p:nvSpPr>
          <p:cNvPr id="31" name="Text 29"/>
          <p:cNvSpPr/>
          <p:nvPr/>
        </p:nvSpPr>
        <p:spPr>
          <a:xfrm>
            <a:off x="3639312" y="2313432"/>
            <a:ext cx="11887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Dimensions</a:t>
            </a:r>
            <a:endParaRPr lang="en-US" sz="800" dirty="0"/>
          </a:p>
        </p:txBody>
      </p:sp>
      <p:sp>
        <p:nvSpPr>
          <p:cNvPr id="32" name="Text 30"/>
          <p:cNvSpPr/>
          <p:nvPr/>
        </p:nvSpPr>
        <p:spPr>
          <a:xfrm>
            <a:off x="3639312" y="2542032"/>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768</a:t>
            </a:r>
            <a:endParaRPr lang="en-US" sz="1050" dirty="0"/>
          </a:p>
        </p:txBody>
      </p:sp>
      <p:sp>
        <p:nvSpPr>
          <p:cNvPr id="33" name="Shape 31"/>
          <p:cNvSpPr/>
          <p:nvPr/>
        </p:nvSpPr>
        <p:spPr>
          <a:xfrm>
            <a:off x="4937760" y="2313432"/>
            <a:ext cx="1188720" cy="201168"/>
          </a:xfrm>
          <a:prstGeom prst="rect">
            <a:avLst/>
          </a:prstGeom>
          <a:solidFill>
            <a:srgbClr val="00879E"/>
          </a:solidFill>
          <a:ln w="12700">
            <a:solidFill>
              <a:srgbClr val="00879E"/>
            </a:solidFill>
            <a:prstDash val="solid"/>
          </a:ln>
        </p:spPr>
      </p:sp>
      <p:sp>
        <p:nvSpPr>
          <p:cNvPr id="34" name="Text 32"/>
          <p:cNvSpPr/>
          <p:nvPr/>
        </p:nvSpPr>
        <p:spPr>
          <a:xfrm>
            <a:off x="4937760" y="2313432"/>
            <a:ext cx="11887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Speed</a:t>
            </a:r>
            <a:endParaRPr lang="en-US" sz="800" dirty="0"/>
          </a:p>
        </p:txBody>
      </p:sp>
      <p:sp>
        <p:nvSpPr>
          <p:cNvPr id="35" name="Text 33"/>
          <p:cNvSpPr/>
          <p:nvPr/>
        </p:nvSpPr>
        <p:spPr>
          <a:xfrm>
            <a:off x="4937760" y="2542032"/>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Medium</a:t>
            </a:r>
            <a:endParaRPr lang="en-US" sz="1050" dirty="0"/>
          </a:p>
        </p:txBody>
      </p:sp>
      <p:sp>
        <p:nvSpPr>
          <p:cNvPr id="36" name="Shape 34"/>
          <p:cNvSpPr/>
          <p:nvPr/>
        </p:nvSpPr>
        <p:spPr>
          <a:xfrm>
            <a:off x="6236208" y="2313432"/>
            <a:ext cx="1188720" cy="201168"/>
          </a:xfrm>
          <a:prstGeom prst="rect">
            <a:avLst/>
          </a:prstGeom>
          <a:solidFill>
            <a:srgbClr val="2E7D32"/>
          </a:solidFill>
          <a:ln w="12700">
            <a:solidFill>
              <a:srgbClr val="2E7D32"/>
            </a:solidFill>
            <a:prstDash val="solid"/>
          </a:ln>
        </p:spPr>
      </p:sp>
      <p:sp>
        <p:nvSpPr>
          <p:cNvPr id="37" name="Text 35"/>
          <p:cNvSpPr/>
          <p:nvPr/>
        </p:nvSpPr>
        <p:spPr>
          <a:xfrm>
            <a:off x="6236208" y="2313432"/>
            <a:ext cx="11887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Quality</a:t>
            </a:r>
            <a:endParaRPr lang="en-US" sz="800" dirty="0"/>
          </a:p>
        </p:txBody>
      </p:sp>
      <p:sp>
        <p:nvSpPr>
          <p:cNvPr id="38" name="Text 36"/>
          <p:cNvSpPr/>
          <p:nvPr/>
        </p:nvSpPr>
        <p:spPr>
          <a:xfrm>
            <a:off x="6236208" y="2542032"/>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Better</a:t>
            </a:r>
            <a:endParaRPr lang="en-US" sz="1050" dirty="0"/>
          </a:p>
        </p:txBody>
      </p:sp>
      <p:sp>
        <p:nvSpPr>
          <p:cNvPr id="39" name="Shape 37"/>
          <p:cNvSpPr/>
          <p:nvPr/>
        </p:nvSpPr>
        <p:spPr>
          <a:xfrm>
            <a:off x="7534656" y="2313432"/>
            <a:ext cx="1188720" cy="201168"/>
          </a:xfrm>
          <a:prstGeom prst="rect">
            <a:avLst/>
          </a:prstGeom>
          <a:solidFill>
            <a:srgbClr val="2E7D32"/>
          </a:solidFill>
          <a:ln w="12700">
            <a:solidFill>
              <a:srgbClr val="2E7D32"/>
            </a:solidFill>
            <a:prstDash val="solid"/>
          </a:ln>
        </p:spPr>
      </p:sp>
      <p:sp>
        <p:nvSpPr>
          <p:cNvPr id="40" name="Text 38"/>
          <p:cNvSpPr/>
          <p:nvPr/>
        </p:nvSpPr>
        <p:spPr>
          <a:xfrm>
            <a:off x="7534656" y="2313432"/>
            <a:ext cx="11887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Cost</a:t>
            </a:r>
            <a:endParaRPr lang="en-US" sz="800" dirty="0"/>
          </a:p>
        </p:txBody>
      </p:sp>
      <p:sp>
        <p:nvSpPr>
          <p:cNvPr id="41" name="Text 39"/>
          <p:cNvSpPr/>
          <p:nvPr/>
        </p:nvSpPr>
        <p:spPr>
          <a:xfrm>
            <a:off x="7534656" y="2542032"/>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Free (local)</a:t>
            </a:r>
            <a:endParaRPr lang="en-US" sz="1050" dirty="0"/>
          </a:p>
        </p:txBody>
      </p:sp>
      <p:sp>
        <p:nvSpPr>
          <p:cNvPr id="42" name="Shape 40"/>
          <p:cNvSpPr/>
          <p:nvPr/>
        </p:nvSpPr>
        <p:spPr>
          <a:xfrm>
            <a:off x="347472" y="3328416"/>
            <a:ext cx="8449056" cy="987552"/>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43" name="Shape 41"/>
          <p:cNvSpPr/>
          <p:nvPr/>
        </p:nvSpPr>
        <p:spPr>
          <a:xfrm>
            <a:off x="347472" y="3328416"/>
            <a:ext cx="64008" cy="987552"/>
          </a:xfrm>
          <a:prstGeom prst="rect">
            <a:avLst/>
          </a:prstGeom>
          <a:solidFill>
            <a:srgbClr val="D4891A"/>
          </a:solidFill>
          <a:ln w="12700">
            <a:solidFill>
              <a:srgbClr val="D4891A"/>
            </a:solidFill>
            <a:prstDash val="solid"/>
          </a:ln>
        </p:spPr>
      </p:sp>
      <p:sp>
        <p:nvSpPr>
          <p:cNvPr id="44" name="Text 42"/>
          <p:cNvSpPr/>
          <p:nvPr/>
        </p:nvSpPr>
        <p:spPr>
          <a:xfrm>
            <a:off x="566928" y="3419856"/>
            <a:ext cx="2926080" cy="310896"/>
          </a:xfrm>
          <a:prstGeom prst="rect">
            <a:avLst/>
          </a:prstGeom>
          <a:noFill/>
          <a:ln/>
        </p:spPr>
        <p:txBody>
          <a:bodyPr wrap="square" lIns="0" tIns="0" rIns="0" bIns="0" rtlCol="0" anchor="ctr"/>
          <a:lstStyle/>
          <a:p>
            <a:pPr indent="0" marL="0">
              <a:buNone/>
            </a:pPr>
            <a:r>
              <a:rPr lang="en-US" sz="1400" b="1" dirty="0">
                <a:solidFill>
                  <a:srgbClr val="2D3A4A"/>
                </a:solidFill>
                <a:latin typeface="Consolas" pitchFamily="34" charset="0"/>
                <a:ea typeface="Consolas" pitchFamily="34" charset="-122"/>
                <a:cs typeface="Consolas" pitchFamily="34" charset="-120"/>
              </a:rPr>
              <a:t>text-embedding-3-small</a:t>
            </a:r>
            <a:endParaRPr lang="en-US" sz="1400" dirty="0"/>
          </a:p>
        </p:txBody>
      </p:sp>
      <p:sp>
        <p:nvSpPr>
          <p:cNvPr id="45" name="Text 43"/>
          <p:cNvSpPr/>
          <p:nvPr/>
        </p:nvSpPr>
        <p:spPr>
          <a:xfrm>
            <a:off x="566928" y="3749040"/>
            <a:ext cx="2926080" cy="237744"/>
          </a:xfrm>
          <a:prstGeom prst="rect">
            <a:avLst/>
          </a:prstGeom>
          <a:noFill/>
          <a:ln/>
        </p:spPr>
        <p:txBody>
          <a:bodyPr wrap="square" lIns="0" tIns="0" rIns="0" bIns="0" rtlCol="0" anchor="ctr"/>
          <a:lstStyle/>
          <a:p>
            <a:pPr indent="0" marL="0">
              <a:buNone/>
            </a:pPr>
            <a:r>
              <a:rPr lang="en-US" sz="1000" i="1" dirty="0">
                <a:solidFill>
                  <a:srgbClr val="8896AB"/>
                </a:solidFill>
                <a:latin typeface="Calibri" pitchFamily="34" charset="0"/>
                <a:ea typeface="Calibri" pitchFamily="34" charset="-122"/>
                <a:cs typeface="Calibri" pitchFamily="34" charset="-120"/>
              </a:rPr>
              <a:t>Production quality, needs key</a:t>
            </a:r>
            <a:endParaRPr lang="en-US" sz="1000" dirty="0"/>
          </a:p>
        </p:txBody>
      </p:sp>
      <p:sp>
        <p:nvSpPr>
          <p:cNvPr id="46" name="Shape 44"/>
          <p:cNvSpPr/>
          <p:nvPr/>
        </p:nvSpPr>
        <p:spPr>
          <a:xfrm>
            <a:off x="3639312" y="3465576"/>
            <a:ext cx="1188720" cy="201168"/>
          </a:xfrm>
          <a:prstGeom prst="rect">
            <a:avLst/>
          </a:prstGeom>
          <a:solidFill>
            <a:srgbClr val="1A4B8C"/>
          </a:solidFill>
          <a:ln w="12700">
            <a:solidFill>
              <a:srgbClr val="1A4B8C"/>
            </a:solidFill>
            <a:prstDash val="solid"/>
          </a:ln>
        </p:spPr>
      </p:sp>
      <p:sp>
        <p:nvSpPr>
          <p:cNvPr id="47" name="Text 45"/>
          <p:cNvSpPr/>
          <p:nvPr/>
        </p:nvSpPr>
        <p:spPr>
          <a:xfrm>
            <a:off x="3639312" y="3465576"/>
            <a:ext cx="11887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Dimensions</a:t>
            </a:r>
            <a:endParaRPr lang="en-US" sz="800" dirty="0"/>
          </a:p>
        </p:txBody>
      </p:sp>
      <p:sp>
        <p:nvSpPr>
          <p:cNvPr id="48" name="Text 46"/>
          <p:cNvSpPr/>
          <p:nvPr/>
        </p:nvSpPr>
        <p:spPr>
          <a:xfrm>
            <a:off x="3639312" y="3694176"/>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1536</a:t>
            </a:r>
            <a:endParaRPr lang="en-US" sz="1050" dirty="0"/>
          </a:p>
        </p:txBody>
      </p:sp>
      <p:sp>
        <p:nvSpPr>
          <p:cNvPr id="49" name="Shape 47"/>
          <p:cNvSpPr/>
          <p:nvPr/>
        </p:nvSpPr>
        <p:spPr>
          <a:xfrm>
            <a:off x="4937760" y="3465576"/>
            <a:ext cx="1188720" cy="201168"/>
          </a:xfrm>
          <a:prstGeom prst="rect">
            <a:avLst/>
          </a:prstGeom>
          <a:solidFill>
            <a:srgbClr val="00879E"/>
          </a:solidFill>
          <a:ln w="12700">
            <a:solidFill>
              <a:srgbClr val="00879E"/>
            </a:solidFill>
            <a:prstDash val="solid"/>
          </a:ln>
        </p:spPr>
      </p:sp>
      <p:sp>
        <p:nvSpPr>
          <p:cNvPr id="50" name="Text 48"/>
          <p:cNvSpPr/>
          <p:nvPr/>
        </p:nvSpPr>
        <p:spPr>
          <a:xfrm>
            <a:off x="4937760" y="3465576"/>
            <a:ext cx="11887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Speed</a:t>
            </a:r>
            <a:endParaRPr lang="en-US" sz="800" dirty="0"/>
          </a:p>
        </p:txBody>
      </p:sp>
      <p:sp>
        <p:nvSpPr>
          <p:cNvPr id="51" name="Text 49"/>
          <p:cNvSpPr/>
          <p:nvPr/>
        </p:nvSpPr>
        <p:spPr>
          <a:xfrm>
            <a:off x="4937760" y="3694176"/>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Fast (API)</a:t>
            </a:r>
            <a:endParaRPr lang="en-US" sz="1050" dirty="0"/>
          </a:p>
        </p:txBody>
      </p:sp>
      <p:sp>
        <p:nvSpPr>
          <p:cNvPr id="52" name="Shape 50"/>
          <p:cNvSpPr/>
          <p:nvPr/>
        </p:nvSpPr>
        <p:spPr>
          <a:xfrm>
            <a:off x="6236208" y="3465576"/>
            <a:ext cx="1188720" cy="201168"/>
          </a:xfrm>
          <a:prstGeom prst="rect">
            <a:avLst/>
          </a:prstGeom>
          <a:solidFill>
            <a:srgbClr val="2E7D32"/>
          </a:solidFill>
          <a:ln w="12700">
            <a:solidFill>
              <a:srgbClr val="2E7D32"/>
            </a:solidFill>
            <a:prstDash val="solid"/>
          </a:ln>
        </p:spPr>
      </p:sp>
      <p:sp>
        <p:nvSpPr>
          <p:cNvPr id="53" name="Text 51"/>
          <p:cNvSpPr/>
          <p:nvPr/>
        </p:nvSpPr>
        <p:spPr>
          <a:xfrm>
            <a:off x="6236208" y="3465576"/>
            <a:ext cx="11887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Quality</a:t>
            </a:r>
            <a:endParaRPr lang="en-US" sz="800" dirty="0"/>
          </a:p>
        </p:txBody>
      </p:sp>
      <p:sp>
        <p:nvSpPr>
          <p:cNvPr id="54" name="Text 52"/>
          <p:cNvSpPr/>
          <p:nvPr/>
        </p:nvSpPr>
        <p:spPr>
          <a:xfrm>
            <a:off x="6236208" y="3694176"/>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High</a:t>
            </a:r>
            <a:endParaRPr lang="en-US" sz="1050" dirty="0"/>
          </a:p>
        </p:txBody>
      </p:sp>
      <p:sp>
        <p:nvSpPr>
          <p:cNvPr id="55" name="Shape 53"/>
          <p:cNvSpPr/>
          <p:nvPr/>
        </p:nvSpPr>
        <p:spPr>
          <a:xfrm>
            <a:off x="7534656" y="3465576"/>
            <a:ext cx="1188720" cy="201168"/>
          </a:xfrm>
          <a:prstGeom prst="rect">
            <a:avLst/>
          </a:prstGeom>
          <a:solidFill>
            <a:srgbClr val="D4891A"/>
          </a:solidFill>
          <a:ln w="12700">
            <a:solidFill>
              <a:srgbClr val="D4891A"/>
            </a:solidFill>
            <a:prstDash val="solid"/>
          </a:ln>
        </p:spPr>
      </p:sp>
      <p:sp>
        <p:nvSpPr>
          <p:cNvPr id="56" name="Text 54"/>
          <p:cNvSpPr/>
          <p:nvPr/>
        </p:nvSpPr>
        <p:spPr>
          <a:xfrm>
            <a:off x="7534656" y="3465576"/>
            <a:ext cx="1188720" cy="201168"/>
          </a:xfrm>
          <a:prstGeom prst="rect">
            <a:avLst/>
          </a:prstGeom>
          <a:noFill/>
          <a:ln/>
        </p:spPr>
        <p:txBody>
          <a:bodyPr wrap="square" lIns="0" tIns="0" rIns="0" bIns="0" rtlCol="0" anchor="ctr"/>
          <a:lstStyle/>
          <a:p>
            <a:pPr algn="ctr" indent="0" marL="0">
              <a:buNone/>
            </a:pPr>
            <a:r>
              <a:rPr lang="en-US" sz="800" b="1" dirty="0">
                <a:solidFill>
                  <a:srgbClr val="0D2349"/>
                </a:solidFill>
                <a:latin typeface="Calibri" pitchFamily="34" charset="0"/>
                <a:ea typeface="Calibri" pitchFamily="34" charset="-122"/>
                <a:cs typeface="Calibri" pitchFamily="34" charset="-120"/>
              </a:rPr>
              <a:t>Cost</a:t>
            </a:r>
            <a:endParaRPr lang="en-US" sz="800" dirty="0"/>
          </a:p>
        </p:txBody>
      </p:sp>
      <p:sp>
        <p:nvSpPr>
          <p:cNvPr id="57" name="Text 55"/>
          <p:cNvSpPr/>
          <p:nvPr/>
        </p:nvSpPr>
        <p:spPr>
          <a:xfrm>
            <a:off x="7534656" y="3694176"/>
            <a:ext cx="1188720" cy="310896"/>
          </a:xfrm>
          <a:prstGeom prst="rect">
            <a:avLst/>
          </a:prstGeom>
          <a:noFill/>
          <a:ln/>
        </p:spPr>
        <p:txBody>
          <a:bodyPr wrap="square" lIns="0" tIns="0" rIns="0" bIns="0" rtlCol="0" anchor="ctr"/>
          <a:lstStyle/>
          <a:p>
            <a:pPr algn="ctr" indent="0" marL="0">
              <a:buNone/>
            </a:pPr>
            <a:r>
              <a:rPr lang="en-US" sz="1050" b="1" dirty="0">
                <a:solidFill>
                  <a:srgbClr val="2D3A4A"/>
                </a:solidFill>
                <a:latin typeface="Calibri" pitchFamily="34" charset="0"/>
                <a:ea typeface="Calibri" pitchFamily="34" charset="-122"/>
                <a:cs typeface="Calibri" pitchFamily="34" charset="-120"/>
              </a:rPr>
              <a:t>Paid – OpenAI</a:t>
            </a:r>
            <a:endParaRPr lang="en-US" sz="1050" dirty="0"/>
          </a:p>
        </p:txBody>
      </p:sp>
      <p:sp>
        <p:nvSpPr>
          <p:cNvPr id="58" name="Shape 56"/>
          <p:cNvSpPr/>
          <p:nvPr/>
        </p:nvSpPr>
        <p:spPr>
          <a:xfrm>
            <a:off x="347472" y="4498848"/>
            <a:ext cx="8449056" cy="292608"/>
          </a:xfrm>
          <a:prstGeom prst="rect">
            <a:avLst/>
          </a:prstGeom>
          <a:solidFill>
            <a:srgbClr val="D4891A"/>
          </a:solidFill>
          <a:ln w="12700">
            <a:solidFill>
              <a:srgbClr val="D4891A"/>
            </a:solidFill>
            <a:prstDash val="solid"/>
          </a:ln>
        </p:spPr>
      </p:sp>
      <p:sp>
        <p:nvSpPr>
          <p:cNvPr id="59" name="Text 57"/>
          <p:cNvSpPr/>
          <p:nvPr/>
        </p:nvSpPr>
        <p:spPr>
          <a:xfrm>
            <a:off x="457200" y="4498848"/>
            <a:ext cx="8321040" cy="292608"/>
          </a:xfrm>
          <a:prstGeom prst="rect">
            <a:avLst/>
          </a:prstGeom>
          <a:noFill/>
          <a:ln/>
        </p:spPr>
        <p:txBody>
          <a:bodyPr wrap="square" lIns="0" tIns="0" rIns="0" bIns="0" rtlCol="0" anchor="ctr"/>
          <a:lstStyle/>
          <a:p>
            <a:pPr algn="ctr" indent="0" marL="0">
              <a:buNone/>
            </a:pPr>
            <a:r>
              <a:rPr lang="en-US" sz="1050" b="1" dirty="0">
                <a:solidFill>
                  <a:srgbClr val="0D2349"/>
                </a:solidFill>
                <a:latin typeface="Calibri" pitchFamily="34" charset="0"/>
                <a:ea typeface="Calibri" pitchFamily="34" charset="-122"/>
                <a:cs typeface="Calibri" pitchFamily="34" charset="-120"/>
              </a:rPr>
              <a:t>More dimensions = more nuance, but more storage.  Local = free &amp; private.  API = higher quality but costs money.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34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929"/>
          </a:solidFill>
          <a:ln w="12700">
            <a:solidFill>
              <a:srgbClr val="0A192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Keyword Search vs Semantic Search</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Shape 4"/>
          <p:cNvSpPr/>
          <p:nvPr/>
        </p:nvSpPr>
        <p:spPr>
          <a:xfrm>
            <a:off x="0" y="4937760"/>
            <a:ext cx="9144000" cy="205740"/>
          </a:xfrm>
          <a:prstGeom prst="rect">
            <a:avLst/>
          </a:prstGeom>
          <a:solidFill>
            <a:srgbClr val="0D2349"/>
          </a:solidFill>
          <a:ln w="12700">
            <a:solidFill>
              <a:srgbClr val="0D2349"/>
            </a:solidFill>
            <a:prstDash val="solid"/>
          </a:ln>
        </p:spPr>
      </p:sp>
      <p:sp>
        <p:nvSpPr>
          <p:cNvPr id="7" name="Text 5"/>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8" name="Shape 6"/>
          <p:cNvSpPr/>
          <p:nvPr/>
        </p:nvSpPr>
        <p:spPr>
          <a:xfrm>
            <a:off x="347472" y="777240"/>
            <a:ext cx="8449056" cy="274320"/>
          </a:xfrm>
          <a:prstGeom prst="rect">
            <a:avLst/>
          </a:prstGeom>
          <a:solidFill>
            <a:srgbClr val="D4891A"/>
          </a:solidFill>
          <a:ln w="12700">
            <a:solidFill>
              <a:srgbClr val="D4891A"/>
            </a:solidFill>
            <a:prstDash val="solid"/>
          </a:ln>
        </p:spPr>
      </p:sp>
      <p:sp>
        <p:nvSpPr>
          <p:cNvPr id="9" name="Text 7"/>
          <p:cNvSpPr/>
          <p:nvPr/>
        </p:nvSpPr>
        <p:spPr>
          <a:xfrm>
            <a:off x="457200" y="777240"/>
            <a:ext cx="8321040" cy="274320"/>
          </a:xfrm>
          <a:prstGeom prst="rect">
            <a:avLst/>
          </a:prstGeom>
          <a:noFill/>
          <a:ln/>
        </p:spPr>
        <p:txBody>
          <a:bodyPr wrap="square" lIns="0" tIns="0" rIns="0" bIns="0" rtlCol="0" anchor="ctr"/>
          <a:lstStyle/>
          <a:p>
            <a:pPr algn="ctr" indent="0" marL="0">
              <a:buNone/>
            </a:pPr>
            <a:r>
              <a:rPr lang="en-US" sz="1200" b="1" dirty="0">
                <a:solidFill>
                  <a:srgbClr val="0D2349"/>
                </a:solidFill>
                <a:latin typeface="Consolas" pitchFamily="34" charset="0"/>
                <a:ea typeface="Consolas" pitchFamily="34" charset="-122"/>
                <a:cs typeface="Consolas" pitchFamily="34" charset="-120"/>
              </a:rPr>
              <a:t>Query: "Who founded the company?"</a:t>
            </a:r>
            <a:endParaRPr lang="en-US" sz="1200" dirty="0"/>
          </a:p>
        </p:txBody>
      </p:sp>
      <p:sp>
        <p:nvSpPr>
          <p:cNvPr id="10" name="Shape 8"/>
          <p:cNvSpPr/>
          <p:nvPr/>
        </p:nvSpPr>
        <p:spPr>
          <a:xfrm>
            <a:off x="274320" y="1115568"/>
            <a:ext cx="4160520" cy="347472"/>
          </a:xfrm>
          <a:prstGeom prst="rect">
            <a:avLst/>
          </a:prstGeom>
          <a:solidFill>
            <a:srgbClr val="8896AB"/>
          </a:solidFill>
          <a:ln w="12700">
            <a:solidFill>
              <a:srgbClr val="8896AB"/>
            </a:solidFill>
            <a:prstDash val="solid"/>
          </a:ln>
        </p:spPr>
      </p:sp>
      <p:sp>
        <p:nvSpPr>
          <p:cNvPr id="11" name="Text 9"/>
          <p:cNvSpPr/>
          <p:nvPr/>
        </p:nvSpPr>
        <p:spPr>
          <a:xfrm>
            <a:off x="274320" y="1115568"/>
            <a:ext cx="416052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Trebuchet MS" pitchFamily="34" charset="0"/>
                <a:ea typeface="Trebuchet MS" pitchFamily="34" charset="-122"/>
                <a:cs typeface="Trebuchet MS" pitchFamily="34" charset="-120"/>
              </a:rPr>
              <a:t>KEYWORD SEARCH</a:t>
            </a:r>
            <a:endParaRPr lang="en-US" sz="1100" dirty="0"/>
          </a:p>
        </p:txBody>
      </p:sp>
      <p:sp>
        <p:nvSpPr>
          <p:cNvPr id="12" name="Shape 10"/>
          <p:cNvSpPr/>
          <p:nvPr/>
        </p:nvSpPr>
        <p:spPr>
          <a:xfrm>
            <a:off x="274320" y="1517904"/>
            <a:ext cx="4160520" cy="548640"/>
          </a:xfrm>
          <a:prstGeom prst="rect">
            <a:avLst/>
          </a:prstGeom>
          <a:solidFill>
            <a:srgbClr val="1E2940"/>
          </a:solidFill>
          <a:ln w="12700">
            <a:solidFill>
              <a:srgbClr val="8896AB"/>
            </a:solidFill>
            <a:prstDash val="solid"/>
          </a:ln>
        </p:spPr>
      </p:sp>
      <p:sp>
        <p:nvSpPr>
          <p:cNvPr id="13" name="Text 11"/>
          <p:cNvSpPr/>
          <p:nvPr/>
        </p:nvSpPr>
        <p:spPr>
          <a:xfrm>
            <a:off x="411480" y="1554480"/>
            <a:ext cx="384048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Looks for exact words: "founded", "company"</a:t>
            </a:r>
            <a:endParaRPr lang="en-US" sz="1050" dirty="0"/>
          </a:p>
        </p:txBody>
      </p:sp>
      <p:sp>
        <p:nvSpPr>
          <p:cNvPr id="14" name="Shape 12"/>
          <p:cNvSpPr/>
          <p:nvPr/>
        </p:nvSpPr>
        <p:spPr>
          <a:xfrm>
            <a:off x="347472" y="2148840"/>
            <a:ext cx="3986784" cy="493776"/>
          </a:xfrm>
          <a:prstGeom prst="rect">
            <a:avLst/>
          </a:prstGeom>
          <a:solidFill>
            <a:srgbClr val="1A3A2A"/>
          </a:solidFill>
          <a:ln w="12700">
            <a:solidFill>
              <a:srgbClr val="2E7D32"/>
            </a:solidFill>
            <a:prstDash val="solid"/>
          </a:ln>
        </p:spPr>
      </p:sp>
      <p:sp>
        <p:nvSpPr>
          <p:cNvPr id="15" name="Text 13"/>
          <p:cNvSpPr/>
          <p:nvPr/>
        </p:nvSpPr>
        <p:spPr>
          <a:xfrm>
            <a:off x="475488" y="2203704"/>
            <a:ext cx="1463040" cy="256032"/>
          </a:xfrm>
          <a:prstGeom prst="rect">
            <a:avLst/>
          </a:prstGeom>
          <a:noFill/>
          <a:ln/>
        </p:spPr>
        <p:txBody>
          <a:bodyPr wrap="square" lIns="0" tIns="0" rIns="0" bIns="0" rtlCol="0" anchor="ctr"/>
          <a:lstStyle/>
          <a:p>
            <a:pPr indent="0" marL="0">
              <a:buNone/>
            </a:pPr>
            <a:r>
              <a:rPr lang="en-US" sz="1050" b="1" dirty="0">
                <a:solidFill>
                  <a:srgbClr val="4EC9B0"/>
                </a:solidFill>
                <a:latin typeface="Consolas" pitchFamily="34" charset="0"/>
                <a:ea typeface="Consolas" pitchFamily="34" charset="-122"/>
                <a:cs typeface="Consolas" pitchFamily="34" charset="-120"/>
              </a:rPr>
              <a:t>company_doc</a:t>
            </a:r>
            <a:endParaRPr lang="en-US" sz="1050" dirty="0"/>
          </a:p>
        </p:txBody>
      </p:sp>
      <p:sp>
        <p:nvSpPr>
          <p:cNvPr id="16" name="Text 14"/>
          <p:cNvSpPr/>
          <p:nvPr/>
        </p:nvSpPr>
        <p:spPr>
          <a:xfrm>
            <a:off x="2011680" y="2203704"/>
            <a:ext cx="1645920" cy="256032"/>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  has "company"</a:t>
            </a:r>
            <a:endParaRPr lang="en-US" sz="1050" dirty="0"/>
          </a:p>
        </p:txBody>
      </p:sp>
      <p:sp>
        <p:nvSpPr>
          <p:cNvPr id="17" name="Shape 15"/>
          <p:cNvSpPr/>
          <p:nvPr/>
        </p:nvSpPr>
        <p:spPr>
          <a:xfrm>
            <a:off x="347472" y="2752344"/>
            <a:ext cx="3986784" cy="493776"/>
          </a:xfrm>
          <a:prstGeom prst="rect">
            <a:avLst/>
          </a:prstGeom>
          <a:solidFill>
            <a:srgbClr val="3A1A1A"/>
          </a:solidFill>
          <a:ln w="12700">
            <a:solidFill>
              <a:srgbClr val="C62828"/>
            </a:solidFill>
            <a:prstDash val="solid"/>
          </a:ln>
        </p:spPr>
      </p:sp>
      <p:sp>
        <p:nvSpPr>
          <p:cNvPr id="18" name="Text 16"/>
          <p:cNvSpPr/>
          <p:nvPr/>
        </p:nvSpPr>
        <p:spPr>
          <a:xfrm>
            <a:off x="475488" y="2807208"/>
            <a:ext cx="1463040" cy="256032"/>
          </a:xfrm>
          <a:prstGeom prst="rect">
            <a:avLst/>
          </a:prstGeom>
          <a:noFill/>
          <a:ln/>
        </p:spPr>
        <p:txBody>
          <a:bodyPr wrap="square" lIns="0" tIns="0" rIns="0" bIns="0" rtlCol="0" anchor="ctr"/>
          <a:lstStyle/>
          <a:p>
            <a:pPr indent="0" marL="0">
              <a:buNone/>
            </a:pPr>
            <a:r>
              <a:rPr lang="en-US" sz="1050" b="1" dirty="0">
                <a:solidFill>
                  <a:srgbClr val="8896AB"/>
                </a:solidFill>
                <a:latin typeface="Consolas" pitchFamily="34" charset="0"/>
                <a:ea typeface="Consolas" pitchFamily="34" charset="-122"/>
                <a:cs typeface="Consolas" pitchFamily="34" charset="-120"/>
              </a:rPr>
              <a:t>priya_doc</a:t>
            </a:r>
            <a:endParaRPr lang="en-US" sz="1050" dirty="0"/>
          </a:p>
        </p:txBody>
      </p:sp>
      <p:sp>
        <p:nvSpPr>
          <p:cNvPr id="19" name="Text 17"/>
          <p:cNvSpPr/>
          <p:nvPr/>
        </p:nvSpPr>
        <p:spPr>
          <a:xfrm>
            <a:off x="2011680" y="2807208"/>
            <a:ext cx="1645920" cy="256032"/>
          </a:xfrm>
          <a:prstGeom prst="rect">
            <a:avLst/>
          </a:prstGeom>
          <a:noFill/>
          <a:ln/>
        </p:spPr>
        <p:txBody>
          <a:bodyPr wrap="square" lIns="0" tIns="0" rIns="0" bIns="0"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  no "founded"</a:t>
            </a:r>
            <a:endParaRPr lang="en-US" sz="1050" dirty="0"/>
          </a:p>
        </p:txBody>
      </p:sp>
      <p:sp>
        <p:nvSpPr>
          <p:cNvPr id="20" name="Text 18"/>
          <p:cNvSpPr/>
          <p:nvPr/>
        </p:nvSpPr>
        <p:spPr>
          <a:xfrm>
            <a:off x="475488" y="3026664"/>
            <a:ext cx="3749040" cy="182880"/>
          </a:xfrm>
          <a:prstGeom prst="rect">
            <a:avLst/>
          </a:prstGeom>
          <a:noFill/>
          <a:ln/>
        </p:spPr>
        <p:txBody>
          <a:bodyPr wrap="square" lIns="0" tIns="0" rIns="0" bIns="0" rtlCol="0" anchor="ctr"/>
          <a:lstStyle/>
          <a:p>
            <a:pPr indent="0" marL="0">
              <a:buNone/>
            </a:pPr>
            <a:r>
              <a:rPr lang="en-US" sz="900" i="1" dirty="0">
                <a:solidFill>
                  <a:srgbClr val="C62828"/>
                </a:solidFill>
                <a:latin typeface="Calibri" pitchFamily="34" charset="0"/>
                <a:ea typeface="Calibri" pitchFamily="34" charset="-122"/>
                <a:cs typeface="Calibri" pitchFamily="34" charset="-120"/>
              </a:rPr>
              <a:t>MISSED — but this has the answer!</a:t>
            </a:r>
            <a:endParaRPr lang="en-US" sz="900" dirty="0"/>
          </a:p>
        </p:txBody>
      </p:sp>
      <p:sp>
        <p:nvSpPr>
          <p:cNvPr id="21" name="Shape 19"/>
          <p:cNvSpPr/>
          <p:nvPr/>
        </p:nvSpPr>
        <p:spPr>
          <a:xfrm>
            <a:off x="347472" y="3355848"/>
            <a:ext cx="3986784" cy="493776"/>
          </a:xfrm>
          <a:prstGeom prst="rect">
            <a:avLst/>
          </a:prstGeom>
          <a:solidFill>
            <a:srgbClr val="1A2535"/>
          </a:solidFill>
          <a:ln w="12700">
            <a:solidFill>
              <a:srgbClr val="8896AB"/>
            </a:solidFill>
            <a:prstDash val="solid"/>
          </a:ln>
        </p:spPr>
      </p:sp>
      <p:sp>
        <p:nvSpPr>
          <p:cNvPr id="22" name="Text 20"/>
          <p:cNvSpPr/>
          <p:nvPr/>
        </p:nvSpPr>
        <p:spPr>
          <a:xfrm>
            <a:off x="475488" y="3410712"/>
            <a:ext cx="1463040" cy="256032"/>
          </a:xfrm>
          <a:prstGeom prst="rect">
            <a:avLst/>
          </a:prstGeom>
          <a:noFill/>
          <a:ln/>
        </p:spPr>
        <p:txBody>
          <a:bodyPr wrap="square" lIns="0" tIns="0" rIns="0" bIns="0" rtlCol="0" anchor="ctr"/>
          <a:lstStyle/>
          <a:p>
            <a:pPr indent="0" marL="0">
              <a:buNone/>
            </a:pPr>
            <a:r>
              <a:rPr lang="en-US" sz="1050" b="1" dirty="0">
                <a:solidFill>
                  <a:srgbClr val="8896AB"/>
                </a:solidFill>
                <a:latin typeface="Consolas" pitchFamily="34" charset="0"/>
                <a:ea typeface="Consolas" pitchFamily="34" charset="-122"/>
                <a:cs typeface="Consolas" pitchFamily="34" charset="-120"/>
              </a:rPr>
              <a:t>products_doc</a:t>
            </a:r>
            <a:endParaRPr lang="en-US" sz="1050" dirty="0"/>
          </a:p>
        </p:txBody>
      </p:sp>
      <p:sp>
        <p:nvSpPr>
          <p:cNvPr id="23" name="Text 21"/>
          <p:cNvSpPr/>
          <p:nvPr/>
        </p:nvSpPr>
        <p:spPr>
          <a:xfrm>
            <a:off x="2011680" y="3410712"/>
            <a:ext cx="1645920" cy="256032"/>
          </a:xfrm>
          <a:prstGeom prst="rect">
            <a:avLst/>
          </a:prstGeom>
          <a:noFill/>
          <a:ln/>
        </p:spPr>
        <p:txBody>
          <a:bodyPr wrap="square" lIns="0" tIns="0" rIns="0" bIns="0"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  no match</a:t>
            </a:r>
            <a:endParaRPr lang="en-US" sz="1050" dirty="0"/>
          </a:p>
        </p:txBody>
      </p:sp>
      <p:sp>
        <p:nvSpPr>
          <p:cNvPr id="24" name="Shape 22"/>
          <p:cNvSpPr/>
          <p:nvPr/>
        </p:nvSpPr>
        <p:spPr>
          <a:xfrm>
            <a:off x="274320" y="3968496"/>
            <a:ext cx="4160520" cy="475488"/>
          </a:xfrm>
          <a:prstGeom prst="rect">
            <a:avLst/>
          </a:prstGeom>
          <a:solidFill>
            <a:srgbClr val="000000"/>
          </a:solidFill>
          <a:ln w="12700">
            <a:solidFill>
              <a:srgbClr val="C62828"/>
            </a:solidFill>
            <a:prstDash val="solid"/>
          </a:ln>
        </p:spPr>
      </p:sp>
      <p:sp>
        <p:nvSpPr>
          <p:cNvPr id="25" name="Text 23"/>
          <p:cNvSpPr/>
          <p:nvPr/>
        </p:nvSpPr>
        <p:spPr>
          <a:xfrm>
            <a:off x="402336" y="3968496"/>
            <a:ext cx="3913632" cy="475488"/>
          </a:xfrm>
          <a:prstGeom prst="rect">
            <a:avLst/>
          </a:prstGeom>
          <a:noFill/>
          <a:ln/>
        </p:spPr>
        <p:txBody>
          <a:bodyPr wrap="square" lIns="0" tIns="0" rIns="0" bIns="0"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Result: Returns company_doc only.</a:t>
            </a:r>
            <a:endParaRPr lang="en-US" sz="1000" dirty="0"/>
          </a:p>
          <a:p>
            <a:pPr indent="0" marL="0">
              <a:buNone/>
            </a:pPr>
            <a:r>
              <a:rPr lang="en-US" sz="1000" b="1" dirty="0">
                <a:solidFill>
                  <a:srgbClr val="C62828"/>
                </a:solidFill>
                <a:latin typeface="Calibri" pitchFamily="34" charset="0"/>
                <a:ea typeface="Calibri" pitchFamily="34" charset="-122"/>
                <a:cs typeface="Calibri" pitchFamily="34" charset="-120"/>
              </a:rPr>
              <a:t>The actual answer (Priya) is never found.</a:t>
            </a:r>
            <a:endParaRPr lang="en-US" sz="1000" dirty="0"/>
          </a:p>
        </p:txBody>
      </p:sp>
      <p:sp>
        <p:nvSpPr>
          <p:cNvPr id="26" name="Shape 24"/>
          <p:cNvSpPr/>
          <p:nvPr/>
        </p:nvSpPr>
        <p:spPr>
          <a:xfrm>
            <a:off x="4709160" y="1115568"/>
            <a:ext cx="4160520" cy="347472"/>
          </a:xfrm>
          <a:prstGeom prst="rect">
            <a:avLst/>
          </a:prstGeom>
          <a:solidFill>
            <a:srgbClr val="00879E"/>
          </a:solidFill>
          <a:ln w="12700">
            <a:solidFill>
              <a:srgbClr val="00879E"/>
            </a:solidFill>
            <a:prstDash val="solid"/>
          </a:ln>
        </p:spPr>
      </p:sp>
      <p:sp>
        <p:nvSpPr>
          <p:cNvPr id="27" name="Text 25"/>
          <p:cNvSpPr/>
          <p:nvPr/>
        </p:nvSpPr>
        <p:spPr>
          <a:xfrm>
            <a:off x="4709160" y="1115568"/>
            <a:ext cx="416052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Trebuchet MS" pitchFamily="34" charset="0"/>
                <a:ea typeface="Trebuchet MS" pitchFamily="34" charset="-122"/>
                <a:cs typeface="Trebuchet MS" pitchFamily="34" charset="-120"/>
              </a:rPr>
              <a:t>SEMANTIC SEARCH</a:t>
            </a:r>
            <a:endParaRPr lang="en-US" sz="1100" dirty="0"/>
          </a:p>
        </p:txBody>
      </p:sp>
      <p:sp>
        <p:nvSpPr>
          <p:cNvPr id="28" name="Shape 26"/>
          <p:cNvSpPr/>
          <p:nvPr/>
        </p:nvSpPr>
        <p:spPr>
          <a:xfrm>
            <a:off x="4709160" y="1517904"/>
            <a:ext cx="4160520" cy="548640"/>
          </a:xfrm>
          <a:prstGeom prst="rect">
            <a:avLst/>
          </a:prstGeom>
          <a:solidFill>
            <a:srgbClr val="0D2F3A"/>
          </a:solidFill>
          <a:ln w="12700">
            <a:solidFill>
              <a:srgbClr val="00879E"/>
            </a:solidFill>
            <a:prstDash val="solid"/>
          </a:ln>
        </p:spPr>
      </p:sp>
      <p:sp>
        <p:nvSpPr>
          <p:cNvPr id="29" name="Text 27"/>
          <p:cNvSpPr/>
          <p:nvPr/>
        </p:nvSpPr>
        <p:spPr>
          <a:xfrm>
            <a:off x="4828032" y="1554480"/>
            <a:ext cx="3913632" cy="457200"/>
          </a:xfrm>
          <a:prstGeom prst="rect">
            <a:avLst/>
          </a:prstGeom>
          <a:noFill/>
          <a:ln/>
        </p:spPr>
        <p:txBody>
          <a:bodyPr wrap="square" lIns="0" tIns="0" rIns="0" bIns="0" rtlCol="0" anchor="ctr"/>
          <a:lstStyle/>
          <a:p>
            <a:pPr indent="0" marL="0">
              <a:buNone/>
            </a:pPr>
            <a:r>
              <a:rPr lang="en-US" sz="1000" dirty="0">
                <a:solidFill>
                  <a:srgbClr val="8896AB"/>
                </a:solidFill>
                <a:latin typeface="Consolas" pitchFamily="34" charset="0"/>
                <a:ea typeface="Consolas" pitchFamily="34" charset="-122"/>
                <a:cs typeface="Consolas" pitchFamily="34" charset="-120"/>
              </a:rPr>
              <a:t>Converts to embedding: </a:t>
            </a:r>
            <a:pPr indent="0" marL="0">
              <a:buNone/>
            </a:pPr>
            <a:r>
              <a:rPr lang="en-US" sz="1000" dirty="0">
                <a:solidFill>
                  <a:srgbClr val="4EC9B0"/>
                </a:solidFill>
                <a:latin typeface="Consolas" pitchFamily="34" charset="0"/>
                <a:ea typeface="Consolas" pitchFamily="34" charset="-122"/>
                <a:cs typeface="Consolas" pitchFamily="34" charset="-120"/>
              </a:rPr>
              <a:t>[0.23, -0.41, 0.67, ...]</a:t>
            </a:r>
            <a:endParaRPr lang="en-US" sz="1000" dirty="0"/>
          </a:p>
        </p:txBody>
      </p:sp>
      <p:sp>
        <p:nvSpPr>
          <p:cNvPr id="30" name="Shape 28"/>
          <p:cNvSpPr/>
          <p:nvPr/>
        </p:nvSpPr>
        <p:spPr>
          <a:xfrm>
            <a:off x="4709160" y="2148840"/>
            <a:ext cx="4114800" cy="493776"/>
          </a:xfrm>
          <a:prstGeom prst="rect">
            <a:avLst/>
          </a:prstGeom>
          <a:solidFill>
            <a:srgbClr val="0D2F3A"/>
          </a:solidFill>
          <a:ln w="12700">
            <a:solidFill>
              <a:srgbClr val="00879E"/>
            </a:solidFill>
            <a:prstDash val="solid"/>
          </a:ln>
        </p:spPr>
      </p:sp>
      <p:sp>
        <p:nvSpPr>
          <p:cNvPr id="31" name="Text 29"/>
          <p:cNvSpPr/>
          <p:nvPr/>
        </p:nvSpPr>
        <p:spPr>
          <a:xfrm>
            <a:off x="4828032" y="2203704"/>
            <a:ext cx="1508760" cy="256032"/>
          </a:xfrm>
          <a:prstGeom prst="rect">
            <a:avLst/>
          </a:prstGeom>
          <a:noFill/>
          <a:ln/>
        </p:spPr>
        <p:txBody>
          <a:bodyPr wrap="square" lIns="0" tIns="0" rIns="0" bIns="0" rtlCol="0" anchor="ctr"/>
          <a:lstStyle/>
          <a:p>
            <a:pPr indent="0" marL="0">
              <a:buNone/>
            </a:pPr>
            <a:r>
              <a:rPr lang="en-US" sz="1050" b="1" dirty="0">
                <a:solidFill>
                  <a:srgbClr val="4EC9B0"/>
                </a:solidFill>
                <a:latin typeface="Consolas" pitchFamily="34" charset="0"/>
                <a:ea typeface="Consolas" pitchFamily="34" charset="-122"/>
                <a:cs typeface="Consolas" pitchFamily="34" charset="-120"/>
              </a:rPr>
              <a:t>priya_doc</a:t>
            </a:r>
            <a:endParaRPr lang="en-US" sz="1050" dirty="0"/>
          </a:p>
        </p:txBody>
      </p:sp>
      <p:sp>
        <p:nvSpPr>
          <p:cNvPr id="32" name="Shape 30"/>
          <p:cNvSpPr/>
          <p:nvPr/>
        </p:nvSpPr>
        <p:spPr>
          <a:xfrm>
            <a:off x="6419088" y="2258568"/>
            <a:ext cx="2011680" cy="164592"/>
          </a:xfrm>
          <a:prstGeom prst="rect">
            <a:avLst/>
          </a:prstGeom>
          <a:solidFill>
            <a:srgbClr val="1A3A4A"/>
          </a:solidFill>
          <a:ln w="12700">
            <a:solidFill>
              <a:srgbClr val="1A3A4A"/>
            </a:solidFill>
            <a:prstDash val="solid"/>
          </a:ln>
        </p:spPr>
      </p:sp>
      <p:sp>
        <p:nvSpPr>
          <p:cNvPr id="33" name="Shape 31"/>
          <p:cNvSpPr/>
          <p:nvPr/>
        </p:nvSpPr>
        <p:spPr>
          <a:xfrm>
            <a:off x="6419088" y="2258568"/>
            <a:ext cx="1448410" cy="164592"/>
          </a:xfrm>
          <a:prstGeom prst="rect">
            <a:avLst/>
          </a:prstGeom>
          <a:solidFill>
            <a:srgbClr val="00879E"/>
          </a:solidFill>
          <a:ln w="12700">
            <a:solidFill>
              <a:srgbClr val="00879E"/>
            </a:solidFill>
            <a:prstDash val="solid"/>
          </a:ln>
        </p:spPr>
      </p:sp>
      <p:sp>
        <p:nvSpPr>
          <p:cNvPr id="34" name="Text 32"/>
          <p:cNvSpPr/>
          <p:nvPr/>
        </p:nvSpPr>
        <p:spPr>
          <a:xfrm>
            <a:off x="8485632" y="2221992"/>
            <a:ext cx="292608" cy="237744"/>
          </a:xfrm>
          <a:prstGeom prst="rect">
            <a:avLst/>
          </a:prstGeom>
          <a:noFill/>
          <a:ln/>
        </p:spPr>
        <p:txBody>
          <a:bodyPr wrap="square" lIns="0" tIns="0" rIns="0" bIns="0" rtlCol="0" anchor="ctr"/>
          <a:lstStyle/>
          <a:p>
            <a:pPr indent="0" marL="0">
              <a:buNone/>
            </a:pPr>
            <a:r>
              <a:rPr lang="en-US" sz="1000" b="1" dirty="0">
                <a:solidFill>
                  <a:srgbClr val="00879E"/>
                </a:solidFill>
                <a:latin typeface="Calibri" pitchFamily="34" charset="0"/>
                <a:ea typeface="Calibri" pitchFamily="34" charset="-122"/>
                <a:cs typeface="Calibri" pitchFamily="34" charset="-120"/>
              </a:rPr>
              <a:t>0.72</a:t>
            </a:r>
            <a:endParaRPr lang="en-US" sz="1000" dirty="0"/>
          </a:p>
        </p:txBody>
      </p:sp>
      <p:sp>
        <p:nvSpPr>
          <p:cNvPr id="35" name="Text 33"/>
          <p:cNvSpPr/>
          <p:nvPr/>
        </p:nvSpPr>
        <p:spPr>
          <a:xfrm>
            <a:off x="4828032" y="2441448"/>
            <a:ext cx="3474720" cy="164592"/>
          </a:xfrm>
          <a:prstGeom prst="rect">
            <a:avLst/>
          </a:prstGeom>
          <a:noFill/>
          <a:ln/>
        </p:spPr>
        <p:txBody>
          <a:bodyPr wrap="square" lIns="0" tIns="0" rIns="0" bIns="0" rtlCol="0" anchor="ctr"/>
          <a:lstStyle/>
          <a:p>
            <a:pPr indent="0" marL="0">
              <a:buNone/>
            </a:pPr>
            <a:r>
              <a:rPr lang="en-US" sz="900" i="1" dirty="0">
                <a:solidFill>
                  <a:srgbClr val="00879E"/>
                </a:solidFill>
                <a:latin typeface="Calibri" pitchFamily="34" charset="0"/>
                <a:ea typeface="Calibri" pitchFamily="34" charset="-122"/>
                <a:cs typeface="Calibri" pitchFamily="34" charset="-120"/>
              </a:rPr>
              <a:t>Best match — found!</a:t>
            </a:r>
            <a:endParaRPr lang="en-US" sz="900" dirty="0"/>
          </a:p>
        </p:txBody>
      </p:sp>
      <p:sp>
        <p:nvSpPr>
          <p:cNvPr id="36" name="Shape 34"/>
          <p:cNvSpPr/>
          <p:nvPr/>
        </p:nvSpPr>
        <p:spPr>
          <a:xfrm>
            <a:off x="4709160" y="2752344"/>
            <a:ext cx="4114800" cy="493776"/>
          </a:xfrm>
          <a:prstGeom prst="rect">
            <a:avLst/>
          </a:prstGeom>
          <a:solidFill>
            <a:srgbClr val="0D2F3A"/>
          </a:solidFill>
          <a:ln w="12700">
            <a:solidFill>
              <a:srgbClr val="00879E"/>
            </a:solidFill>
            <a:prstDash val="solid"/>
          </a:ln>
        </p:spPr>
      </p:sp>
      <p:sp>
        <p:nvSpPr>
          <p:cNvPr id="37" name="Text 35"/>
          <p:cNvSpPr/>
          <p:nvPr/>
        </p:nvSpPr>
        <p:spPr>
          <a:xfrm>
            <a:off x="4828032" y="2807208"/>
            <a:ext cx="1508760" cy="256032"/>
          </a:xfrm>
          <a:prstGeom prst="rect">
            <a:avLst/>
          </a:prstGeom>
          <a:noFill/>
          <a:ln/>
        </p:spPr>
        <p:txBody>
          <a:bodyPr wrap="square" lIns="0" tIns="0" rIns="0" bIns="0" rtlCol="0" anchor="ctr"/>
          <a:lstStyle/>
          <a:p>
            <a:pPr indent="0" marL="0">
              <a:buNone/>
            </a:pPr>
            <a:r>
              <a:rPr lang="en-US" sz="1050" b="1" dirty="0">
                <a:solidFill>
                  <a:srgbClr val="4EC9B0"/>
                </a:solidFill>
                <a:latin typeface="Consolas" pitchFamily="34" charset="0"/>
                <a:ea typeface="Consolas" pitchFamily="34" charset="-122"/>
                <a:cs typeface="Consolas" pitchFamily="34" charset="-120"/>
              </a:rPr>
              <a:t>company_doc</a:t>
            </a:r>
            <a:endParaRPr lang="en-US" sz="1050" dirty="0"/>
          </a:p>
        </p:txBody>
      </p:sp>
      <p:sp>
        <p:nvSpPr>
          <p:cNvPr id="38" name="Shape 36"/>
          <p:cNvSpPr/>
          <p:nvPr/>
        </p:nvSpPr>
        <p:spPr>
          <a:xfrm>
            <a:off x="6419088" y="2862072"/>
            <a:ext cx="2011680" cy="164592"/>
          </a:xfrm>
          <a:prstGeom prst="rect">
            <a:avLst/>
          </a:prstGeom>
          <a:solidFill>
            <a:srgbClr val="1A3A4A"/>
          </a:solidFill>
          <a:ln w="12700">
            <a:solidFill>
              <a:srgbClr val="1A3A4A"/>
            </a:solidFill>
            <a:prstDash val="solid"/>
          </a:ln>
        </p:spPr>
      </p:sp>
      <p:sp>
        <p:nvSpPr>
          <p:cNvPr id="39" name="Shape 37"/>
          <p:cNvSpPr/>
          <p:nvPr/>
        </p:nvSpPr>
        <p:spPr>
          <a:xfrm>
            <a:off x="6419088" y="2862072"/>
            <a:ext cx="1166774" cy="164592"/>
          </a:xfrm>
          <a:prstGeom prst="rect">
            <a:avLst/>
          </a:prstGeom>
          <a:solidFill>
            <a:srgbClr val="00879E"/>
          </a:solidFill>
          <a:ln w="12700">
            <a:solidFill>
              <a:srgbClr val="00879E"/>
            </a:solidFill>
            <a:prstDash val="solid"/>
          </a:ln>
        </p:spPr>
      </p:sp>
      <p:sp>
        <p:nvSpPr>
          <p:cNvPr id="40" name="Text 38"/>
          <p:cNvSpPr/>
          <p:nvPr/>
        </p:nvSpPr>
        <p:spPr>
          <a:xfrm>
            <a:off x="8485632" y="2825496"/>
            <a:ext cx="292608" cy="237744"/>
          </a:xfrm>
          <a:prstGeom prst="rect">
            <a:avLst/>
          </a:prstGeom>
          <a:noFill/>
          <a:ln/>
        </p:spPr>
        <p:txBody>
          <a:bodyPr wrap="square" lIns="0" tIns="0" rIns="0" bIns="0" rtlCol="0" anchor="ctr"/>
          <a:lstStyle/>
          <a:p>
            <a:pPr indent="0" marL="0">
              <a:buNone/>
            </a:pPr>
            <a:r>
              <a:rPr lang="en-US" sz="1000" b="1" dirty="0">
                <a:solidFill>
                  <a:srgbClr val="00879E"/>
                </a:solidFill>
                <a:latin typeface="Calibri" pitchFamily="34" charset="0"/>
                <a:ea typeface="Calibri" pitchFamily="34" charset="-122"/>
                <a:cs typeface="Calibri" pitchFamily="34" charset="-120"/>
              </a:rPr>
              <a:t>0.58</a:t>
            </a:r>
            <a:endParaRPr lang="en-US" sz="1000" dirty="0"/>
          </a:p>
        </p:txBody>
      </p:sp>
      <p:sp>
        <p:nvSpPr>
          <p:cNvPr id="41" name="Text 39"/>
          <p:cNvSpPr/>
          <p:nvPr/>
        </p:nvSpPr>
        <p:spPr>
          <a:xfrm>
            <a:off x="4828032" y="3044952"/>
            <a:ext cx="3474720" cy="164592"/>
          </a:xfrm>
          <a:prstGeom prst="rect">
            <a:avLst/>
          </a:prstGeom>
          <a:noFill/>
          <a:ln/>
        </p:spPr>
        <p:txBody>
          <a:bodyPr wrap="square" lIns="0" tIns="0" rIns="0" bIns="0" rtlCol="0" anchor="ctr"/>
          <a:lstStyle/>
          <a:p>
            <a:pPr indent="0" marL="0">
              <a:buNone/>
            </a:pPr>
            <a:r>
              <a:rPr lang="en-US" sz="900" i="1" dirty="0">
                <a:solidFill>
                  <a:srgbClr val="00879E"/>
                </a:solidFill>
                <a:latin typeface="Calibri" pitchFamily="34" charset="0"/>
                <a:ea typeface="Calibri" pitchFamily="34" charset="-122"/>
                <a:cs typeface="Calibri" pitchFamily="34" charset="-120"/>
              </a:rPr>
              <a:t>Also relevant</a:t>
            </a:r>
            <a:endParaRPr lang="en-US" sz="900" dirty="0"/>
          </a:p>
        </p:txBody>
      </p:sp>
      <p:sp>
        <p:nvSpPr>
          <p:cNvPr id="42" name="Shape 40"/>
          <p:cNvSpPr/>
          <p:nvPr/>
        </p:nvSpPr>
        <p:spPr>
          <a:xfrm>
            <a:off x="4709160" y="3355848"/>
            <a:ext cx="4114800" cy="493776"/>
          </a:xfrm>
          <a:prstGeom prst="rect">
            <a:avLst/>
          </a:prstGeom>
          <a:solidFill>
            <a:srgbClr val="1A2535"/>
          </a:solidFill>
          <a:ln w="12700">
            <a:solidFill>
              <a:srgbClr val="8896AB"/>
            </a:solidFill>
            <a:prstDash val="solid"/>
          </a:ln>
        </p:spPr>
      </p:sp>
      <p:sp>
        <p:nvSpPr>
          <p:cNvPr id="43" name="Text 41"/>
          <p:cNvSpPr/>
          <p:nvPr/>
        </p:nvSpPr>
        <p:spPr>
          <a:xfrm>
            <a:off x="4828032" y="3410712"/>
            <a:ext cx="1508760" cy="256032"/>
          </a:xfrm>
          <a:prstGeom prst="rect">
            <a:avLst/>
          </a:prstGeom>
          <a:noFill/>
          <a:ln/>
        </p:spPr>
        <p:txBody>
          <a:bodyPr wrap="square" lIns="0" tIns="0" rIns="0" bIns="0" rtlCol="0" anchor="ctr"/>
          <a:lstStyle/>
          <a:p>
            <a:pPr indent="0" marL="0">
              <a:buNone/>
            </a:pPr>
            <a:r>
              <a:rPr lang="en-US" sz="1050" b="1" dirty="0">
                <a:solidFill>
                  <a:srgbClr val="4EC9B0"/>
                </a:solidFill>
                <a:latin typeface="Consolas" pitchFamily="34" charset="0"/>
                <a:ea typeface="Consolas" pitchFamily="34" charset="-122"/>
                <a:cs typeface="Consolas" pitchFamily="34" charset="-120"/>
              </a:rPr>
              <a:t>products_doc</a:t>
            </a:r>
            <a:endParaRPr lang="en-US" sz="1050" dirty="0"/>
          </a:p>
        </p:txBody>
      </p:sp>
      <p:sp>
        <p:nvSpPr>
          <p:cNvPr id="44" name="Shape 42"/>
          <p:cNvSpPr/>
          <p:nvPr/>
        </p:nvSpPr>
        <p:spPr>
          <a:xfrm>
            <a:off x="6419088" y="3465576"/>
            <a:ext cx="2011680" cy="164592"/>
          </a:xfrm>
          <a:prstGeom prst="rect">
            <a:avLst/>
          </a:prstGeom>
          <a:solidFill>
            <a:srgbClr val="1A3A4A"/>
          </a:solidFill>
          <a:ln w="12700">
            <a:solidFill>
              <a:srgbClr val="1A3A4A"/>
            </a:solidFill>
            <a:prstDash val="solid"/>
          </a:ln>
        </p:spPr>
      </p:sp>
      <p:sp>
        <p:nvSpPr>
          <p:cNvPr id="45" name="Shape 43"/>
          <p:cNvSpPr/>
          <p:nvPr/>
        </p:nvSpPr>
        <p:spPr>
          <a:xfrm>
            <a:off x="6419088" y="3465576"/>
            <a:ext cx="623621" cy="164592"/>
          </a:xfrm>
          <a:prstGeom prst="rect">
            <a:avLst/>
          </a:prstGeom>
          <a:solidFill>
            <a:srgbClr val="8896AB"/>
          </a:solidFill>
          <a:ln w="12700">
            <a:solidFill>
              <a:srgbClr val="8896AB"/>
            </a:solidFill>
            <a:prstDash val="solid"/>
          </a:ln>
        </p:spPr>
      </p:sp>
      <p:sp>
        <p:nvSpPr>
          <p:cNvPr id="46" name="Text 44"/>
          <p:cNvSpPr/>
          <p:nvPr/>
        </p:nvSpPr>
        <p:spPr>
          <a:xfrm>
            <a:off x="8485632" y="3429000"/>
            <a:ext cx="292608" cy="237744"/>
          </a:xfrm>
          <a:prstGeom prst="rect">
            <a:avLst/>
          </a:prstGeom>
          <a:noFill/>
          <a:ln/>
        </p:spPr>
        <p:txBody>
          <a:bodyPr wrap="square" lIns="0" tIns="0" rIns="0" bIns="0" rtlCol="0" anchor="ctr"/>
          <a:lstStyle/>
          <a:p>
            <a:pPr indent="0" marL="0">
              <a:buNone/>
            </a:pPr>
            <a:r>
              <a:rPr lang="en-US" sz="1000" b="1" dirty="0">
                <a:solidFill>
                  <a:srgbClr val="8896AB"/>
                </a:solidFill>
                <a:latin typeface="Calibri" pitchFamily="34" charset="0"/>
                <a:ea typeface="Calibri" pitchFamily="34" charset="-122"/>
                <a:cs typeface="Calibri" pitchFamily="34" charset="-120"/>
              </a:rPr>
              <a:t>0.31</a:t>
            </a:r>
            <a:endParaRPr lang="en-US" sz="1000" dirty="0"/>
          </a:p>
        </p:txBody>
      </p:sp>
      <p:sp>
        <p:nvSpPr>
          <p:cNvPr id="47" name="Text 45"/>
          <p:cNvSpPr/>
          <p:nvPr/>
        </p:nvSpPr>
        <p:spPr>
          <a:xfrm>
            <a:off x="4828032" y="3648456"/>
            <a:ext cx="3474720" cy="164592"/>
          </a:xfrm>
          <a:prstGeom prst="rect">
            <a:avLst/>
          </a:prstGeom>
          <a:noFill/>
          <a:ln/>
        </p:spPr>
        <p:txBody>
          <a:bodyPr wrap="square" lIns="0" tIns="0" rIns="0" bIns="0" rtlCol="0" anchor="ctr"/>
          <a:lstStyle/>
          <a:p>
            <a:pPr indent="0" marL="0">
              <a:buNone/>
            </a:pPr>
            <a:r>
              <a:rPr lang="en-US" sz="900" i="1" dirty="0">
                <a:solidFill>
                  <a:srgbClr val="8896AB"/>
                </a:solidFill>
                <a:latin typeface="Calibri" pitchFamily="34" charset="0"/>
                <a:ea typeface="Calibri" pitchFamily="34" charset="-122"/>
                <a:cs typeface="Calibri" pitchFamily="34" charset="-120"/>
              </a:rPr>
              <a:t>Less relevant</a:t>
            </a:r>
            <a:endParaRPr lang="en-US" sz="900" dirty="0"/>
          </a:p>
        </p:txBody>
      </p:sp>
      <p:sp>
        <p:nvSpPr>
          <p:cNvPr id="48" name="Shape 46"/>
          <p:cNvSpPr/>
          <p:nvPr/>
        </p:nvSpPr>
        <p:spPr>
          <a:xfrm>
            <a:off x="4709160" y="3968496"/>
            <a:ext cx="4160520" cy="475488"/>
          </a:xfrm>
          <a:prstGeom prst="rect">
            <a:avLst/>
          </a:prstGeom>
          <a:solidFill>
            <a:srgbClr val="000000"/>
          </a:solidFill>
          <a:ln w="12700">
            <a:solidFill>
              <a:srgbClr val="00879E"/>
            </a:solidFill>
            <a:prstDash val="solid"/>
          </a:ln>
        </p:spPr>
      </p:sp>
      <p:sp>
        <p:nvSpPr>
          <p:cNvPr id="49" name="Text 47"/>
          <p:cNvSpPr/>
          <p:nvPr/>
        </p:nvSpPr>
        <p:spPr>
          <a:xfrm>
            <a:off x="4828032" y="3968496"/>
            <a:ext cx="3931920" cy="475488"/>
          </a:xfrm>
          <a:prstGeom prst="rect">
            <a:avLst/>
          </a:prstGeom>
          <a:noFill/>
          <a:ln/>
        </p:spPr>
        <p:txBody>
          <a:bodyPr wrap="square" lIns="0" tIns="0" rIns="0" bIns="0" rtlCol="0" anchor="ctr"/>
          <a:lstStyle/>
          <a:p>
            <a:pPr indent="0" marL="0">
              <a:buNone/>
            </a:pPr>
            <a:r>
              <a:rPr lang="en-US" sz="1000" b="1" dirty="0">
                <a:solidFill>
                  <a:srgbClr val="00879E"/>
                </a:solidFill>
                <a:latin typeface="Calibri" pitchFamily="34" charset="0"/>
                <a:ea typeface="Calibri" pitchFamily="34" charset="-122"/>
                <a:cs typeface="Calibri" pitchFamily="34" charset="-120"/>
              </a:rPr>
              <a:t>Result: Finds Priya's doc first.</a:t>
            </a:r>
            <a:endParaRPr lang="en-US" sz="1000" dirty="0"/>
          </a:p>
          <a:p>
            <a:pPr indent="0" marL="0">
              <a:buNone/>
            </a:pPr>
            <a:r>
              <a:rPr lang="en-US" sz="1000" b="1" dirty="0">
                <a:solidFill>
                  <a:srgbClr val="00879E"/>
                </a:solidFill>
                <a:latin typeface="Calibri" pitchFamily="34" charset="0"/>
                <a:ea typeface="Calibri" pitchFamily="34" charset="-122"/>
                <a:cs typeface="Calibri" pitchFamily="34" charset="-120"/>
              </a:rPr>
              <a:t>Correct answer returned — no keywords needed.</a:t>
            </a:r>
            <a:endParaRPr lang="en-US" sz="1000" dirty="0"/>
          </a:p>
        </p:txBody>
      </p:sp>
      <p:sp>
        <p:nvSpPr>
          <p:cNvPr id="50" name="Shape 48"/>
          <p:cNvSpPr/>
          <p:nvPr/>
        </p:nvSpPr>
        <p:spPr>
          <a:xfrm>
            <a:off x="4224528" y="2487168"/>
            <a:ext cx="694944" cy="694944"/>
          </a:xfrm>
          <a:prstGeom prst="ellipse">
            <a:avLst/>
          </a:prstGeom>
          <a:solidFill>
            <a:srgbClr val="D4891A"/>
          </a:solidFill>
          <a:ln w="12700">
            <a:solidFill>
              <a:srgbClr val="D4891A"/>
            </a:solidFill>
            <a:prstDash val="solid"/>
          </a:ln>
        </p:spPr>
      </p:sp>
      <p:sp>
        <p:nvSpPr>
          <p:cNvPr id="51" name="Text 49"/>
          <p:cNvSpPr/>
          <p:nvPr/>
        </p:nvSpPr>
        <p:spPr>
          <a:xfrm>
            <a:off x="4224528" y="2487168"/>
            <a:ext cx="694944" cy="694944"/>
          </a:xfrm>
          <a:prstGeom prst="rect">
            <a:avLst/>
          </a:prstGeom>
          <a:noFill/>
          <a:ln/>
        </p:spPr>
        <p:txBody>
          <a:bodyPr wrap="square" lIns="0" tIns="0" rIns="0" bIns="0" rtlCol="0" anchor="ctr"/>
          <a:lstStyle/>
          <a:p>
            <a:pPr algn="ctr" indent="0" marL="0">
              <a:buNone/>
            </a:pPr>
            <a:r>
              <a:rPr lang="en-US" sz="1300" b="1" dirty="0">
                <a:solidFill>
                  <a:srgbClr val="0D2349"/>
                </a:solidFill>
                <a:latin typeface="Trebuchet MS" pitchFamily="34" charset="0"/>
                <a:ea typeface="Trebuchet MS" pitchFamily="34" charset="-122"/>
                <a:cs typeface="Trebuchet MS" pitchFamily="34" charset="-120"/>
              </a:rPr>
              <a:t>VS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349"/>
          </a:solidFill>
          <a:ln w="12700">
            <a:solidFill>
              <a:srgbClr val="0D234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How Semantic Search Works</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Text 4"/>
          <p:cNvSpPr/>
          <p:nvPr/>
        </p:nvSpPr>
        <p:spPr>
          <a:xfrm>
            <a:off x="384048" y="749808"/>
            <a:ext cx="8229600" cy="256032"/>
          </a:xfrm>
          <a:prstGeom prst="rect">
            <a:avLst/>
          </a:prstGeom>
          <a:noFill/>
          <a:ln/>
        </p:spPr>
        <p:txBody>
          <a:bodyPr wrap="square" lIns="0" tIns="0" rIns="0" bIns="0" rtlCol="0" anchor="ctr"/>
          <a:lstStyle/>
          <a:p>
            <a:pPr indent="0" marL="0">
              <a:buNone/>
            </a:pPr>
            <a:r>
              <a:rPr lang="en-US" sz="1100" i="1" dirty="0">
                <a:solidFill>
                  <a:srgbClr val="00879E"/>
                </a:solidFill>
                <a:latin typeface="Calibri" pitchFamily="34" charset="0"/>
                <a:ea typeface="Calibri" pitchFamily="34" charset="-122"/>
                <a:cs typeface="Calibri" pitchFamily="34" charset="-120"/>
              </a:rPr>
              <a:t>Two phases: setup (once) and search (every query)</a:t>
            </a:r>
            <a:endParaRPr lang="en-US" sz="1100" dirty="0"/>
          </a:p>
        </p:txBody>
      </p:sp>
      <p:sp>
        <p:nvSpPr>
          <p:cNvPr id="7" name="Shape 5"/>
          <p:cNvSpPr/>
          <p:nvPr/>
        </p:nvSpPr>
        <p:spPr>
          <a:xfrm>
            <a:off x="0" y="4937760"/>
            <a:ext cx="9144000" cy="205740"/>
          </a:xfrm>
          <a:prstGeom prst="rect">
            <a:avLst/>
          </a:prstGeom>
          <a:solidFill>
            <a:srgbClr val="0D2349"/>
          </a:solidFill>
          <a:ln w="12700">
            <a:solidFill>
              <a:srgbClr val="0D2349"/>
            </a:solidFill>
            <a:prstDash val="solid"/>
          </a:ln>
        </p:spPr>
      </p:sp>
      <p:sp>
        <p:nvSpPr>
          <p:cNvPr id="8" name="Text 6"/>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9" name="Shape 7"/>
          <p:cNvSpPr/>
          <p:nvPr/>
        </p:nvSpPr>
        <p:spPr>
          <a:xfrm>
            <a:off x="347472" y="987552"/>
            <a:ext cx="8449056" cy="310896"/>
          </a:xfrm>
          <a:prstGeom prst="rect">
            <a:avLst/>
          </a:prstGeom>
          <a:solidFill>
            <a:srgbClr val="1A4B8C"/>
          </a:solidFill>
          <a:ln w="12700">
            <a:solidFill>
              <a:srgbClr val="1A4B8C"/>
            </a:solidFill>
            <a:prstDash val="solid"/>
          </a:ln>
        </p:spPr>
      </p:sp>
      <p:sp>
        <p:nvSpPr>
          <p:cNvPr id="10" name="Text 8"/>
          <p:cNvSpPr/>
          <p:nvPr/>
        </p:nvSpPr>
        <p:spPr>
          <a:xfrm>
            <a:off x="457200" y="987552"/>
            <a:ext cx="8321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PHASE 1  ·  SETUP  (runs once)</a:t>
            </a:r>
            <a:endParaRPr lang="en-US" sz="1100" dirty="0"/>
          </a:p>
        </p:txBody>
      </p:sp>
      <p:sp>
        <p:nvSpPr>
          <p:cNvPr id="11" name="Shape 9"/>
          <p:cNvSpPr/>
          <p:nvPr/>
        </p:nvSpPr>
        <p:spPr>
          <a:xfrm>
            <a:off x="502920" y="1371600"/>
            <a:ext cx="2560320" cy="914400"/>
          </a:xfrm>
          <a:prstGeom prst="rect">
            <a:avLst/>
          </a:prstGeom>
          <a:solidFill>
            <a:srgbClr val="1A4B8C"/>
          </a:solidFill>
          <a:ln w="12700">
            <a:solidFill>
              <a:srgbClr val="1A4B8C"/>
            </a:solidFill>
            <a:prstDash val="solid"/>
          </a:ln>
          <a:effectLst>
            <a:outerShdw sx="100000" sy="100000" kx="0" ky="0" algn="bl" rotWithShape="0" blurRad="50800" dist="12700" dir="8100000">
              <a:srgbClr val="000000">
                <a:alpha val="12000"/>
              </a:srgbClr>
            </a:outerShdw>
          </a:effectLst>
        </p:spPr>
      </p:sp>
      <p:sp>
        <p:nvSpPr>
          <p:cNvPr id="12" name="Text 10"/>
          <p:cNvSpPr/>
          <p:nvPr/>
        </p:nvSpPr>
        <p:spPr>
          <a:xfrm>
            <a:off x="502920" y="1371600"/>
            <a:ext cx="256032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Documents</a:t>
            </a:r>
            <a:endParaRPr lang="en-US" sz="1300" dirty="0"/>
          </a:p>
          <a:p>
            <a:pPr algn="ctr" indent="0" marL="0">
              <a:buNone/>
            </a:pPr>
            <a:r>
              <a:rPr lang="en-US" sz="1300" b="1" dirty="0">
                <a:solidFill>
                  <a:srgbClr val="FFFFFF"/>
                </a:solidFill>
                <a:latin typeface="Trebuchet MS" pitchFamily="34" charset="0"/>
                <a:ea typeface="Trebuchet MS" pitchFamily="34" charset="-122"/>
                <a:cs typeface="Trebuchet MS" pitchFamily="34" charset="-120"/>
              </a:rPr>
              <a:t>doc1, doc2…</a:t>
            </a:r>
            <a:endParaRPr lang="en-US" sz="1300" dirty="0"/>
          </a:p>
        </p:txBody>
      </p:sp>
      <p:sp>
        <p:nvSpPr>
          <p:cNvPr id="13" name="Shape 11"/>
          <p:cNvSpPr/>
          <p:nvPr/>
        </p:nvSpPr>
        <p:spPr>
          <a:xfrm>
            <a:off x="3063240" y="1828800"/>
            <a:ext cx="347472" cy="0"/>
          </a:xfrm>
          <a:prstGeom prst="line">
            <a:avLst/>
          </a:prstGeom>
          <a:noFill/>
          <a:ln w="31750">
            <a:solidFill>
              <a:srgbClr val="D4891A"/>
            </a:solidFill>
            <a:prstDash val="solid"/>
          </a:ln>
        </p:spPr>
      </p:sp>
      <p:sp>
        <p:nvSpPr>
          <p:cNvPr id="14" name="Text 12"/>
          <p:cNvSpPr/>
          <p:nvPr/>
        </p:nvSpPr>
        <p:spPr>
          <a:xfrm>
            <a:off x="3081528" y="1719072"/>
            <a:ext cx="310896" cy="256032"/>
          </a:xfrm>
          <a:prstGeom prst="rect">
            <a:avLst/>
          </a:prstGeom>
          <a:noFill/>
          <a:ln/>
        </p:spPr>
        <p:txBody>
          <a:bodyPr wrap="square" lIns="0" tIns="0" rIns="0" bIns="0" rtlCol="0" anchor="ctr"/>
          <a:lstStyle/>
          <a:p>
            <a:pPr algn="ctr" indent="0" marL="0">
              <a:buNone/>
            </a:pPr>
            <a:r>
              <a:rPr lang="en-US" sz="1200" b="1" dirty="0">
                <a:solidFill>
                  <a:srgbClr val="D4891A"/>
                </a:solidFill>
              </a:rPr>
              <a:t>→</a:t>
            </a:r>
            <a:endParaRPr lang="en-US" sz="1200" dirty="0"/>
          </a:p>
        </p:txBody>
      </p:sp>
      <p:sp>
        <p:nvSpPr>
          <p:cNvPr id="15" name="Shape 13"/>
          <p:cNvSpPr/>
          <p:nvPr/>
        </p:nvSpPr>
        <p:spPr>
          <a:xfrm>
            <a:off x="3410712" y="1371600"/>
            <a:ext cx="2560320" cy="914400"/>
          </a:xfrm>
          <a:prstGeom prst="rect">
            <a:avLst/>
          </a:prstGeom>
          <a:solidFill>
            <a:srgbClr val="00879E"/>
          </a:solidFill>
          <a:ln w="12700">
            <a:solidFill>
              <a:srgbClr val="00879E"/>
            </a:solidFill>
            <a:prstDash val="solid"/>
          </a:ln>
          <a:effectLst>
            <a:outerShdw sx="100000" sy="100000" kx="0" ky="0" algn="bl" rotWithShape="0" blurRad="50800" dist="12700" dir="8100000">
              <a:srgbClr val="000000">
                <a:alpha val="12000"/>
              </a:srgbClr>
            </a:outerShdw>
          </a:effectLst>
        </p:spPr>
      </p:sp>
      <p:sp>
        <p:nvSpPr>
          <p:cNvPr id="16" name="Text 14"/>
          <p:cNvSpPr/>
          <p:nvPr/>
        </p:nvSpPr>
        <p:spPr>
          <a:xfrm>
            <a:off x="3410712" y="1371600"/>
            <a:ext cx="256032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Embedding</a:t>
            </a:r>
            <a:endParaRPr lang="en-US" sz="1300" dirty="0"/>
          </a:p>
          <a:p>
            <a:pPr algn="ctr" indent="0" marL="0">
              <a:buNone/>
            </a:pPr>
            <a:r>
              <a:rPr lang="en-US" sz="1300" b="1" dirty="0">
                <a:solidFill>
                  <a:srgbClr val="FFFFFF"/>
                </a:solidFill>
                <a:latin typeface="Trebuchet MS" pitchFamily="34" charset="0"/>
                <a:ea typeface="Trebuchet MS" pitchFamily="34" charset="-122"/>
                <a:cs typeface="Trebuchet MS" pitchFamily="34" charset="-120"/>
              </a:rPr>
              <a:t>Model</a:t>
            </a:r>
            <a:endParaRPr lang="en-US" sz="1300" dirty="0"/>
          </a:p>
        </p:txBody>
      </p:sp>
      <p:sp>
        <p:nvSpPr>
          <p:cNvPr id="17" name="Shape 15"/>
          <p:cNvSpPr/>
          <p:nvPr/>
        </p:nvSpPr>
        <p:spPr>
          <a:xfrm>
            <a:off x="5971032" y="1828800"/>
            <a:ext cx="347472" cy="0"/>
          </a:xfrm>
          <a:prstGeom prst="line">
            <a:avLst/>
          </a:prstGeom>
          <a:noFill/>
          <a:ln w="31750">
            <a:solidFill>
              <a:srgbClr val="D4891A"/>
            </a:solidFill>
            <a:prstDash val="solid"/>
          </a:ln>
        </p:spPr>
      </p:sp>
      <p:sp>
        <p:nvSpPr>
          <p:cNvPr id="18" name="Text 16"/>
          <p:cNvSpPr/>
          <p:nvPr/>
        </p:nvSpPr>
        <p:spPr>
          <a:xfrm>
            <a:off x="5989320" y="1719072"/>
            <a:ext cx="310896" cy="256032"/>
          </a:xfrm>
          <a:prstGeom prst="rect">
            <a:avLst/>
          </a:prstGeom>
          <a:noFill/>
          <a:ln/>
        </p:spPr>
        <p:txBody>
          <a:bodyPr wrap="square" lIns="0" tIns="0" rIns="0" bIns="0" rtlCol="0" anchor="ctr"/>
          <a:lstStyle/>
          <a:p>
            <a:pPr algn="ctr" indent="0" marL="0">
              <a:buNone/>
            </a:pPr>
            <a:r>
              <a:rPr lang="en-US" sz="1200" b="1" dirty="0">
                <a:solidFill>
                  <a:srgbClr val="D4891A"/>
                </a:solidFill>
              </a:rPr>
              <a:t>→</a:t>
            </a:r>
            <a:endParaRPr lang="en-US" sz="1200" dirty="0"/>
          </a:p>
        </p:txBody>
      </p:sp>
      <p:sp>
        <p:nvSpPr>
          <p:cNvPr id="19" name="Shape 17"/>
          <p:cNvSpPr/>
          <p:nvPr/>
        </p:nvSpPr>
        <p:spPr>
          <a:xfrm>
            <a:off x="6318504" y="1371600"/>
            <a:ext cx="2560320" cy="914400"/>
          </a:xfrm>
          <a:prstGeom prst="rect">
            <a:avLst/>
          </a:prstGeom>
          <a:solidFill>
            <a:srgbClr val="D4891A"/>
          </a:solidFill>
          <a:ln w="12700">
            <a:solidFill>
              <a:srgbClr val="D4891A"/>
            </a:solidFill>
            <a:prstDash val="solid"/>
          </a:ln>
          <a:effectLst>
            <a:outerShdw sx="100000" sy="100000" kx="0" ky="0" algn="bl" rotWithShape="0" blurRad="50800" dist="12700" dir="8100000">
              <a:srgbClr val="000000">
                <a:alpha val="12000"/>
              </a:srgbClr>
            </a:outerShdw>
          </a:effectLst>
        </p:spPr>
      </p:sp>
      <p:sp>
        <p:nvSpPr>
          <p:cNvPr id="20" name="Text 18"/>
          <p:cNvSpPr/>
          <p:nvPr/>
        </p:nvSpPr>
        <p:spPr>
          <a:xfrm>
            <a:off x="6318504" y="1371600"/>
            <a:ext cx="2560320" cy="914400"/>
          </a:xfrm>
          <a:prstGeom prst="rect">
            <a:avLst/>
          </a:prstGeom>
          <a:noFill/>
          <a:ln/>
        </p:spPr>
        <p:txBody>
          <a:bodyPr wrap="square" lIns="0" tIns="0" rIns="0" bIns="0" rtlCol="0" anchor="ctr"/>
          <a:lstStyle/>
          <a:p>
            <a:pPr algn="ctr" indent="0" marL="0">
              <a:buNone/>
            </a:pPr>
            <a:r>
              <a:rPr lang="en-US" sz="1300" b="1" dirty="0">
                <a:solidFill>
                  <a:srgbClr val="0D2349"/>
                </a:solidFill>
                <a:latin typeface="Trebuchet MS" pitchFamily="34" charset="0"/>
                <a:ea typeface="Trebuchet MS" pitchFamily="34" charset="-122"/>
                <a:cs typeface="Trebuchet MS" pitchFamily="34" charset="-120"/>
              </a:rPr>
              <a:t>Vector</a:t>
            </a:r>
            <a:endParaRPr lang="en-US" sz="1300" dirty="0"/>
          </a:p>
          <a:p>
            <a:pPr algn="ctr" indent="0" marL="0">
              <a:buNone/>
            </a:pPr>
            <a:r>
              <a:rPr lang="en-US" sz="1300" b="1" dirty="0">
                <a:solidFill>
                  <a:srgbClr val="0D2349"/>
                </a:solidFill>
                <a:latin typeface="Trebuchet MS" pitchFamily="34" charset="0"/>
                <a:ea typeface="Trebuchet MS" pitchFamily="34" charset="-122"/>
                <a:cs typeface="Trebuchet MS" pitchFamily="34" charset="-120"/>
              </a:rPr>
              <a:t>Database</a:t>
            </a:r>
            <a:endParaRPr lang="en-US" sz="1300" dirty="0"/>
          </a:p>
        </p:txBody>
      </p:sp>
      <p:sp>
        <p:nvSpPr>
          <p:cNvPr id="21" name="Shape 19"/>
          <p:cNvSpPr/>
          <p:nvPr/>
        </p:nvSpPr>
        <p:spPr>
          <a:xfrm>
            <a:off x="347472" y="2487168"/>
            <a:ext cx="8449056" cy="310896"/>
          </a:xfrm>
          <a:prstGeom prst="rect">
            <a:avLst/>
          </a:prstGeom>
          <a:solidFill>
            <a:srgbClr val="00879E"/>
          </a:solidFill>
          <a:ln w="12700">
            <a:solidFill>
              <a:srgbClr val="00879E"/>
            </a:solidFill>
            <a:prstDash val="solid"/>
          </a:ln>
        </p:spPr>
      </p:sp>
      <p:sp>
        <p:nvSpPr>
          <p:cNvPr id="22" name="Text 20"/>
          <p:cNvSpPr/>
          <p:nvPr/>
        </p:nvSpPr>
        <p:spPr>
          <a:xfrm>
            <a:off x="457200" y="2487168"/>
            <a:ext cx="8321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PHASE 2  ·  SEARCH  (every query)</a:t>
            </a:r>
            <a:endParaRPr lang="en-US" sz="1100" dirty="0"/>
          </a:p>
        </p:txBody>
      </p:sp>
      <p:sp>
        <p:nvSpPr>
          <p:cNvPr id="23" name="Shape 21"/>
          <p:cNvSpPr/>
          <p:nvPr/>
        </p:nvSpPr>
        <p:spPr>
          <a:xfrm>
            <a:off x="347472" y="2871216"/>
            <a:ext cx="2011680" cy="914400"/>
          </a:xfrm>
          <a:prstGeom prst="rect">
            <a:avLst/>
          </a:prstGeom>
          <a:solidFill>
            <a:srgbClr val="0D2349"/>
          </a:solidFill>
          <a:ln w="12700">
            <a:solidFill>
              <a:srgbClr val="0D2349"/>
            </a:solidFill>
            <a:prstDash val="solid"/>
          </a:ln>
          <a:effectLst>
            <a:outerShdw sx="100000" sy="100000" kx="0" ky="0" algn="bl" rotWithShape="0" blurRad="50800" dist="12700" dir="8100000">
              <a:srgbClr val="000000">
                <a:alpha val="12000"/>
              </a:srgbClr>
            </a:outerShdw>
          </a:effectLst>
        </p:spPr>
      </p:sp>
      <p:sp>
        <p:nvSpPr>
          <p:cNvPr id="24" name="Text 22"/>
          <p:cNvSpPr/>
          <p:nvPr/>
        </p:nvSpPr>
        <p:spPr>
          <a:xfrm>
            <a:off x="347472" y="2871216"/>
            <a:ext cx="20116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Query</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 founded?"</a:t>
            </a:r>
            <a:endParaRPr lang="en-US" sz="1200" dirty="0"/>
          </a:p>
        </p:txBody>
      </p:sp>
      <p:sp>
        <p:nvSpPr>
          <p:cNvPr id="25" name="Shape 23"/>
          <p:cNvSpPr/>
          <p:nvPr/>
        </p:nvSpPr>
        <p:spPr>
          <a:xfrm>
            <a:off x="2359152" y="3328416"/>
            <a:ext cx="137160" cy="0"/>
          </a:xfrm>
          <a:prstGeom prst="line">
            <a:avLst/>
          </a:prstGeom>
          <a:noFill/>
          <a:ln w="31750">
            <a:solidFill>
              <a:srgbClr val="D4891A"/>
            </a:solidFill>
            <a:prstDash val="solid"/>
          </a:ln>
        </p:spPr>
      </p:sp>
      <p:sp>
        <p:nvSpPr>
          <p:cNvPr id="26" name="Text 24"/>
          <p:cNvSpPr/>
          <p:nvPr/>
        </p:nvSpPr>
        <p:spPr>
          <a:xfrm>
            <a:off x="2313432" y="3218688"/>
            <a:ext cx="274320" cy="237744"/>
          </a:xfrm>
          <a:prstGeom prst="rect">
            <a:avLst/>
          </a:prstGeom>
          <a:noFill/>
          <a:ln/>
        </p:spPr>
        <p:txBody>
          <a:bodyPr wrap="square" lIns="0" tIns="0" rIns="0" bIns="0" rtlCol="0" anchor="ctr"/>
          <a:lstStyle/>
          <a:p>
            <a:pPr algn="ctr" indent="0" marL="0">
              <a:buNone/>
            </a:pPr>
            <a:r>
              <a:rPr lang="en-US" sz="1200" b="1" dirty="0">
                <a:solidFill>
                  <a:srgbClr val="D4891A"/>
                </a:solidFill>
              </a:rPr>
              <a:t>→</a:t>
            </a:r>
            <a:endParaRPr lang="en-US" sz="1200" dirty="0"/>
          </a:p>
        </p:txBody>
      </p:sp>
      <p:sp>
        <p:nvSpPr>
          <p:cNvPr id="27" name="Shape 25"/>
          <p:cNvSpPr/>
          <p:nvPr/>
        </p:nvSpPr>
        <p:spPr>
          <a:xfrm>
            <a:off x="2496312" y="2871216"/>
            <a:ext cx="2011680" cy="914400"/>
          </a:xfrm>
          <a:prstGeom prst="rect">
            <a:avLst/>
          </a:prstGeom>
          <a:solidFill>
            <a:srgbClr val="1A4B8C"/>
          </a:solidFill>
          <a:ln w="12700">
            <a:solidFill>
              <a:srgbClr val="1A4B8C"/>
            </a:solidFill>
            <a:prstDash val="solid"/>
          </a:ln>
          <a:effectLst>
            <a:outerShdw sx="100000" sy="100000" kx="0" ky="0" algn="bl" rotWithShape="0" blurRad="50800" dist="12700" dir="8100000">
              <a:srgbClr val="000000">
                <a:alpha val="12000"/>
              </a:srgbClr>
            </a:outerShdw>
          </a:effectLst>
        </p:spPr>
      </p:sp>
      <p:sp>
        <p:nvSpPr>
          <p:cNvPr id="28" name="Text 26"/>
          <p:cNvSpPr/>
          <p:nvPr/>
        </p:nvSpPr>
        <p:spPr>
          <a:xfrm>
            <a:off x="2496312" y="2871216"/>
            <a:ext cx="20116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Embed</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Query</a:t>
            </a:r>
            <a:endParaRPr lang="en-US" sz="1200" dirty="0"/>
          </a:p>
        </p:txBody>
      </p:sp>
      <p:sp>
        <p:nvSpPr>
          <p:cNvPr id="29" name="Shape 27"/>
          <p:cNvSpPr/>
          <p:nvPr/>
        </p:nvSpPr>
        <p:spPr>
          <a:xfrm>
            <a:off x="4507992" y="3328416"/>
            <a:ext cx="137160" cy="0"/>
          </a:xfrm>
          <a:prstGeom prst="line">
            <a:avLst/>
          </a:prstGeom>
          <a:noFill/>
          <a:ln w="31750">
            <a:solidFill>
              <a:srgbClr val="D4891A"/>
            </a:solidFill>
            <a:prstDash val="solid"/>
          </a:ln>
        </p:spPr>
      </p:sp>
      <p:sp>
        <p:nvSpPr>
          <p:cNvPr id="30" name="Text 28"/>
          <p:cNvSpPr/>
          <p:nvPr/>
        </p:nvSpPr>
        <p:spPr>
          <a:xfrm>
            <a:off x="4462272" y="3218688"/>
            <a:ext cx="274320" cy="237744"/>
          </a:xfrm>
          <a:prstGeom prst="rect">
            <a:avLst/>
          </a:prstGeom>
          <a:noFill/>
          <a:ln/>
        </p:spPr>
        <p:txBody>
          <a:bodyPr wrap="square" lIns="0" tIns="0" rIns="0" bIns="0" rtlCol="0" anchor="ctr"/>
          <a:lstStyle/>
          <a:p>
            <a:pPr algn="ctr" indent="0" marL="0">
              <a:buNone/>
            </a:pPr>
            <a:r>
              <a:rPr lang="en-US" sz="1200" b="1" dirty="0">
                <a:solidFill>
                  <a:srgbClr val="D4891A"/>
                </a:solidFill>
              </a:rPr>
              <a:t>→</a:t>
            </a:r>
            <a:endParaRPr lang="en-US" sz="1200" dirty="0"/>
          </a:p>
        </p:txBody>
      </p:sp>
      <p:sp>
        <p:nvSpPr>
          <p:cNvPr id="31" name="Shape 29"/>
          <p:cNvSpPr/>
          <p:nvPr/>
        </p:nvSpPr>
        <p:spPr>
          <a:xfrm>
            <a:off x="4645152" y="2871216"/>
            <a:ext cx="2011680" cy="914400"/>
          </a:xfrm>
          <a:prstGeom prst="rect">
            <a:avLst/>
          </a:prstGeom>
          <a:solidFill>
            <a:srgbClr val="00879E"/>
          </a:solidFill>
          <a:ln w="12700">
            <a:solidFill>
              <a:srgbClr val="00879E"/>
            </a:solidFill>
            <a:prstDash val="solid"/>
          </a:ln>
          <a:effectLst>
            <a:outerShdw sx="100000" sy="100000" kx="0" ky="0" algn="bl" rotWithShape="0" blurRad="50800" dist="12700" dir="8100000">
              <a:srgbClr val="000000">
                <a:alpha val="12000"/>
              </a:srgbClr>
            </a:outerShdw>
          </a:effectLst>
        </p:spPr>
      </p:sp>
      <p:sp>
        <p:nvSpPr>
          <p:cNvPr id="32" name="Text 30"/>
          <p:cNvSpPr/>
          <p:nvPr/>
        </p:nvSpPr>
        <p:spPr>
          <a:xfrm>
            <a:off x="4645152" y="2871216"/>
            <a:ext cx="20116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Cosine</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Similarity</a:t>
            </a:r>
            <a:endParaRPr lang="en-US" sz="1200" dirty="0"/>
          </a:p>
        </p:txBody>
      </p:sp>
      <p:sp>
        <p:nvSpPr>
          <p:cNvPr id="33" name="Shape 31"/>
          <p:cNvSpPr/>
          <p:nvPr/>
        </p:nvSpPr>
        <p:spPr>
          <a:xfrm>
            <a:off x="6656832" y="3328416"/>
            <a:ext cx="137160" cy="0"/>
          </a:xfrm>
          <a:prstGeom prst="line">
            <a:avLst/>
          </a:prstGeom>
          <a:noFill/>
          <a:ln w="31750">
            <a:solidFill>
              <a:srgbClr val="D4891A"/>
            </a:solidFill>
            <a:prstDash val="solid"/>
          </a:ln>
        </p:spPr>
      </p:sp>
      <p:sp>
        <p:nvSpPr>
          <p:cNvPr id="34" name="Text 32"/>
          <p:cNvSpPr/>
          <p:nvPr/>
        </p:nvSpPr>
        <p:spPr>
          <a:xfrm>
            <a:off x="6611112" y="3218688"/>
            <a:ext cx="274320" cy="237744"/>
          </a:xfrm>
          <a:prstGeom prst="rect">
            <a:avLst/>
          </a:prstGeom>
          <a:noFill/>
          <a:ln/>
        </p:spPr>
        <p:txBody>
          <a:bodyPr wrap="square" lIns="0" tIns="0" rIns="0" bIns="0" rtlCol="0" anchor="ctr"/>
          <a:lstStyle/>
          <a:p>
            <a:pPr algn="ctr" indent="0" marL="0">
              <a:buNone/>
            </a:pPr>
            <a:r>
              <a:rPr lang="en-US" sz="1200" b="1" dirty="0">
                <a:solidFill>
                  <a:srgbClr val="D4891A"/>
                </a:solidFill>
              </a:rPr>
              <a:t>→</a:t>
            </a:r>
            <a:endParaRPr lang="en-US" sz="1200" dirty="0"/>
          </a:p>
        </p:txBody>
      </p:sp>
      <p:sp>
        <p:nvSpPr>
          <p:cNvPr id="35" name="Shape 33"/>
          <p:cNvSpPr/>
          <p:nvPr/>
        </p:nvSpPr>
        <p:spPr>
          <a:xfrm>
            <a:off x="6793992" y="2871216"/>
            <a:ext cx="2011680" cy="914400"/>
          </a:xfrm>
          <a:prstGeom prst="rect">
            <a:avLst/>
          </a:prstGeom>
          <a:solidFill>
            <a:srgbClr val="2E7D32"/>
          </a:solidFill>
          <a:ln w="12700">
            <a:solidFill>
              <a:srgbClr val="2E7D32"/>
            </a:solidFill>
            <a:prstDash val="solid"/>
          </a:ln>
          <a:effectLst>
            <a:outerShdw sx="100000" sy="100000" kx="0" ky="0" algn="bl" rotWithShape="0" blurRad="50800" dist="12700" dir="8100000">
              <a:srgbClr val="000000">
                <a:alpha val="12000"/>
              </a:srgbClr>
            </a:outerShdw>
          </a:effectLst>
        </p:spPr>
      </p:sp>
      <p:sp>
        <p:nvSpPr>
          <p:cNvPr id="36" name="Text 34"/>
          <p:cNvSpPr/>
          <p:nvPr/>
        </p:nvSpPr>
        <p:spPr>
          <a:xfrm>
            <a:off x="6793992" y="2871216"/>
            <a:ext cx="20116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Top</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Documents</a:t>
            </a:r>
            <a:endParaRPr lang="en-US" sz="1200" dirty="0"/>
          </a:p>
        </p:txBody>
      </p:sp>
      <p:sp>
        <p:nvSpPr>
          <p:cNvPr id="37" name="Text 35"/>
          <p:cNvSpPr/>
          <p:nvPr/>
        </p:nvSpPr>
        <p:spPr>
          <a:xfrm>
            <a:off x="347472" y="2331720"/>
            <a:ext cx="4389120" cy="201168"/>
          </a:xfrm>
          <a:prstGeom prst="rect">
            <a:avLst/>
          </a:prstGeom>
          <a:noFill/>
          <a:ln/>
        </p:spPr>
        <p:txBody>
          <a:bodyPr wrap="square" lIns="0" tIns="0" rIns="0" bIns="0" rtlCol="0" anchor="ctr"/>
          <a:lstStyle/>
          <a:p>
            <a:pPr indent="0" marL="0">
              <a:buNone/>
            </a:pPr>
            <a:r>
              <a:rPr lang="en-US" sz="850" i="1" dirty="0">
                <a:solidFill>
                  <a:srgbClr val="8896AB"/>
                </a:solidFill>
                <a:latin typeface="Calibri" pitchFamily="34" charset="0"/>
                <a:ea typeface="Calibri" pitchFamily="34" charset="-122"/>
                <a:cs typeface="Calibri" pitchFamily="34" charset="-120"/>
              </a:rPr>
              <a:t>Slow — runs once, cost amortized over all future queries</a:t>
            </a:r>
            <a:endParaRPr lang="en-US" sz="850" dirty="0"/>
          </a:p>
        </p:txBody>
      </p:sp>
      <p:sp>
        <p:nvSpPr>
          <p:cNvPr id="38" name="Text 36"/>
          <p:cNvSpPr/>
          <p:nvPr/>
        </p:nvSpPr>
        <p:spPr>
          <a:xfrm>
            <a:off x="4754880" y="2331720"/>
            <a:ext cx="4041648" cy="201168"/>
          </a:xfrm>
          <a:prstGeom prst="rect">
            <a:avLst/>
          </a:prstGeom>
          <a:noFill/>
          <a:ln/>
        </p:spPr>
        <p:txBody>
          <a:bodyPr wrap="square" lIns="0" tIns="0" rIns="0" bIns="0" rtlCol="0" anchor="ctr"/>
          <a:lstStyle/>
          <a:p>
            <a:pPr indent="0" marL="0">
              <a:buNone/>
            </a:pPr>
            <a:r>
              <a:rPr lang="en-US" sz="850" i="1" dirty="0">
                <a:solidFill>
                  <a:srgbClr val="8896AB"/>
                </a:solidFill>
                <a:latin typeface="Calibri" pitchFamily="34" charset="0"/>
                <a:ea typeface="Calibri" pitchFamily="34" charset="-122"/>
                <a:cs typeface="Calibri" pitchFamily="34" charset="-120"/>
              </a:rPr>
              <a:t>Fast — only the query gets embedded, then compared</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349"/>
          </a:solidFill>
          <a:ln w="12700">
            <a:solidFill>
              <a:srgbClr val="0D234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Document Chunking — Why and How</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Text 4"/>
          <p:cNvSpPr/>
          <p:nvPr/>
        </p:nvSpPr>
        <p:spPr>
          <a:xfrm>
            <a:off x="384048" y="749808"/>
            <a:ext cx="8229600" cy="256032"/>
          </a:xfrm>
          <a:prstGeom prst="rect">
            <a:avLst/>
          </a:prstGeom>
          <a:noFill/>
          <a:ln/>
        </p:spPr>
        <p:txBody>
          <a:bodyPr wrap="square" lIns="0" tIns="0" rIns="0" bIns="0" rtlCol="0" anchor="ctr"/>
          <a:lstStyle/>
          <a:p>
            <a:pPr indent="0" marL="0">
              <a:buNone/>
            </a:pPr>
            <a:r>
              <a:rPr lang="en-US" sz="1100" i="1" dirty="0">
                <a:solidFill>
                  <a:srgbClr val="00879E"/>
                </a:solidFill>
                <a:latin typeface="Calibri" pitchFamily="34" charset="0"/>
                <a:ea typeface="Calibri" pitchFamily="34" charset="-122"/>
                <a:cs typeface="Calibri" pitchFamily="34" charset="-120"/>
              </a:rPr>
              <a:t>Long documents dilute meaning — smaller chunks = more precise search</a:t>
            </a:r>
            <a:endParaRPr lang="en-US" sz="1100" dirty="0"/>
          </a:p>
        </p:txBody>
      </p:sp>
      <p:sp>
        <p:nvSpPr>
          <p:cNvPr id="7" name="Shape 5"/>
          <p:cNvSpPr/>
          <p:nvPr/>
        </p:nvSpPr>
        <p:spPr>
          <a:xfrm>
            <a:off x="0" y="4937760"/>
            <a:ext cx="9144000" cy="205740"/>
          </a:xfrm>
          <a:prstGeom prst="rect">
            <a:avLst/>
          </a:prstGeom>
          <a:solidFill>
            <a:srgbClr val="0D2349"/>
          </a:solidFill>
          <a:ln w="12700">
            <a:solidFill>
              <a:srgbClr val="0D2349"/>
            </a:solidFill>
            <a:prstDash val="solid"/>
          </a:ln>
        </p:spPr>
      </p:sp>
      <p:sp>
        <p:nvSpPr>
          <p:cNvPr id="8" name="Text 6"/>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9" name="Shape 7"/>
          <p:cNvSpPr/>
          <p:nvPr/>
        </p:nvSpPr>
        <p:spPr>
          <a:xfrm>
            <a:off x="347472" y="987552"/>
            <a:ext cx="8449056" cy="329184"/>
          </a:xfrm>
          <a:prstGeom prst="rect">
            <a:avLst/>
          </a:prstGeom>
          <a:solidFill>
            <a:srgbClr val="0D2349"/>
          </a:solidFill>
          <a:ln w="12700">
            <a:solidFill>
              <a:srgbClr val="0D2349"/>
            </a:solidFill>
            <a:prstDash val="solid"/>
          </a:ln>
        </p:spPr>
      </p:sp>
      <p:sp>
        <p:nvSpPr>
          <p:cNvPr id="10" name="Text 8"/>
          <p:cNvSpPr/>
          <p:nvPr/>
        </p:nvSpPr>
        <p:spPr>
          <a:xfrm>
            <a:off x="475488" y="987552"/>
            <a:ext cx="8229600" cy="329184"/>
          </a:xfrm>
          <a:prstGeom prst="rect">
            <a:avLst/>
          </a:prstGeom>
          <a:noFill/>
          <a:ln/>
        </p:spPr>
        <p:txBody>
          <a:bodyPr wrap="square" lIns="0" tIns="0" rIns="0" bIns="0" rtlCol="0" anchor="ctr"/>
          <a:lstStyle/>
          <a:p>
            <a:pPr indent="0" marL="0">
              <a:buNone/>
            </a:pPr>
            <a:r>
              <a:rPr lang="en-US" sz="1050" b="1" dirty="0">
                <a:solidFill>
                  <a:srgbClr val="D4891A"/>
                </a:solidFill>
                <a:latin typeface="Calibri" pitchFamily="34" charset="0"/>
                <a:ea typeface="Calibri" pitchFamily="34" charset="-122"/>
                <a:cs typeface="Calibri" pitchFamily="34" charset="-120"/>
              </a:rPr>
              <a:t>Problem: </a:t>
            </a:r>
            <a:pPr indent="0" marL="0">
              <a:buNone/>
            </a:pPr>
            <a:r>
              <a:rPr lang="en-US" sz="1050" dirty="0">
                <a:solidFill>
                  <a:srgbClr val="FFFFFF"/>
                </a:solidFill>
                <a:latin typeface="Calibri" pitchFamily="34" charset="0"/>
                <a:ea typeface="Calibri" pitchFamily="34" charset="-122"/>
                <a:cs typeface="Calibri" pitchFamily="34" charset="-120"/>
              </a:rPr>
              <a:t>A 10-page document produces one vague embedding — not great for any specific query. Chunking fixes this.</a:t>
            </a:r>
            <a:endParaRPr lang="en-US" sz="1050" dirty="0"/>
          </a:p>
        </p:txBody>
      </p:sp>
      <p:sp>
        <p:nvSpPr>
          <p:cNvPr id="11" name="Shape 9"/>
          <p:cNvSpPr/>
          <p:nvPr/>
        </p:nvSpPr>
        <p:spPr>
          <a:xfrm>
            <a:off x="347472" y="1417320"/>
            <a:ext cx="8449056" cy="502920"/>
          </a:xfrm>
          <a:prstGeom prst="rect">
            <a:avLst/>
          </a:prstGeom>
          <a:solidFill>
            <a:srgbClr val="1A4B8C"/>
          </a:solidFill>
          <a:ln w="12700">
            <a:solidFill>
              <a:srgbClr val="1A4B8C"/>
            </a:solidFill>
            <a:prstDash val="solid"/>
          </a:ln>
        </p:spPr>
      </p:sp>
      <p:sp>
        <p:nvSpPr>
          <p:cNvPr id="12" name="Text 10"/>
          <p:cNvSpPr/>
          <p:nvPr/>
        </p:nvSpPr>
        <p:spPr>
          <a:xfrm>
            <a:off x="475488" y="1417320"/>
            <a:ext cx="8229600"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Original document  (1,200 characters — one big embedding of everything)</a:t>
            </a:r>
            <a:endParaRPr lang="en-US" sz="1150" dirty="0"/>
          </a:p>
        </p:txBody>
      </p:sp>
      <p:sp>
        <p:nvSpPr>
          <p:cNvPr id="13" name="Shape 11"/>
          <p:cNvSpPr/>
          <p:nvPr/>
        </p:nvSpPr>
        <p:spPr>
          <a:xfrm>
            <a:off x="347472" y="2057400"/>
            <a:ext cx="3291840" cy="1005840"/>
          </a:xfrm>
          <a:prstGeom prst="rect">
            <a:avLst/>
          </a:prstGeom>
          <a:solidFill>
            <a:srgbClr val="000000"/>
          </a:solidFill>
          <a:ln w="12700">
            <a:solidFill>
              <a:srgbClr val="1A4B8C"/>
            </a:solidFill>
            <a:prstDash val="solid"/>
          </a:ln>
        </p:spPr>
      </p:sp>
      <p:sp>
        <p:nvSpPr>
          <p:cNvPr id="14" name="Shape 12"/>
          <p:cNvSpPr/>
          <p:nvPr/>
        </p:nvSpPr>
        <p:spPr>
          <a:xfrm>
            <a:off x="347472" y="2057400"/>
            <a:ext cx="3291840" cy="274320"/>
          </a:xfrm>
          <a:prstGeom prst="rect">
            <a:avLst/>
          </a:prstGeom>
          <a:solidFill>
            <a:srgbClr val="1A4B8C"/>
          </a:solidFill>
          <a:ln w="12700">
            <a:solidFill>
              <a:srgbClr val="1A4B8C"/>
            </a:solidFill>
            <a:prstDash val="solid"/>
          </a:ln>
        </p:spPr>
      </p:sp>
      <p:sp>
        <p:nvSpPr>
          <p:cNvPr id="15" name="Text 13"/>
          <p:cNvSpPr/>
          <p:nvPr/>
        </p:nvSpPr>
        <p:spPr>
          <a:xfrm>
            <a:off x="457200" y="2057400"/>
            <a:ext cx="3108960" cy="274320"/>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Chunk 1  (500 chars)</a:t>
            </a:r>
            <a:endParaRPr lang="en-US" sz="950" dirty="0"/>
          </a:p>
        </p:txBody>
      </p:sp>
      <p:sp>
        <p:nvSpPr>
          <p:cNvPr id="16" name="Text 14"/>
          <p:cNvSpPr/>
          <p:nvPr/>
        </p:nvSpPr>
        <p:spPr>
          <a:xfrm>
            <a:off x="457200" y="2368296"/>
            <a:ext cx="3063240" cy="640080"/>
          </a:xfrm>
          <a:prstGeom prst="rect">
            <a:avLst/>
          </a:prstGeom>
          <a:noFill/>
          <a:ln/>
        </p:spPr>
        <p:txBody>
          <a:bodyPr wrap="square" lIns="0" tIns="0" rIns="0" bIns="0" rtlCol="0" anchor="ctr"/>
          <a:lstStyle/>
          <a:p>
            <a:pPr indent="0" marL="0">
              <a:buNone/>
            </a:pPr>
            <a:r>
              <a:rPr lang="en-US" sz="900" dirty="0">
                <a:solidFill>
                  <a:srgbClr val="2D3A4A"/>
                </a:solidFill>
                <a:latin typeface="Calibri" pitchFamily="34" charset="0"/>
                <a:ea typeface="Calibri" pitchFamily="34" charset="-122"/>
                <a:cs typeface="Calibri" pitchFamily="34" charset="-120"/>
              </a:rPr>
              <a:t>TechSolutions India was</a:t>
            </a:r>
            <a:endParaRPr lang="en-US" sz="900" dirty="0"/>
          </a:p>
          <a:p>
            <a:pPr indent="0" marL="0">
              <a:buNone/>
            </a:pPr>
            <a:r>
              <a:rPr lang="en-US" sz="900" dirty="0">
                <a:solidFill>
                  <a:srgbClr val="2D3A4A"/>
                </a:solidFill>
                <a:latin typeface="Calibri" pitchFamily="34" charset="0"/>
                <a:ea typeface="Calibri" pitchFamily="34" charset="-122"/>
                <a:cs typeface="Calibri" pitchFamily="34" charset="-120"/>
              </a:rPr>
              <a:t>founded in 2019 by Priya</a:t>
            </a:r>
            <a:endParaRPr lang="en-US" sz="900" dirty="0"/>
          </a:p>
          <a:p>
            <a:pPr indent="0" marL="0">
              <a:buNone/>
            </a:pPr>
            <a:r>
              <a:rPr lang="en-US" sz="900" dirty="0">
                <a:solidFill>
                  <a:srgbClr val="2D3A4A"/>
                </a:solidFill>
                <a:latin typeface="Calibri" pitchFamily="34" charset="0"/>
                <a:ea typeface="Calibri" pitchFamily="34" charset="-122"/>
                <a:cs typeface="Calibri" pitchFamily="34" charset="-120"/>
              </a:rPr>
              <a:t>Sharma…</a:t>
            </a:r>
            <a:endParaRPr lang="en-US" sz="900" dirty="0"/>
          </a:p>
        </p:txBody>
      </p:sp>
      <p:sp>
        <p:nvSpPr>
          <p:cNvPr id="17" name="Shape 15"/>
          <p:cNvSpPr/>
          <p:nvPr/>
        </p:nvSpPr>
        <p:spPr>
          <a:xfrm>
            <a:off x="3291840" y="2057400"/>
            <a:ext cx="594360" cy="1005840"/>
          </a:xfrm>
          <a:prstGeom prst="rect">
            <a:avLst/>
          </a:prstGeom>
          <a:solidFill>
            <a:srgbClr val="00879E"/>
          </a:solidFill>
          <a:ln w="12700">
            <a:solidFill>
              <a:srgbClr val="00879E"/>
            </a:solidFill>
            <a:prstDash val="solid"/>
          </a:ln>
        </p:spPr>
      </p:sp>
      <p:sp>
        <p:nvSpPr>
          <p:cNvPr id="18" name="Text 16"/>
          <p:cNvSpPr/>
          <p:nvPr/>
        </p:nvSpPr>
        <p:spPr>
          <a:xfrm>
            <a:off x="3291840" y="2057400"/>
            <a:ext cx="594360" cy="100584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overlap</a:t>
            </a:r>
            <a:endParaRPr lang="en-US" sz="750" dirty="0"/>
          </a:p>
          <a:p>
            <a:pPr algn="ctr" indent="0" marL="0">
              <a:buNone/>
            </a:pPr>
            <a:r>
              <a:rPr lang="en-US" sz="750" dirty="0">
                <a:solidFill>
                  <a:srgbClr val="FFFFFF"/>
                </a:solidFill>
                <a:latin typeface="Calibri" pitchFamily="34" charset="0"/>
                <a:ea typeface="Calibri" pitchFamily="34" charset="-122"/>
                <a:cs typeface="Calibri" pitchFamily="34" charset="-120"/>
              </a:rPr>
              <a:t>50 chars</a:t>
            </a:r>
            <a:endParaRPr lang="en-US" sz="750" dirty="0"/>
          </a:p>
        </p:txBody>
      </p:sp>
      <p:sp>
        <p:nvSpPr>
          <p:cNvPr id="19" name="Shape 17"/>
          <p:cNvSpPr/>
          <p:nvPr/>
        </p:nvSpPr>
        <p:spPr>
          <a:xfrm>
            <a:off x="3474720" y="2057400"/>
            <a:ext cx="3291840" cy="1005840"/>
          </a:xfrm>
          <a:prstGeom prst="rect">
            <a:avLst/>
          </a:prstGeom>
          <a:solidFill>
            <a:srgbClr val="000000"/>
          </a:solidFill>
          <a:ln w="12700">
            <a:solidFill>
              <a:srgbClr val="00879E"/>
            </a:solidFill>
            <a:prstDash val="solid"/>
          </a:ln>
        </p:spPr>
      </p:sp>
      <p:sp>
        <p:nvSpPr>
          <p:cNvPr id="20" name="Shape 18"/>
          <p:cNvSpPr/>
          <p:nvPr/>
        </p:nvSpPr>
        <p:spPr>
          <a:xfrm>
            <a:off x="3474720" y="2057400"/>
            <a:ext cx="3291840" cy="274320"/>
          </a:xfrm>
          <a:prstGeom prst="rect">
            <a:avLst/>
          </a:prstGeom>
          <a:solidFill>
            <a:srgbClr val="00879E"/>
          </a:solidFill>
          <a:ln w="12700">
            <a:solidFill>
              <a:srgbClr val="00879E"/>
            </a:solidFill>
            <a:prstDash val="solid"/>
          </a:ln>
        </p:spPr>
      </p:sp>
      <p:sp>
        <p:nvSpPr>
          <p:cNvPr id="21" name="Text 19"/>
          <p:cNvSpPr/>
          <p:nvPr/>
        </p:nvSpPr>
        <p:spPr>
          <a:xfrm>
            <a:off x="3584448" y="2057400"/>
            <a:ext cx="3108960" cy="274320"/>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Chunk 2  (500 chars)</a:t>
            </a:r>
            <a:endParaRPr lang="en-US" sz="950" dirty="0"/>
          </a:p>
        </p:txBody>
      </p:sp>
      <p:sp>
        <p:nvSpPr>
          <p:cNvPr id="22" name="Text 20"/>
          <p:cNvSpPr/>
          <p:nvPr/>
        </p:nvSpPr>
        <p:spPr>
          <a:xfrm>
            <a:off x="3584448" y="2368296"/>
            <a:ext cx="3072384" cy="640080"/>
          </a:xfrm>
          <a:prstGeom prst="rect">
            <a:avLst/>
          </a:prstGeom>
          <a:noFill/>
          <a:ln/>
        </p:spPr>
        <p:txBody>
          <a:bodyPr wrap="square" lIns="0" tIns="0" rIns="0" bIns="0" rtlCol="0" anchor="ctr"/>
          <a:lstStyle/>
          <a:p>
            <a:pPr indent="0" marL="0">
              <a:buNone/>
            </a:pPr>
            <a:r>
              <a:rPr lang="en-US" sz="900" dirty="0">
                <a:solidFill>
                  <a:srgbClr val="2D3A4A"/>
                </a:solidFill>
                <a:latin typeface="Calibri" pitchFamily="34" charset="0"/>
                <a:ea typeface="Calibri" pitchFamily="34" charset="-122"/>
                <a:cs typeface="Calibri" pitchFamily="34" charset="-120"/>
              </a:rPr>
              <a:t>…intelligent document</a:t>
            </a:r>
            <a:endParaRPr lang="en-US" sz="900" dirty="0"/>
          </a:p>
          <a:p>
            <a:pPr indent="0" marL="0">
              <a:buNone/>
            </a:pPr>
            <a:r>
              <a:rPr lang="en-US" sz="900" dirty="0">
                <a:solidFill>
                  <a:srgbClr val="2D3A4A"/>
                </a:solidFill>
                <a:latin typeface="Calibri" pitchFamily="34" charset="0"/>
                <a:ea typeface="Calibri" pitchFamily="34" charset="-122"/>
                <a:cs typeface="Calibri" pitchFamily="34" charset="-120"/>
              </a:rPr>
              <a:t>processing platform.</a:t>
            </a:r>
            <a:endParaRPr lang="en-US" sz="900" dirty="0"/>
          </a:p>
          <a:p>
            <a:pPr indent="0" marL="0">
              <a:buNone/>
            </a:pPr>
            <a:r>
              <a:rPr lang="en-US" sz="900" dirty="0">
                <a:solidFill>
                  <a:srgbClr val="2D3A4A"/>
                </a:solidFill>
                <a:latin typeface="Calibri" pitchFamily="34" charset="0"/>
                <a:ea typeface="Calibri" pitchFamily="34" charset="-122"/>
                <a:cs typeface="Calibri" pitchFamily="34" charset="-120"/>
              </a:rPr>
              <a:t>The company has grown</a:t>
            </a:r>
            <a:endParaRPr lang="en-US" sz="900" dirty="0"/>
          </a:p>
          <a:p>
            <a:pPr indent="0" marL="0">
              <a:buNone/>
            </a:pPr>
            <a:r>
              <a:rPr lang="en-US" sz="900" dirty="0">
                <a:solidFill>
                  <a:srgbClr val="2D3A4A"/>
                </a:solidFill>
                <a:latin typeface="Calibri" pitchFamily="34" charset="0"/>
                <a:ea typeface="Calibri" pitchFamily="34" charset="-122"/>
                <a:cs typeface="Calibri" pitchFamily="34" charset="-120"/>
              </a:rPr>
              <a:t>to 500 employees…</a:t>
            </a:r>
            <a:endParaRPr lang="en-US" sz="900" dirty="0"/>
          </a:p>
        </p:txBody>
      </p:sp>
      <p:sp>
        <p:nvSpPr>
          <p:cNvPr id="23" name="Shape 21"/>
          <p:cNvSpPr/>
          <p:nvPr/>
        </p:nvSpPr>
        <p:spPr>
          <a:xfrm>
            <a:off x="6419088" y="2057400"/>
            <a:ext cx="594360" cy="1005840"/>
          </a:xfrm>
          <a:prstGeom prst="rect">
            <a:avLst/>
          </a:prstGeom>
          <a:solidFill>
            <a:srgbClr val="00879E"/>
          </a:solidFill>
          <a:ln w="12700">
            <a:solidFill>
              <a:srgbClr val="00879E"/>
            </a:solidFill>
            <a:prstDash val="solid"/>
          </a:ln>
        </p:spPr>
      </p:sp>
      <p:sp>
        <p:nvSpPr>
          <p:cNvPr id="24" name="Text 22"/>
          <p:cNvSpPr/>
          <p:nvPr/>
        </p:nvSpPr>
        <p:spPr>
          <a:xfrm>
            <a:off x="6419088" y="2057400"/>
            <a:ext cx="594360" cy="100584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overlap</a:t>
            </a:r>
            <a:endParaRPr lang="en-US" sz="750" dirty="0"/>
          </a:p>
          <a:p>
            <a:pPr algn="ctr" indent="0" marL="0">
              <a:buNone/>
            </a:pPr>
            <a:r>
              <a:rPr lang="en-US" sz="750" dirty="0">
                <a:solidFill>
                  <a:srgbClr val="FFFFFF"/>
                </a:solidFill>
                <a:latin typeface="Calibri" pitchFamily="34" charset="0"/>
                <a:ea typeface="Calibri" pitchFamily="34" charset="-122"/>
                <a:cs typeface="Calibri" pitchFamily="34" charset="-120"/>
              </a:rPr>
              <a:t>50 chars</a:t>
            </a:r>
            <a:endParaRPr lang="en-US" sz="750" dirty="0"/>
          </a:p>
        </p:txBody>
      </p:sp>
      <p:sp>
        <p:nvSpPr>
          <p:cNvPr id="25" name="Shape 23"/>
          <p:cNvSpPr/>
          <p:nvPr/>
        </p:nvSpPr>
        <p:spPr>
          <a:xfrm>
            <a:off x="6601968" y="2057400"/>
            <a:ext cx="2194560" cy="1005840"/>
          </a:xfrm>
          <a:prstGeom prst="rect">
            <a:avLst/>
          </a:prstGeom>
          <a:solidFill>
            <a:srgbClr val="000000"/>
          </a:solidFill>
          <a:ln w="12700">
            <a:solidFill>
              <a:srgbClr val="D4891A"/>
            </a:solidFill>
            <a:prstDash val="solid"/>
          </a:ln>
        </p:spPr>
      </p:sp>
      <p:sp>
        <p:nvSpPr>
          <p:cNvPr id="26" name="Shape 24"/>
          <p:cNvSpPr/>
          <p:nvPr/>
        </p:nvSpPr>
        <p:spPr>
          <a:xfrm>
            <a:off x="6601968" y="2057400"/>
            <a:ext cx="2194560" cy="274320"/>
          </a:xfrm>
          <a:prstGeom prst="rect">
            <a:avLst/>
          </a:prstGeom>
          <a:solidFill>
            <a:srgbClr val="D4891A"/>
          </a:solidFill>
          <a:ln w="12700">
            <a:solidFill>
              <a:srgbClr val="D4891A"/>
            </a:solidFill>
            <a:prstDash val="solid"/>
          </a:ln>
        </p:spPr>
      </p:sp>
      <p:sp>
        <p:nvSpPr>
          <p:cNvPr id="27" name="Text 25"/>
          <p:cNvSpPr/>
          <p:nvPr/>
        </p:nvSpPr>
        <p:spPr>
          <a:xfrm>
            <a:off x="6711696" y="2057400"/>
            <a:ext cx="2011680" cy="274320"/>
          </a:xfrm>
          <a:prstGeom prst="rect">
            <a:avLst/>
          </a:prstGeom>
          <a:noFill/>
          <a:ln/>
        </p:spPr>
        <p:txBody>
          <a:bodyPr wrap="square" lIns="0" tIns="0" rIns="0" bIns="0" rtlCol="0" anchor="ctr"/>
          <a:lstStyle/>
          <a:p>
            <a:pPr indent="0" marL="0">
              <a:buNone/>
            </a:pPr>
            <a:r>
              <a:rPr lang="en-US" sz="950" b="1" dirty="0">
                <a:solidFill>
                  <a:srgbClr val="0D2349"/>
                </a:solidFill>
                <a:latin typeface="Trebuchet MS" pitchFamily="34" charset="0"/>
                <a:ea typeface="Trebuchet MS" pitchFamily="34" charset="-122"/>
                <a:cs typeface="Trebuchet MS" pitchFamily="34" charset="-120"/>
              </a:rPr>
              <a:t>Chunk 3</a:t>
            </a:r>
            <a:endParaRPr lang="en-US" sz="950" dirty="0"/>
          </a:p>
        </p:txBody>
      </p:sp>
      <p:sp>
        <p:nvSpPr>
          <p:cNvPr id="28" name="Text 26"/>
          <p:cNvSpPr/>
          <p:nvPr/>
        </p:nvSpPr>
        <p:spPr>
          <a:xfrm>
            <a:off x="6711696" y="2368296"/>
            <a:ext cx="1993392" cy="640080"/>
          </a:xfrm>
          <a:prstGeom prst="rect">
            <a:avLst/>
          </a:prstGeom>
          <a:noFill/>
          <a:ln/>
        </p:spPr>
        <p:txBody>
          <a:bodyPr wrap="square" lIns="0" tIns="0" rIns="0" bIns="0" rtlCol="0" anchor="ctr"/>
          <a:lstStyle/>
          <a:p>
            <a:pPr indent="0" marL="0">
              <a:buNone/>
            </a:pPr>
            <a:r>
              <a:rPr lang="en-US" sz="900" dirty="0">
                <a:solidFill>
                  <a:srgbClr val="2D3A4A"/>
                </a:solidFill>
                <a:latin typeface="Calibri" pitchFamily="34" charset="0"/>
                <a:ea typeface="Calibri" pitchFamily="34" charset="-122"/>
                <a:cs typeface="Calibri" pitchFamily="34" charset="-120"/>
              </a:rPr>
              <a:t>…leave policy allows</a:t>
            </a:r>
            <a:endParaRPr lang="en-US" sz="900" dirty="0"/>
          </a:p>
          <a:p>
            <a:pPr indent="0" marL="0">
              <a:buNone/>
            </a:pPr>
            <a:r>
              <a:rPr lang="en-US" sz="900" dirty="0">
                <a:solidFill>
                  <a:srgbClr val="2D3A4A"/>
                </a:solidFill>
                <a:latin typeface="Calibri" pitchFamily="34" charset="0"/>
                <a:ea typeface="Calibri" pitchFamily="34" charset="-122"/>
                <a:cs typeface="Calibri" pitchFamily="34" charset="-120"/>
              </a:rPr>
              <a:t>24 days annual leave…</a:t>
            </a:r>
            <a:endParaRPr lang="en-US" sz="900" dirty="0"/>
          </a:p>
        </p:txBody>
      </p:sp>
      <p:sp>
        <p:nvSpPr>
          <p:cNvPr id="29" name="Text 27"/>
          <p:cNvSpPr/>
          <p:nvPr/>
        </p:nvSpPr>
        <p:spPr>
          <a:xfrm>
            <a:off x="347472" y="3127248"/>
            <a:ext cx="4114800" cy="219456"/>
          </a:xfrm>
          <a:prstGeom prst="rect">
            <a:avLst/>
          </a:prstGeom>
          <a:noFill/>
          <a:ln/>
        </p:spPr>
        <p:txBody>
          <a:bodyPr wrap="square" lIns="0" tIns="0" rIns="0" bIns="0" rtlCol="0" anchor="ctr"/>
          <a:lstStyle/>
          <a:p>
            <a:pPr indent="0" marL="0">
              <a:buNone/>
            </a:pPr>
            <a:r>
              <a:rPr lang="en-US" sz="950" i="1" dirty="0">
                <a:solidFill>
                  <a:srgbClr val="8896AB"/>
                </a:solidFill>
                <a:latin typeface="Calibri" pitchFamily="34" charset="0"/>
                <a:ea typeface="Calibri" pitchFamily="34" charset="-122"/>
                <a:cs typeface="Calibri" pitchFamily="34" charset="-120"/>
              </a:rPr>
              <a:t>After chunking: chunk_size=500, overlap=50</a:t>
            </a:r>
            <a:endParaRPr lang="en-US" sz="950" dirty="0"/>
          </a:p>
        </p:txBody>
      </p:sp>
      <p:sp>
        <p:nvSpPr>
          <p:cNvPr id="30" name="Shape 28"/>
          <p:cNvSpPr/>
          <p:nvPr/>
        </p:nvSpPr>
        <p:spPr>
          <a:xfrm>
            <a:off x="347472" y="3419856"/>
            <a:ext cx="4114800" cy="786384"/>
          </a:xfrm>
          <a:prstGeom prst="rect">
            <a:avLst/>
          </a:prstGeom>
          <a:solidFill>
            <a:srgbClr val="0D2349"/>
          </a:solidFill>
          <a:ln w="12700">
            <a:solidFill>
              <a:srgbClr val="0D2349"/>
            </a:solidFill>
            <a:prstDash val="solid"/>
          </a:ln>
        </p:spPr>
      </p:sp>
      <p:sp>
        <p:nvSpPr>
          <p:cNvPr id="31" name="Text 29"/>
          <p:cNvSpPr/>
          <p:nvPr/>
        </p:nvSpPr>
        <p:spPr>
          <a:xfrm>
            <a:off x="475488" y="3474720"/>
            <a:ext cx="3840480" cy="237744"/>
          </a:xfrm>
          <a:prstGeom prst="rect">
            <a:avLst/>
          </a:prstGeom>
          <a:noFill/>
          <a:ln/>
        </p:spPr>
        <p:txBody>
          <a:bodyPr wrap="square" lIns="0" tIns="0" rIns="0" bIns="0" rtlCol="0" anchor="ctr"/>
          <a:lstStyle/>
          <a:p>
            <a:pPr indent="0" marL="0">
              <a:buNone/>
            </a:pPr>
            <a:r>
              <a:rPr lang="en-US" sz="1100" b="1" dirty="0">
                <a:solidFill>
                  <a:srgbClr val="F2A829"/>
                </a:solidFill>
                <a:latin typeface="Consolas" pitchFamily="34" charset="0"/>
                <a:ea typeface="Consolas" pitchFamily="34" charset="-122"/>
                <a:cs typeface="Consolas" pitchFamily="34" charset="-120"/>
              </a:rPr>
              <a:t>Query: "leave policy"</a:t>
            </a:r>
            <a:endParaRPr lang="en-US" sz="1100" dirty="0"/>
          </a:p>
        </p:txBody>
      </p:sp>
      <p:sp>
        <p:nvSpPr>
          <p:cNvPr id="32" name="Shape 30"/>
          <p:cNvSpPr/>
          <p:nvPr/>
        </p:nvSpPr>
        <p:spPr>
          <a:xfrm>
            <a:off x="475488" y="3767328"/>
            <a:ext cx="1371600" cy="274320"/>
          </a:xfrm>
          <a:prstGeom prst="rect">
            <a:avLst/>
          </a:prstGeom>
          <a:solidFill>
            <a:srgbClr val="C62828"/>
          </a:solidFill>
          <a:ln w="12700">
            <a:solidFill>
              <a:srgbClr val="C62828"/>
            </a:solidFill>
            <a:prstDash val="solid"/>
          </a:ln>
        </p:spPr>
      </p:sp>
      <p:sp>
        <p:nvSpPr>
          <p:cNvPr id="33" name="Text 31"/>
          <p:cNvSpPr/>
          <p:nvPr/>
        </p:nvSpPr>
        <p:spPr>
          <a:xfrm>
            <a:off x="475488" y="3767328"/>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Whole doc</a:t>
            </a:r>
            <a:endParaRPr lang="en-US" sz="900" dirty="0"/>
          </a:p>
        </p:txBody>
      </p:sp>
      <p:sp>
        <p:nvSpPr>
          <p:cNvPr id="34" name="Text 32"/>
          <p:cNvSpPr/>
          <p:nvPr/>
        </p:nvSpPr>
        <p:spPr>
          <a:xfrm>
            <a:off x="1920240" y="3822192"/>
            <a:ext cx="2011680" cy="201168"/>
          </a:xfrm>
          <a:prstGeom prst="rect">
            <a:avLst/>
          </a:prstGeom>
          <a:noFill/>
          <a:ln/>
        </p:spPr>
        <p:txBody>
          <a:bodyPr wrap="square" lIns="0" tIns="0" rIns="0" bIns="0" rtlCol="0" anchor="ctr"/>
          <a:lstStyle/>
          <a:p>
            <a:pPr indent="0" marL="0">
              <a:buNone/>
            </a:pPr>
            <a:r>
              <a:rPr lang="en-US" sz="950" i="1" dirty="0">
                <a:solidFill>
                  <a:srgbClr val="8896AB"/>
                </a:solidFill>
                <a:latin typeface="Calibri" pitchFamily="34" charset="0"/>
                <a:ea typeface="Calibri" pitchFamily="34" charset="-122"/>
                <a:cs typeface="Calibri" pitchFamily="34" charset="-120"/>
              </a:rPr>
              <a:t>vague match (0.31)</a:t>
            </a:r>
            <a:endParaRPr lang="en-US" sz="950" dirty="0"/>
          </a:p>
        </p:txBody>
      </p:sp>
      <p:sp>
        <p:nvSpPr>
          <p:cNvPr id="35" name="Shape 33"/>
          <p:cNvSpPr/>
          <p:nvPr/>
        </p:nvSpPr>
        <p:spPr>
          <a:xfrm>
            <a:off x="4572000" y="3419856"/>
            <a:ext cx="4224528" cy="786384"/>
          </a:xfrm>
          <a:prstGeom prst="rect">
            <a:avLst/>
          </a:prstGeom>
          <a:solidFill>
            <a:srgbClr val="000000"/>
          </a:solidFill>
          <a:ln w="12700">
            <a:solidFill>
              <a:srgbClr val="00879E"/>
            </a:solidFill>
            <a:prstDash val="solid"/>
          </a:ln>
        </p:spPr>
      </p:sp>
      <p:sp>
        <p:nvSpPr>
          <p:cNvPr id="36" name="Text 34"/>
          <p:cNvSpPr/>
          <p:nvPr/>
        </p:nvSpPr>
        <p:spPr>
          <a:xfrm>
            <a:off x="4700016" y="3474720"/>
            <a:ext cx="3931920" cy="237744"/>
          </a:xfrm>
          <a:prstGeom prst="rect">
            <a:avLst/>
          </a:prstGeom>
          <a:noFill/>
          <a:ln/>
        </p:spPr>
        <p:txBody>
          <a:bodyPr wrap="square" lIns="0" tIns="0" rIns="0" bIns="0" rtlCol="0" anchor="ctr"/>
          <a:lstStyle/>
          <a:p>
            <a:pPr indent="0" marL="0">
              <a:buNone/>
            </a:pPr>
            <a:r>
              <a:rPr lang="en-US" sz="1100" b="1" dirty="0">
                <a:solidFill>
                  <a:srgbClr val="00879E"/>
                </a:solidFill>
                <a:latin typeface="Consolas" pitchFamily="34" charset="0"/>
                <a:ea typeface="Consolas" pitchFamily="34" charset="-122"/>
                <a:cs typeface="Consolas" pitchFamily="34" charset="-120"/>
              </a:rPr>
              <a:t>Query: "leave policy"</a:t>
            </a:r>
            <a:endParaRPr lang="en-US" sz="1100" dirty="0"/>
          </a:p>
        </p:txBody>
      </p:sp>
      <p:sp>
        <p:nvSpPr>
          <p:cNvPr id="37" name="Shape 35"/>
          <p:cNvSpPr/>
          <p:nvPr/>
        </p:nvSpPr>
        <p:spPr>
          <a:xfrm>
            <a:off x="4700016" y="3767328"/>
            <a:ext cx="1371600" cy="274320"/>
          </a:xfrm>
          <a:prstGeom prst="rect">
            <a:avLst/>
          </a:prstGeom>
          <a:solidFill>
            <a:srgbClr val="2E7D32"/>
          </a:solidFill>
          <a:ln w="12700">
            <a:solidFill>
              <a:srgbClr val="2E7D32"/>
            </a:solidFill>
            <a:prstDash val="solid"/>
          </a:ln>
        </p:spPr>
      </p:sp>
      <p:sp>
        <p:nvSpPr>
          <p:cNvPr id="38" name="Text 36"/>
          <p:cNvSpPr/>
          <p:nvPr/>
        </p:nvSpPr>
        <p:spPr>
          <a:xfrm>
            <a:off x="4700016" y="3767328"/>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Chunk 3</a:t>
            </a:r>
            <a:endParaRPr lang="en-US" sz="900" dirty="0"/>
          </a:p>
        </p:txBody>
      </p:sp>
      <p:sp>
        <p:nvSpPr>
          <p:cNvPr id="39" name="Text 37"/>
          <p:cNvSpPr/>
          <p:nvPr/>
        </p:nvSpPr>
        <p:spPr>
          <a:xfrm>
            <a:off x="6144768" y="3822192"/>
            <a:ext cx="2487168" cy="201168"/>
          </a:xfrm>
          <a:prstGeom prst="rect">
            <a:avLst/>
          </a:prstGeom>
          <a:noFill/>
          <a:ln/>
        </p:spPr>
        <p:txBody>
          <a:bodyPr wrap="square" lIns="0" tIns="0" rIns="0" bIns="0" rtlCol="0" anchor="ctr"/>
          <a:lstStyle/>
          <a:p>
            <a:pPr indent="0" marL="0">
              <a:buNone/>
            </a:pPr>
            <a:r>
              <a:rPr lang="en-US" sz="950" i="1" dirty="0">
                <a:solidFill>
                  <a:srgbClr val="00879E"/>
                </a:solidFill>
                <a:latin typeface="Calibri" pitchFamily="34" charset="0"/>
                <a:ea typeface="Calibri" pitchFamily="34" charset="-122"/>
                <a:cs typeface="Calibri" pitchFamily="34" charset="-120"/>
              </a:rPr>
              <a:t>strong match (0.78) — specific section found!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349"/>
          </a:solidFill>
          <a:ln w="12700">
            <a:solidFill>
              <a:srgbClr val="0D234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Vector Databases — Why We Need Chroma</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Text 4"/>
          <p:cNvSpPr/>
          <p:nvPr/>
        </p:nvSpPr>
        <p:spPr>
          <a:xfrm>
            <a:off x="384048" y="749808"/>
            <a:ext cx="8229600" cy="256032"/>
          </a:xfrm>
          <a:prstGeom prst="rect">
            <a:avLst/>
          </a:prstGeom>
          <a:noFill/>
          <a:ln/>
        </p:spPr>
        <p:txBody>
          <a:bodyPr wrap="square" lIns="0" tIns="0" rIns="0" bIns="0" rtlCol="0" anchor="ctr"/>
          <a:lstStyle/>
          <a:p>
            <a:pPr indent="0" marL="0">
              <a:buNone/>
            </a:pPr>
            <a:r>
              <a:rPr lang="en-US" sz="1100" i="1" dirty="0">
                <a:solidFill>
                  <a:srgbClr val="00879E"/>
                </a:solidFill>
                <a:latin typeface="Calibri" pitchFamily="34" charset="0"/>
                <a:ea typeface="Calibri" pitchFamily="34" charset="-122"/>
                <a:cs typeface="Calibri" pitchFamily="34" charset="-120"/>
              </a:rPr>
              <a:t>Regular databases search for exact matches. We need similarity search.</a:t>
            </a:r>
            <a:endParaRPr lang="en-US" sz="1100" dirty="0"/>
          </a:p>
        </p:txBody>
      </p:sp>
      <p:sp>
        <p:nvSpPr>
          <p:cNvPr id="7" name="Shape 5"/>
          <p:cNvSpPr/>
          <p:nvPr/>
        </p:nvSpPr>
        <p:spPr>
          <a:xfrm>
            <a:off x="0" y="4937760"/>
            <a:ext cx="9144000" cy="205740"/>
          </a:xfrm>
          <a:prstGeom prst="rect">
            <a:avLst/>
          </a:prstGeom>
          <a:solidFill>
            <a:srgbClr val="0D2349"/>
          </a:solidFill>
          <a:ln w="12700">
            <a:solidFill>
              <a:srgbClr val="0D2349"/>
            </a:solidFill>
            <a:prstDash val="solid"/>
          </a:ln>
        </p:spPr>
      </p:sp>
      <p:sp>
        <p:nvSpPr>
          <p:cNvPr id="8" name="Text 6"/>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47472" y="987552"/>
          <a:ext cx="8449056" cy="3017520"/>
        </p:xfrm>
        <a:graphic>
          <a:graphicData uri="http://schemas.openxmlformats.org/drawingml/2006/table">
            <a:tbl>
              <a:tblPr/>
              <a:tblGrid>
                <a:gridCol w="1828800"/>
                <a:gridCol w="3383280"/>
                <a:gridCol w="3236976"/>
              </a:tblGrid>
              <a:tr h="402336">
                <a:tc>
                  <a:txBody>
                    <a:bodyPr/>
                    <a:lstStyle/>
                    <a:p>
                      <a:pPr algn="ctr" indent="0" marL="0">
                        <a:buNone/>
                      </a:pPr>
                      <a:endParaRPr lang="en-US" sz="1100" dirty="0">
                        <a:latin typeface="Trebuchet MS" charset="0"/>
                        <a:ea typeface="Trebuchet MS" charset="0"/>
                        <a:cs typeface="Trebuchet MS" charset="0"/>
                      </a:endParaRPr>
                    </a:p>
                  </a:txBody>
                  <a:tcPr marL="76200" marR="762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E8EDF3"/>
                    </a:solidFill>
                  </a:tcPr>
                </a:tc>
                <a:tc>
                  <a:txBody>
                    <a:bodyPr/>
                    <a:lstStyle/>
                    <a:p>
                      <a:pPr algn="ctr" indent="0" marL="0">
                        <a:buNone/>
                      </a:pPr>
                      <a:r>
                        <a:rPr lang="en-US" sz="1100" b="1" dirty="0">
                          <a:solidFill>
                            <a:srgbClr val="2D3A4A"/>
                          </a:solidFill>
                          <a:latin typeface="Trebuchet MS" pitchFamily="34" charset="0"/>
                          <a:ea typeface="Trebuchet MS" pitchFamily="34" charset="-122"/>
                          <a:cs typeface="Trebuchet MS" pitchFamily="34" charset="-120"/>
                        </a:rPr>
                        <a:t>Regular Database (SQL)</a:t>
                      </a:r>
                      <a:endParaRPr lang="en-US" sz="1100" dirty="0">
                        <a:latin typeface="Trebuchet MS" charset="0"/>
                        <a:ea typeface="Trebuchet MS" charset="0"/>
                        <a:cs typeface="Trebuchet MS" charset="0"/>
                      </a:endParaRPr>
                    </a:p>
                  </a:txBody>
                  <a:tcPr marL="76200" marR="762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8896AB"/>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Vector Database (Chroma)</a:t>
                      </a:r>
                      <a:endParaRPr lang="en-US" sz="1100" dirty="0">
                        <a:latin typeface="Trebuchet MS" charset="0"/>
                        <a:ea typeface="Trebuchet MS" charset="0"/>
                        <a:cs typeface="Trebuchet MS" charset="0"/>
                      </a:endParaRPr>
                    </a:p>
                  </a:txBody>
                  <a:tcPr marL="76200" marR="762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00879E"/>
                    </a:solidFill>
                  </a:tcPr>
                </a:tc>
              </a:tr>
              <a:tr h="621792">
                <a:tc>
                  <a:txBody>
                    <a:bodyPr/>
                    <a:lstStyle/>
                    <a:p>
                      <a:pPr indent="0" marL="0">
                        <a:buNone/>
                      </a:pPr>
                      <a:r>
                        <a:rPr lang="en-US" sz="1050" b="1" dirty="0">
                          <a:solidFill>
                            <a:srgbClr val="F2A829"/>
                          </a:solidFill>
                          <a:latin typeface="Trebuchet MS" pitchFamily="34" charset="0"/>
                          <a:ea typeface="Trebuchet MS" pitchFamily="34" charset="-122"/>
                          <a:cs typeface="Trebuchet MS" pitchFamily="34" charset="-120"/>
                        </a:rPr>
                        <a:t>Query type</a:t>
                      </a:r>
                      <a:endParaRPr lang="en-US" sz="1050" dirty="0">
                        <a:latin typeface="Trebuchet MS" charset="0"/>
                        <a:ea typeface="Trebuchet MS" charset="0"/>
                        <a:cs typeface="Trebuchet MS"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0D2349"/>
                    </a:solidFill>
                  </a:tcPr>
                </a:tc>
                <a:tc>
                  <a:txBody>
                    <a:bodyPr/>
                    <a:lstStyle/>
                    <a:p>
                      <a:pPr indent="0" marL="0">
                        <a:buNone/>
                      </a:pPr>
                      <a:r>
                        <a:rPr lang="en-US" sz="1050" dirty="0">
                          <a:solidFill>
                            <a:srgbClr val="2D3A4A"/>
                          </a:solidFill>
                          <a:latin typeface="Calibri" pitchFamily="34" charset="0"/>
                          <a:ea typeface="Calibri" pitchFamily="34" charset="-122"/>
                          <a:cs typeface="Calibri" pitchFamily="34" charset="-120"/>
                        </a:rPr>
                        <a:t>Exact match: WHERE name = 'Priya'</a:t>
                      </a:r>
                      <a:endParaRPr lang="en-US" sz="1050" dirty="0">
                        <a:latin typeface="Calibri" charset="0"/>
                        <a:ea typeface="Calibri" charset="0"/>
                        <a:cs typeface="Calibri"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indent="0" marL="0">
                        <a:buNone/>
                      </a:pPr>
                      <a:r>
                        <a:rPr lang="en-US" sz="1050" b="1" dirty="0">
                          <a:solidFill>
                            <a:srgbClr val="00879E"/>
                          </a:solidFill>
                          <a:latin typeface="Calibri" pitchFamily="34" charset="0"/>
                          <a:ea typeface="Calibri" pitchFamily="34" charset="-122"/>
                          <a:cs typeface="Calibri" pitchFamily="34" charset="-120"/>
                        </a:rPr>
                        <a:t>Similarity: find closest vectors</a:t>
                      </a:r>
                      <a:endParaRPr lang="en-US" sz="1050" dirty="0">
                        <a:latin typeface="Calibri" charset="0"/>
                        <a:ea typeface="Calibri" charset="0"/>
                        <a:cs typeface="Calibri"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E8F8FA"/>
                    </a:solidFill>
                  </a:tcPr>
                </a:tc>
              </a:tr>
              <a:tr h="566928">
                <a:tc>
                  <a:txBody>
                    <a:bodyPr/>
                    <a:lstStyle/>
                    <a:p>
                      <a:pPr indent="0" marL="0">
                        <a:buNone/>
                      </a:pPr>
                      <a:r>
                        <a:rPr lang="en-US" sz="1050" b="1" dirty="0">
                          <a:solidFill>
                            <a:srgbClr val="F2A829"/>
                          </a:solidFill>
                          <a:latin typeface="Trebuchet MS" pitchFamily="34" charset="0"/>
                          <a:ea typeface="Trebuchet MS" pitchFamily="34" charset="-122"/>
                          <a:cs typeface="Trebuchet MS" pitchFamily="34" charset="-120"/>
                        </a:rPr>
                        <a:t>Data stored</a:t>
                      </a:r>
                      <a:endParaRPr lang="en-US" sz="1050" dirty="0">
                        <a:latin typeface="Trebuchet MS" charset="0"/>
                        <a:ea typeface="Trebuchet MS" charset="0"/>
                        <a:cs typeface="Trebuchet MS"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0D2349"/>
                    </a:solidFill>
                  </a:tcPr>
                </a:tc>
                <a:tc>
                  <a:txBody>
                    <a:bodyPr/>
                    <a:lstStyle/>
                    <a:p>
                      <a:pPr indent="0" marL="0">
                        <a:buNone/>
                      </a:pPr>
                      <a:r>
                        <a:rPr lang="en-US" sz="1050" dirty="0">
                          <a:solidFill>
                            <a:srgbClr val="2D3A4A"/>
                          </a:solidFill>
                          <a:latin typeface="Calibri" pitchFamily="34" charset="0"/>
                          <a:ea typeface="Calibri" pitchFamily="34" charset="-122"/>
                          <a:cs typeface="Calibri" pitchFamily="34" charset="-120"/>
                        </a:rPr>
                        <a:t>Text, numbers, dates</a:t>
                      </a:r>
                      <a:endParaRPr lang="en-US" sz="1050" dirty="0">
                        <a:latin typeface="Calibri" charset="0"/>
                        <a:ea typeface="Calibri" charset="0"/>
                        <a:cs typeface="Calibri"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indent="0" marL="0">
                        <a:buNone/>
                      </a:pPr>
                      <a:r>
                        <a:rPr lang="en-US" sz="1050" b="1" dirty="0">
                          <a:solidFill>
                            <a:srgbClr val="00879E"/>
                          </a:solidFill>
                          <a:latin typeface="Calibri" pitchFamily="34" charset="0"/>
                          <a:ea typeface="Calibri" pitchFamily="34" charset="-122"/>
                          <a:cs typeface="Calibri" pitchFamily="34" charset="-120"/>
                        </a:rPr>
                        <a:t>Vectors (+ metadata)</a:t>
                      </a:r>
                      <a:endParaRPr lang="en-US" sz="1050" dirty="0">
                        <a:latin typeface="Calibri" charset="0"/>
                        <a:ea typeface="Calibri" charset="0"/>
                        <a:cs typeface="Calibri"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E8F8FA"/>
                    </a:solidFill>
                  </a:tcPr>
                </a:tc>
              </a:tr>
              <a:tr h="621792">
                <a:tc>
                  <a:txBody>
                    <a:bodyPr/>
                    <a:lstStyle/>
                    <a:p>
                      <a:pPr indent="0" marL="0">
                        <a:buNone/>
                      </a:pPr>
                      <a:r>
                        <a:rPr lang="en-US" sz="1050" b="1" dirty="0">
                          <a:solidFill>
                            <a:srgbClr val="F2A829"/>
                          </a:solidFill>
                          <a:latin typeface="Trebuchet MS" pitchFamily="34" charset="0"/>
                          <a:ea typeface="Trebuchet MS" pitchFamily="34" charset="-122"/>
                          <a:cs typeface="Trebuchet MS" pitchFamily="34" charset="-120"/>
                        </a:rPr>
                        <a:t>Search method</a:t>
                      </a:r>
                      <a:endParaRPr lang="en-US" sz="1050" dirty="0">
                        <a:latin typeface="Trebuchet MS" charset="0"/>
                        <a:ea typeface="Trebuchet MS" charset="0"/>
                        <a:cs typeface="Trebuchet MS"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0D2349"/>
                    </a:solidFill>
                  </a:tcPr>
                </a:tc>
                <a:tc>
                  <a:txBody>
                    <a:bodyPr/>
                    <a:lstStyle/>
                    <a:p>
                      <a:pPr indent="0" marL="0">
                        <a:buNone/>
                      </a:pPr>
                      <a:r>
                        <a:rPr lang="en-US" sz="1050" dirty="0">
                          <a:solidFill>
                            <a:srgbClr val="2D3A4A"/>
                          </a:solidFill>
                          <a:latin typeface="Calibri" pitchFamily="34" charset="0"/>
                          <a:ea typeface="Calibri" pitchFamily="34" charset="-122"/>
                          <a:cs typeface="Calibri" pitchFamily="34" charset="-120"/>
                        </a:rPr>
                        <a:t>Index lookup</a:t>
                      </a:r>
                      <a:endParaRPr lang="en-US" sz="1050" dirty="0">
                        <a:latin typeface="Calibri" charset="0"/>
                        <a:ea typeface="Calibri" charset="0"/>
                        <a:cs typeface="Calibri"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indent="0" marL="0">
                        <a:buNone/>
                      </a:pPr>
                      <a:r>
                        <a:rPr lang="en-US" sz="1050" b="1" dirty="0">
                          <a:solidFill>
                            <a:srgbClr val="00879E"/>
                          </a:solidFill>
                          <a:latin typeface="Calibri" pitchFamily="34" charset="0"/>
                          <a:ea typeface="Calibri" pitchFamily="34" charset="-122"/>
                          <a:cs typeface="Calibri" pitchFamily="34" charset="-120"/>
                        </a:rPr>
                        <a:t>Approximate nearest neighbor</a:t>
                      </a:r>
                      <a:endParaRPr lang="en-US" sz="1050" dirty="0">
                        <a:latin typeface="Calibri" charset="0"/>
                        <a:ea typeface="Calibri" charset="0"/>
                        <a:cs typeface="Calibri"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E8F8FA"/>
                    </a:solidFill>
                  </a:tcPr>
                </a:tc>
              </a:tr>
              <a:tr h="621792">
                <a:tc>
                  <a:txBody>
                    <a:bodyPr/>
                    <a:lstStyle/>
                    <a:p>
                      <a:pPr indent="0" marL="0">
                        <a:buNone/>
                      </a:pPr>
                      <a:r>
                        <a:rPr lang="en-US" sz="1050" b="1" dirty="0">
                          <a:solidFill>
                            <a:srgbClr val="F2A829"/>
                          </a:solidFill>
                          <a:latin typeface="Trebuchet MS" pitchFamily="34" charset="0"/>
                          <a:ea typeface="Trebuchet MS" pitchFamily="34" charset="-122"/>
                          <a:cs typeface="Trebuchet MS" pitchFamily="34" charset="-120"/>
                        </a:rPr>
                        <a:t>Best for</a:t>
                      </a:r>
                      <a:endParaRPr lang="en-US" sz="1050" dirty="0">
                        <a:latin typeface="Trebuchet MS" charset="0"/>
                        <a:ea typeface="Trebuchet MS" charset="0"/>
                        <a:cs typeface="Trebuchet MS"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0D2349"/>
                    </a:solidFill>
                  </a:tcPr>
                </a:tc>
                <a:tc>
                  <a:txBody>
                    <a:bodyPr/>
                    <a:lstStyle/>
                    <a:p>
                      <a:pPr indent="0" marL="0">
                        <a:buNone/>
                      </a:pPr>
                      <a:r>
                        <a:rPr lang="en-US" sz="1050" dirty="0">
                          <a:solidFill>
                            <a:srgbClr val="2D3A4A"/>
                          </a:solidFill>
                          <a:latin typeface="Calibri" pitchFamily="34" charset="0"/>
                          <a:ea typeface="Calibri" pitchFamily="34" charset="-122"/>
                          <a:cs typeface="Calibri" pitchFamily="34" charset="-120"/>
                        </a:rPr>
                        <a:t>Structured data, exact queries</a:t>
                      </a:r>
                      <a:endParaRPr lang="en-US" sz="1050" dirty="0">
                        <a:latin typeface="Calibri" charset="0"/>
                        <a:ea typeface="Calibri" charset="0"/>
                        <a:cs typeface="Calibri"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indent="0" marL="0">
                        <a:buNone/>
                      </a:pPr>
                      <a:r>
                        <a:rPr lang="en-US" sz="1050" b="1" dirty="0">
                          <a:solidFill>
                            <a:srgbClr val="00879E"/>
                          </a:solidFill>
                          <a:latin typeface="Calibri" pitchFamily="34" charset="0"/>
                          <a:ea typeface="Calibri" pitchFamily="34" charset="-122"/>
                          <a:cs typeface="Calibri" pitchFamily="34" charset="-120"/>
                        </a:rPr>
                        <a:t>Semantic search, recommendations</a:t>
                      </a:r>
                      <a:endParaRPr lang="en-US" sz="1050" dirty="0">
                        <a:latin typeface="Calibri" charset="0"/>
                        <a:ea typeface="Calibri" charset="0"/>
                        <a:cs typeface="Calibri" charset="0"/>
                      </a:endParaRPr>
                    </a:p>
                  </a:txBody>
                  <a:tcPr marL="101600" marR="101600" marT="50800" marB="50800" anchor="ct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E8F8FA"/>
                    </a:solidFill>
                  </a:tcPr>
                </a:tc>
              </a:tr>
            </a:tbl>
          </a:graphicData>
        </a:graphic>
      </p:graphicFrame>
      <p:sp>
        <p:nvSpPr>
          <p:cNvPr id="10" name="Shape 7"/>
          <p:cNvSpPr/>
          <p:nvPr/>
        </p:nvSpPr>
        <p:spPr>
          <a:xfrm>
            <a:off x="347472" y="4133088"/>
            <a:ext cx="8449056" cy="566928"/>
          </a:xfrm>
          <a:prstGeom prst="rect">
            <a:avLst/>
          </a:prstGeom>
          <a:solidFill>
            <a:srgbClr val="0D2349"/>
          </a:solidFill>
          <a:ln w="12700">
            <a:solidFill>
              <a:srgbClr val="00879E"/>
            </a:solidFill>
            <a:prstDash val="solid"/>
          </a:ln>
        </p:spPr>
      </p:sp>
      <p:sp>
        <p:nvSpPr>
          <p:cNvPr id="11" name="Text 8"/>
          <p:cNvSpPr/>
          <p:nvPr/>
        </p:nvSpPr>
        <p:spPr>
          <a:xfrm>
            <a:off x="475488" y="4133088"/>
            <a:ext cx="8229600" cy="566928"/>
          </a:xfrm>
          <a:prstGeom prst="rect">
            <a:avLst/>
          </a:prstGeom>
          <a:noFill/>
          <a:ln/>
        </p:spPr>
        <p:txBody>
          <a:bodyPr wrap="square" lIns="0" tIns="0" rIns="0" bIns="0" rtlCol="0" anchor="ctr"/>
          <a:lstStyle/>
          <a:p>
            <a:pPr indent="0" marL="0">
              <a:buNone/>
            </a:pPr>
            <a:r>
              <a:rPr lang="en-US" sz="1050" b="1" dirty="0">
                <a:solidFill>
                  <a:srgbClr val="00879E"/>
                </a:solidFill>
                <a:latin typeface="Calibri" pitchFamily="34" charset="0"/>
                <a:ea typeface="Calibri" pitchFamily="34" charset="-122"/>
                <a:cs typeface="Calibri" pitchFamily="34" charset="-120"/>
              </a:rPr>
              <a:t>We use Chroma  </a:t>
            </a:r>
            <a:pPr indent="0" marL="0">
              <a:buNone/>
            </a:pPr>
            <a:r>
              <a:rPr lang="en-US" sz="1050" dirty="0">
                <a:solidFill>
                  <a:srgbClr val="8896AB"/>
                </a:solidFill>
                <a:latin typeface="Calibri" pitchFamily="34" charset="0"/>
                <a:ea typeface="Calibri" pitchFamily="34" charset="-122"/>
                <a:cs typeface="Calibri" pitchFamily="34" charset="-120"/>
              </a:rPr>
              <a:t>— lightweight, Python-native, perfect for learning. Same concept scales to production databases like </a:t>
            </a:r>
            <a:pPr indent="0" marL="0">
              <a:buNone/>
            </a:pPr>
            <a:r>
              <a:rPr lang="en-US" sz="1050" b="1" dirty="0">
                <a:solidFill>
                  <a:srgbClr val="F2A829"/>
                </a:solidFill>
                <a:latin typeface="Calibri" pitchFamily="34" charset="0"/>
                <a:ea typeface="Calibri" pitchFamily="34" charset="-122"/>
                <a:cs typeface="Calibri" pitchFamily="34" charset="-120"/>
              </a:rPr>
              <a:t>Pinecone, Weaviate, Qdrant</a:t>
            </a:r>
            <a:pPr indent="0" marL="0">
              <a:buNone/>
            </a:pPr>
            <a:r>
              <a:rPr lang="en-US" sz="1050" dirty="0">
                <a:solidFill>
                  <a:srgbClr val="8896AB"/>
                </a:solidFill>
                <a:latin typeface="Calibri" pitchFamily="34" charset="0"/>
                <a:ea typeface="Calibri" pitchFamily="34" charset="-122"/>
                <a:cs typeface="Calibri" pitchFamily="34" charset="-120"/>
              </a:rPr>
              <a:t> in real-world deployments.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349"/>
          </a:solidFill>
          <a:ln w="12700">
            <a:solidFill>
              <a:srgbClr val="0D234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Visualizing Embeddings with t-SNE</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Text 4"/>
          <p:cNvSpPr/>
          <p:nvPr/>
        </p:nvSpPr>
        <p:spPr>
          <a:xfrm>
            <a:off x="384048" y="749808"/>
            <a:ext cx="8229600" cy="256032"/>
          </a:xfrm>
          <a:prstGeom prst="rect">
            <a:avLst/>
          </a:prstGeom>
          <a:noFill/>
          <a:ln/>
        </p:spPr>
        <p:txBody>
          <a:bodyPr wrap="square" lIns="0" tIns="0" rIns="0" bIns="0" rtlCol="0" anchor="ctr"/>
          <a:lstStyle/>
          <a:p>
            <a:pPr indent="0" marL="0">
              <a:buNone/>
            </a:pPr>
            <a:r>
              <a:rPr lang="en-US" sz="1100" i="1" dirty="0">
                <a:solidFill>
                  <a:srgbClr val="00879E"/>
                </a:solidFill>
                <a:latin typeface="Calibri" pitchFamily="34" charset="0"/>
                <a:ea typeface="Calibri" pitchFamily="34" charset="-122"/>
                <a:cs typeface="Calibri" pitchFamily="34" charset="-120"/>
              </a:rPr>
              <a:t>384 dimensions → 2D while preserving relationships</a:t>
            </a:r>
            <a:endParaRPr lang="en-US" sz="1100" dirty="0"/>
          </a:p>
        </p:txBody>
      </p:sp>
      <p:sp>
        <p:nvSpPr>
          <p:cNvPr id="7" name="Shape 5"/>
          <p:cNvSpPr/>
          <p:nvPr/>
        </p:nvSpPr>
        <p:spPr>
          <a:xfrm>
            <a:off x="0" y="4937760"/>
            <a:ext cx="9144000" cy="205740"/>
          </a:xfrm>
          <a:prstGeom prst="rect">
            <a:avLst/>
          </a:prstGeom>
          <a:solidFill>
            <a:srgbClr val="0D2349"/>
          </a:solidFill>
          <a:ln w="12700">
            <a:solidFill>
              <a:srgbClr val="0D2349"/>
            </a:solidFill>
            <a:prstDash val="solid"/>
          </a:ln>
        </p:spPr>
      </p:sp>
      <p:sp>
        <p:nvSpPr>
          <p:cNvPr id="8" name="Text 6"/>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9" name="Shape 7"/>
          <p:cNvSpPr/>
          <p:nvPr/>
        </p:nvSpPr>
        <p:spPr>
          <a:xfrm>
            <a:off x="347472" y="987552"/>
            <a:ext cx="8449056" cy="310896"/>
          </a:xfrm>
          <a:prstGeom prst="rect">
            <a:avLst/>
          </a:prstGeom>
          <a:solidFill>
            <a:srgbClr val="0D2349"/>
          </a:solidFill>
          <a:ln w="12700">
            <a:solidFill>
              <a:srgbClr val="0D2349"/>
            </a:solidFill>
            <a:prstDash val="solid"/>
          </a:ln>
        </p:spPr>
      </p:sp>
      <p:sp>
        <p:nvSpPr>
          <p:cNvPr id="10" name="Text 8"/>
          <p:cNvSpPr/>
          <p:nvPr/>
        </p:nvSpPr>
        <p:spPr>
          <a:xfrm>
            <a:off x="475488" y="987552"/>
            <a:ext cx="8229600" cy="310896"/>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t-SNE squashes 384 dimensions into 2D — documents that are close in meaning stay close in the plot</a:t>
            </a:r>
            <a:endParaRPr lang="en-US" sz="1100" dirty="0"/>
          </a:p>
        </p:txBody>
      </p:sp>
      <p:sp>
        <p:nvSpPr>
          <p:cNvPr id="11" name="Shape 9"/>
          <p:cNvSpPr/>
          <p:nvPr/>
        </p:nvSpPr>
        <p:spPr>
          <a:xfrm>
            <a:off x="347472" y="1371600"/>
            <a:ext cx="5303520" cy="3337560"/>
          </a:xfrm>
          <a:prstGeom prst="rect">
            <a:avLst/>
          </a:prstGeom>
          <a:solidFill>
            <a:srgbClr val="0A1929"/>
          </a:solidFill>
          <a:ln w="12700">
            <a:solidFill>
              <a:srgbClr val="8896AB"/>
            </a:solidFill>
            <a:prstDash val="solid"/>
          </a:ln>
        </p:spPr>
      </p:sp>
      <p:sp>
        <p:nvSpPr>
          <p:cNvPr id="12" name="Text 10"/>
          <p:cNvSpPr/>
          <p:nvPr/>
        </p:nvSpPr>
        <p:spPr>
          <a:xfrm>
            <a:off x="438912" y="1426464"/>
            <a:ext cx="5120640" cy="219456"/>
          </a:xfrm>
          <a:prstGeom prst="rect">
            <a:avLst/>
          </a:prstGeom>
          <a:noFill/>
          <a:ln/>
        </p:spPr>
        <p:txBody>
          <a:bodyPr wrap="square" lIns="0" tIns="0" rIns="0" bIns="0" rtlCol="0" anchor="ctr"/>
          <a:lstStyle/>
          <a:p>
            <a:pPr algn="ctr" indent="0" marL="0">
              <a:buNone/>
            </a:pPr>
            <a:r>
              <a:rPr lang="en-US" sz="900" dirty="0">
                <a:solidFill>
                  <a:srgbClr val="8896AB"/>
                </a:solidFill>
                <a:latin typeface="Calibri" pitchFamily="34" charset="0"/>
                <a:ea typeface="Calibri" pitchFamily="34" charset="-122"/>
                <a:cs typeface="Calibri" pitchFamily="34" charset="-120"/>
              </a:rPr>
              <a:t>t-SNE 2D Plot — TechSolutions documents</a:t>
            </a:r>
            <a:endParaRPr lang="en-US" sz="900" dirty="0"/>
          </a:p>
        </p:txBody>
      </p:sp>
      <p:sp>
        <p:nvSpPr>
          <p:cNvPr id="13" name="Shape 11"/>
          <p:cNvSpPr/>
          <p:nvPr/>
        </p:nvSpPr>
        <p:spPr>
          <a:xfrm>
            <a:off x="658368" y="1691640"/>
            <a:ext cx="1463040" cy="914400"/>
          </a:xfrm>
          <a:prstGeom prst="ellipse">
            <a:avLst/>
          </a:prstGeom>
          <a:solidFill>
            <a:srgbClr val="000000"/>
          </a:solidFill>
          <a:ln w="6350">
            <a:solidFill>
              <a:srgbClr val="1A4B8C"/>
            </a:solidFill>
            <a:prstDash val="solid"/>
          </a:ln>
        </p:spPr>
      </p:sp>
      <p:sp>
        <p:nvSpPr>
          <p:cNvPr id="14" name="Text 12"/>
          <p:cNvSpPr/>
          <p:nvPr/>
        </p:nvSpPr>
        <p:spPr>
          <a:xfrm>
            <a:off x="658368" y="1691640"/>
            <a:ext cx="1463040" cy="365760"/>
          </a:xfrm>
          <a:prstGeom prst="rect">
            <a:avLst/>
          </a:prstGeom>
          <a:noFill/>
          <a:ln/>
        </p:spPr>
        <p:txBody>
          <a:bodyPr wrap="square" lIns="0" tIns="0" rIns="0" bIns="0" rtlCol="0" anchor="ctr"/>
          <a:lstStyle/>
          <a:p>
            <a:pPr algn="ctr" indent="0" marL="0">
              <a:buNone/>
            </a:pPr>
            <a:r>
              <a:rPr lang="en-US" sz="800" i="1" dirty="0">
                <a:solidFill>
                  <a:srgbClr val="00879E"/>
                </a:solidFill>
                <a:latin typeface="Calibri" pitchFamily="34" charset="0"/>
                <a:ea typeface="Calibri" pitchFamily="34" charset="-122"/>
                <a:cs typeface="Calibri" pitchFamily="34" charset="-120"/>
              </a:rPr>
              <a:t>Company/</a:t>
            </a:r>
            <a:endParaRPr lang="en-US" sz="800" dirty="0"/>
          </a:p>
          <a:p>
            <a:pPr algn="ctr" indent="0" marL="0">
              <a:buNone/>
            </a:pPr>
            <a:r>
              <a:rPr lang="en-US" sz="800" i="1" dirty="0">
                <a:solidFill>
                  <a:srgbClr val="00879E"/>
                </a:solidFill>
                <a:latin typeface="Calibri" pitchFamily="34" charset="0"/>
                <a:ea typeface="Calibri" pitchFamily="34" charset="-122"/>
                <a:cs typeface="Calibri" pitchFamily="34" charset="-120"/>
              </a:rPr>
              <a:t>People</a:t>
            </a:r>
            <a:endParaRPr lang="en-US" sz="800" dirty="0"/>
          </a:p>
        </p:txBody>
      </p:sp>
      <p:sp>
        <p:nvSpPr>
          <p:cNvPr id="15" name="Shape 13"/>
          <p:cNvSpPr/>
          <p:nvPr/>
        </p:nvSpPr>
        <p:spPr>
          <a:xfrm>
            <a:off x="914400" y="1920240"/>
            <a:ext cx="201168" cy="201168"/>
          </a:xfrm>
          <a:prstGeom prst="ellipse">
            <a:avLst/>
          </a:prstGeom>
          <a:solidFill>
            <a:srgbClr val="1A4B8C"/>
          </a:solidFill>
          <a:ln w="12700">
            <a:solidFill>
              <a:srgbClr val="1A4B8C"/>
            </a:solidFill>
            <a:prstDash val="solid"/>
          </a:ln>
        </p:spPr>
      </p:sp>
      <p:sp>
        <p:nvSpPr>
          <p:cNvPr id="16" name="Text 14"/>
          <p:cNvSpPr/>
          <p:nvPr/>
        </p:nvSpPr>
        <p:spPr>
          <a:xfrm>
            <a:off x="1133856" y="1901952"/>
            <a:ext cx="1280160" cy="201168"/>
          </a:xfrm>
          <a:prstGeom prst="rect">
            <a:avLst/>
          </a:prstGeom>
          <a:noFill/>
          <a:ln/>
        </p:spPr>
        <p:txBody>
          <a:bodyPr wrap="square" lIns="0" tIns="0" rIns="0" bIns="0" rtlCol="0" anchor="ctr"/>
          <a:lstStyle/>
          <a:p>
            <a:pPr indent="0" marL="0">
              <a:buNone/>
            </a:pPr>
            <a:r>
              <a:rPr lang="en-US" sz="850" dirty="0">
                <a:solidFill>
                  <a:srgbClr val="00879E"/>
                </a:solidFill>
                <a:latin typeface="Consolas" pitchFamily="34" charset="0"/>
                <a:ea typeface="Consolas" pitchFamily="34" charset="-122"/>
                <a:cs typeface="Consolas" pitchFamily="34" charset="-120"/>
              </a:rPr>
              <a:t>company_doc</a:t>
            </a:r>
            <a:endParaRPr lang="en-US" sz="850" dirty="0"/>
          </a:p>
        </p:txBody>
      </p:sp>
      <p:sp>
        <p:nvSpPr>
          <p:cNvPr id="17" name="Shape 15"/>
          <p:cNvSpPr/>
          <p:nvPr/>
        </p:nvSpPr>
        <p:spPr>
          <a:xfrm>
            <a:off x="1325880" y="2286000"/>
            <a:ext cx="201168" cy="201168"/>
          </a:xfrm>
          <a:prstGeom prst="ellipse">
            <a:avLst/>
          </a:prstGeom>
          <a:solidFill>
            <a:srgbClr val="1A4B8C"/>
          </a:solidFill>
          <a:ln w="12700">
            <a:solidFill>
              <a:srgbClr val="1A4B8C"/>
            </a:solidFill>
            <a:prstDash val="solid"/>
          </a:ln>
        </p:spPr>
      </p:sp>
      <p:sp>
        <p:nvSpPr>
          <p:cNvPr id="18" name="Text 16"/>
          <p:cNvSpPr/>
          <p:nvPr/>
        </p:nvSpPr>
        <p:spPr>
          <a:xfrm>
            <a:off x="1545336" y="2267712"/>
            <a:ext cx="1280160" cy="201168"/>
          </a:xfrm>
          <a:prstGeom prst="rect">
            <a:avLst/>
          </a:prstGeom>
          <a:noFill/>
          <a:ln/>
        </p:spPr>
        <p:txBody>
          <a:bodyPr wrap="square" lIns="0" tIns="0" rIns="0" bIns="0" rtlCol="0" anchor="ctr"/>
          <a:lstStyle/>
          <a:p>
            <a:pPr indent="0" marL="0">
              <a:buNone/>
            </a:pPr>
            <a:r>
              <a:rPr lang="en-US" sz="850" dirty="0">
                <a:solidFill>
                  <a:srgbClr val="00879E"/>
                </a:solidFill>
                <a:latin typeface="Consolas" pitchFamily="34" charset="0"/>
                <a:ea typeface="Consolas" pitchFamily="34" charset="-122"/>
                <a:cs typeface="Consolas" pitchFamily="34" charset="-120"/>
              </a:rPr>
              <a:t>priya_doc</a:t>
            </a:r>
            <a:endParaRPr lang="en-US" sz="850" dirty="0"/>
          </a:p>
        </p:txBody>
      </p:sp>
      <p:sp>
        <p:nvSpPr>
          <p:cNvPr id="19" name="Shape 17"/>
          <p:cNvSpPr/>
          <p:nvPr/>
        </p:nvSpPr>
        <p:spPr>
          <a:xfrm>
            <a:off x="2103120" y="2670048"/>
            <a:ext cx="1463040" cy="914400"/>
          </a:xfrm>
          <a:prstGeom prst="ellipse">
            <a:avLst/>
          </a:prstGeom>
          <a:solidFill>
            <a:srgbClr val="000000"/>
          </a:solidFill>
          <a:ln w="6350">
            <a:solidFill>
              <a:srgbClr val="00879E"/>
            </a:solidFill>
            <a:prstDash val="solid"/>
          </a:ln>
        </p:spPr>
      </p:sp>
      <p:sp>
        <p:nvSpPr>
          <p:cNvPr id="20" name="Text 18"/>
          <p:cNvSpPr/>
          <p:nvPr/>
        </p:nvSpPr>
        <p:spPr>
          <a:xfrm>
            <a:off x="2103120" y="2670048"/>
            <a:ext cx="1463040" cy="365760"/>
          </a:xfrm>
          <a:prstGeom prst="rect">
            <a:avLst/>
          </a:prstGeom>
          <a:noFill/>
          <a:ln/>
        </p:spPr>
        <p:txBody>
          <a:bodyPr wrap="square" lIns="0" tIns="0" rIns="0" bIns="0" rtlCol="0" anchor="ctr"/>
          <a:lstStyle/>
          <a:p>
            <a:pPr algn="ctr" indent="0" marL="0">
              <a:buNone/>
            </a:pPr>
            <a:r>
              <a:rPr lang="en-US" sz="800" i="1" dirty="0">
                <a:solidFill>
                  <a:srgbClr val="00879E"/>
                </a:solidFill>
                <a:latin typeface="Calibri" pitchFamily="34" charset="0"/>
                <a:ea typeface="Calibri" pitchFamily="34" charset="-122"/>
                <a:cs typeface="Calibri" pitchFamily="34" charset="-120"/>
              </a:rPr>
              <a:t>Product/</a:t>
            </a:r>
            <a:endParaRPr lang="en-US" sz="800" dirty="0"/>
          </a:p>
          <a:p>
            <a:pPr algn="ctr" indent="0" marL="0">
              <a:buNone/>
            </a:pPr>
            <a:r>
              <a:rPr lang="en-US" sz="800" i="1" dirty="0">
                <a:solidFill>
                  <a:srgbClr val="00879E"/>
                </a:solidFill>
                <a:latin typeface="Calibri" pitchFamily="34" charset="0"/>
                <a:ea typeface="Calibri" pitchFamily="34" charset="-122"/>
                <a:cs typeface="Calibri" pitchFamily="34" charset="-120"/>
              </a:rPr>
              <a:t>Tech</a:t>
            </a:r>
            <a:endParaRPr lang="en-US" sz="800" dirty="0"/>
          </a:p>
        </p:txBody>
      </p:sp>
      <p:sp>
        <p:nvSpPr>
          <p:cNvPr id="21" name="Shape 19"/>
          <p:cNvSpPr/>
          <p:nvPr/>
        </p:nvSpPr>
        <p:spPr>
          <a:xfrm>
            <a:off x="2286000" y="2834640"/>
            <a:ext cx="201168" cy="201168"/>
          </a:xfrm>
          <a:prstGeom prst="ellipse">
            <a:avLst/>
          </a:prstGeom>
          <a:solidFill>
            <a:srgbClr val="00879E"/>
          </a:solidFill>
          <a:ln w="12700">
            <a:solidFill>
              <a:srgbClr val="00879E"/>
            </a:solidFill>
            <a:prstDash val="solid"/>
          </a:ln>
        </p:spPr>
      </p:sp>
      <p:sp>
        <p:nvSpPr>
          <p:cNvPr id="22" name="Text 20"/>
          <p:cNvSpPr/>
          <p:nvPr/>
        </p:nvSpPr>
        <p:spPr>
          <a:xfrm>
            <a:off x="2505456" y="2816352"/>
            <a:ext cx="1371600" cy="201168"/>
          </a:xfrm>
          <a:prstGeom prst="rect">
            <a:avLst/>
          </a:prstGeom>
          <a:noFill/>
          <a:ln/>
        </p:spPr>
        <p:txBody>
          <a:bodyPr wrap="square" lIns="0" tIns="0" rIns="0" bIns="0" rtlCol="0" anchor="ctr"/>
          <a:lstStyle/>
          <a:p>
            <a:pPr indent="0" marL="0">
              <a:buNone/>
            </a:pPr>
            <a:r>
              <a:rPr lang="en-US" sz="850" dirty="0">
                <a:solidFill>
                  <a:srgbClr val="00879E"/>
                </a:solidFill>
                <a:latin typeface="Consolas" pitchFamily="34" charset="0"/>
                <a:ea typeface="Consolas" pitchFamily="34" charset="-122"/>
                <a:cs typeface="Consolas" pitchFamily="34" charset="-120"/>
              </a:rPr>
              <a:t>products_doc</a:t>
            </a:r>
            <a:endParaRPr lang="en-US" sz="850" dirty="0"/>
          </a:p>
        </p:txBody>
      </p:sp>
      <p:sp>
        <p:nvSpPr>
          <p:cNvPr id="23" name="Shape 21"/>
          <p:cNvSpPr/>
          <p:nvPr/>
        </p:nvSpPr>
        <p:spPr>
          <a:xfrm>
            <a:off x="2743200" y="3200400"/>
            <a:ext cx="201168" cy="201168"/>
          </a:xfrm>
          <a:prstGeom prst="ellipse">
            <a:avLst/>
          </a:prstGeom>
          <a:solidFill>
            <a:srgbClr val="00879E"/>
          </a:solidFill>
          <a:ln w="12700">
            <a:solidFill>
              <a:srgbClr val="00879E"/>
            </a:solidFill>
            <a:prstDash val="solid"/>
          </a:ln>
        </p:spPr>
      </p:sp>
      <p:sp>
        <p:nvSpPr>
          <p:cNvPr id="24" name="Text 22"/>
          <p:cNvSpPr/>
          <p:nvPr/>
        </p:nvSpPr>
        <p:spPr>
          <a:xfrm>
            <a:off x="2962656" y="3182112"/>
            <a:ext cx="1371600" cy="201168"/>
          </a:xfrm>
          <a:prstGeom prst="rect">
            <a:avLst/>
          </a:prstGeom>
          <a:noFill/>
          <a:ln/>
        </p:spPr>
        <p:txBody>
          <a:bodyPr wrap="square" lIns="0" tIns="0" rIns="0" bIns="0" rtlCol="0" anchor="ctr"/>
          <a:lstStyle/>
          <a:p>
            <a:pPr indent="0" marL="0">
              <a:buNone/>
            </a:pPr>
            <a:r>
              <a:rPr lang="en-US" sz="850" dirty="0">
                <a:solidFill>
                  <a:srgbClr val="00879E"/>
                </a:solidFill>
                <a:latin typeface="Consolas" pitchFamily="34" charset="0"/>
                <a:ea typeface="Consolas" pitchFamily="34" charset="-122"/>
                <a:cs typeface="Consolas" pitchFamily="34" charset="-120"/>
              </a:rPr>
              <a:t>tech_stack_doc</a:t>
            </a:r>
            <a:endParaRPr lang="en-US" sz="850" dirty="0"/>
          </a:p>
        </p:txBody>
      </p:sp>
      <p:sp>
        <p:nvSpPr>
          <p:cNvPr id="25" name="Shape 23"/>
          <p:cNvSpPr/>
          <p:nvPr/>
        </p:nvSpPr>
        <p:spPr>
          <a:xfrm>
            <a:off x="3474720" y="4041648"/>
            <a:ext cx="1371600" cy="566928"/>
          </a:xfrm>
          <a:prstGeom prst="ellipse">
            <a:avLst/>
          </a:prstGeom>
          <a:solidFill>
            <a:srgbClr val="000000"/>
          </a:solidFill>
          <a:ln w="6350">
            <a:solidFill>
              <a:srgbClr val="D4891A"/>
            </a:solidFill>
            <a:prstDash val="solid"/>
          </a:ln>
        </p:spPr>
      </p:sp>
      <p:sp>
        <p:nvSpPr>
          <p:cNvPr id="26" name="Shape 24"/>
          <p:cNvSpPr/>
          <p:nvPr/>
        </p:nvSpPr>
        <p:spPr>
          <a:xfrm>
            <a:off x="3657600" y="4114800"/>
            <a:ext cx="201168" cy="201168"/>
          </a:xfrm>
          <a:prstGeom prst="ellipse">
            <a:avLst/>
          </a:prstGeom>
          <a:solidFill>
            <a:srgbClr val="D4891A"/>
          </a:solidFill>
          <a:ln w="12700">
            <a:solidFill>
              <a:srgbClr val="D4891A"/>
            </a:solidFill>
            <a:prstDash val="solid"/>
          </a:ln>
        </p:spPr>
      </p:sp>
      <p:sp>
        <p:nvSpPr>
          <p:cNvPr id="27" name="Text 25"/>
          <p:cNvSpPr/>
          <p:nvPr/>
        </p:nvSpPr>
        <p:spPr>
          <a:xfrm>
            <a:off x="3877056" y="4096512"/>
            <a:ext cx="1188720" cy="201168"/>
          </a:xfrm>
          <a:prstGeom prst="rect">
            <a:avLst/>
          </a:prstGeom>
          <a:noFill/>
          <a:ln/>
        </p:spPr>
        <p:txBody>
          <a:bodyPr wrap="square" lIns="0" tIns="0" rIns="0" bIns="0" rtlCol="0" anchor="ctr"/>
          <a:lstStyle/>
          <a:p>
            <a:pPr indent="0" marL="0">
              <a:buNone/>
            </a:pPr>
            <a:r>
              <a:rPr lang="en-US" sz="850" dirty="0">
                <a:solidFill>
                  <a:srgbClr val="F2A829"/>
                </a:solidFill>
                <a:latin typeface="Consolas" pitchFamily="34" charset="0"/>
                <a:ea typeface="Consolas" pitchFamily="34" charset="-122"/>
                <a:cs typeface="Consolas" pitchFamily="34" charset="-120"/>
              </a:rPr>
              <a:t>policies_doc</a:t>
            </a:r>
            <a:endParaRPr lang="en-US" sz="850" dirty="0"/>
          </a:p>
        </p:txBody>
      </p:sp>
      <p:sp>
        <p:nvSpPr>
          <p:cNvPr id="28" name="Text 26"/>
          <p:cNvSpPr/>
          <p:nvPr/>
        </p:nvSpPr>
        <p:spPr>
          <a:xfrm>
            <a:off x="3474720" y="4041648"/>
            <a:ext cx="1371600" cy="320040"/>
          </a:xfrm>
          <a:prstGeom prst="rect">
            <a:avLst/>
          </a:prstGeom>
          <a:noFill/>
          <a:ln/>
        </p:spPr>
        <p:txBody>
          <a:bodyPr wrap="square" lIns="0" tIns="0" rIns="0" bIns="0" rtlCol="0" anchor="ctr"/>
          <a:lstStyle/>
          <a:p>
            <a:pPr algn="ctr" indent="0" marL="0">
              <a:buNone/>
            </a:pPr>
            <a:r>
              <a:rPr lang="en-US" sz="800" i="1" dirty="0">
                <a:solidFill>
                  <a:srgbClr val="D4891A"/>
                </a:solidFill>
                <a:latin typeface="Calibri" pitchFamily="34" charset="0"/>
                <a:ea typeface="Calibri" pitchFamily="34" charset="-122"/>
                <a:cs typeface="Calibri" pitchFamily="34" charset="-120"/>
              </a:rPr>
              <a:t>Policies</a:t>
            </a:r>
            <a:endParaRPr lang="en-US" sz="800" dirty="0"/>
          </a:p>
        </p:txBody>
      </p:sp>
      <p:sp>
        <p:nvSpPr>
          <p:cNvPr id="29" name="Text 27"/>
          <p:cNvSpPr/>
          <p:nvPr/>
        </p:nvSpPr>
        <p:spPr>
          <a:xfrm>
            <a:off x="484632" y="4480560"/>
            <a:ext cx="5029200" cy="182880"/>
          </a:xfrm>
          <a:prstGeom prst="rect">
            <a:avLst/>
          </a:prstGeom>
          <a:noFill/>
          <a:ln/>
        </p:spPr>
        <p:txBody>
          <a:bodyPr wrap="square" lIns="0" tIns="0" rIns="0" bIns="0" rtlCol="0" anchor="ctr"/>
          <a:lstStyle/>
          <a:p>
            <a:pPr algn="ctr" indent="0" marL="0">
              <a:buNone/>
            </a:pPr>
            <a:r>
              <a:rPr lang="en-US" sz="800" i="1" dirty="0">
                <a:solidFill>
                  <a:srgbClr val="8896AB"/>
                </a:solidFill>
                <a:latin typeface="Calibri" pitchFamily="34" charset="0"/>
                <a:ea typeface="Calibri" pitchFamily="34" charset="-122"/>
                <a:cs typeface="Calibri" pitchFamily="34" charset="-120"/>
              </a:rPr>
              <a:t>← unrelated  →  related →</a:t>
            </a:r>
            <a:endParaRPr lang="en-US" sz="800" dirty="0"/>
          </a:p>
        </p:txBody>
      </p:sp>
      <p:sp>
        <p:nvSpPr>
          <p:cNvPr id="30" name="Shape 28"/>
          <p:cNvSpPr/>
          <p:nvPr/>
        </p:nvSpPr>
        <p:spPr>
          <a:xfrm>
            <a:off x="5852160" y="1389888"/>
            <a:ext cx="2944368" cy="713232"/>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31" name="Shape 29"/>
          <p:cNvSpPr/>
          <p:nvPr/>
        </p:nvSpPr>
        <p:spPr>
          <a:xfrm>
            <a:off x="5852160" y="1389888"/>
            <a:ext cx="64008" cy="713232"/>
          </a:xfrm>
          <a:prstGeom prst="rect">
            <a:avLst/>
          </a:prstGeom>
          <a:solidFill>
            <a:srgbClr val="1A4B8C"/>
          </a:solidFill>
          <a:ln w="12700">
            <a:solidFill>
              <a:srgbClr val="1A4B8C"/>
            </a:solidFill>
            <a:prstDash val="solid"/>
          </a:ln>
        </p:spPr>
      </p:sp>
      <p:sp>
        <p:nvSpPr>
          <p:cNvPr id="32" name="Text 30"/>
          <p:cNvSpPr/>
          <p:nvPr/>
        </p:nvSpPr>
        <p:spPr>
          <a:xfrm>
            <a:off x="6053328" y="1444752"/>
            <a:ext cx="2615184" cy="274320"/>
          </a:xfrm>
          <a:prstGeom prst="rect">
            <a:avLst/>
          </a:prstGeom>
          <a:noFill/>
          <a:ln/>
        </p:spPr>
        <p:txBody>
          <a:bodyPr wrap="square" lIns="0" tIns="0" rIns="0" bIns="0" rtlCol="0" anchor="ctr"/>
          <a:lstStyle/>
          <a:p>
            <a:pPr indent="0" marL="0">
              <a:buNone/>
            </a:pPr>
            <a:r>
              <a:rPr lang="en-US" sz="1050" b="1" dirty="0">
                <a:solidFill>
                  <a:srgbClr val="2D3A4A"/>
                </a:solidFill>
                <a:latin typeface="Trebuchet MS" pitchFamily="34" charset="0"/>
                <a:ea typeface="Trebuchet MS" pitchFamily="34" charset="-122"/>
                <a:cs typeface="Trebuchet MS" pitchFamily="34" charset="-120"/>
              </a:rPr>
              <a:t>Company &amp; People docs cluster together</a:t>
            </a:r>
            <a:endParaRPr lang="en-US" sz="1050" dirty="0"/>
          </a:p>
        </p:txBody>
      </p:sp>
      <p:sp>
        <p:nvSpPr>
          <p:cNvPr id="33" name="Text 31"/>
          <p:cNvSpPr/>
          <p:nvPr/>
        </p:nvSpPr>
        <p:spPr>
          <a:xfrm>
            <a:off x="6053328" y="1755648"/>
            <a:ext cx="2615184" cy="274320"/>
          </a:xfrm>
          <a:prstGeom prst="rect">
            <a:avLst/>
          </a:prstGeom>
          <a:noFill/>
          <a:ln/>
        </p:spPr>
        <p:txBody>
          <a:bodyPr wrap="square" lIns="0" tIns="0" rIns="0" bIns="0" rtlCol="0" anchor="ctr"/>
          <a:lstStyle/>
          <a:p>
            <a:pPr indent="0" marL="0">
              <a:buNone/>
            </a:pPr>
            <a:r>
              <a:rPr lang="en-US" sz="950" dirty="0">
                <a:solidFill>
                  <a:srgbClr val="8896AB"/>
                </a:solidFill>
                <a:latin typeface="Calibri" pitchFamily="34" charset="0"/>
                <a:ea typeface="Calibri" pitchFamily="34" charset="-122"/>
                <a:cs typeface="Calibri" pitchFamily="34" charset="-120"/>
              </a:rPr>
              <a:t>priya_doc and company_doc are about the same entity → low distance</a:t>
            </a:r>
            <a:endParaRPr lang="en-US" sz="950" dirty="0"/>
          </a:p>
        </p:txBody>
      </p:sp>
      <p:sp>
        <p:nvSpPr>
          <p:cNvPr id="34" name="Shape 32"/>
          <p:cNvSpPr/>
          <p:nvPr/>
        </p:nvSpPr>
        <p:spPr>
          <a:xfrm>
            <a:off x="5852160" y="2212848"/>
            <a:ext cx="2944368" cy="713232"/>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35" name="Shape 33"/>
          <p:cNvSpPr/>
          <p:nvPr/>
        </p:nvSpPr>
        <p:spPr>
          <a:xfrm>
            <a:off x="5852160" y="2212848"/>
            <a:ext cx="64008" cy="713232"/>
          </a:xfrm>
          <a:prstGeom prst="rect">
            <a:avLst/>
          </a:prstGeom>
          <a:solidFill>
            <a:srgbClr val="00879E"/>
          </a:solidFill>
          <a:ln w="12700">
            <a:solidFill>
              <a:srgbClr val="00879E"/>
            </a:solidFill>
            <a:prstDash val="solid"/>
          </a:ln>
        </p:spPr>
      </p:sp>
      <p:sp>
        <p:nvSpPr>
          <p:cNvPr id="36" name="Text 34"/>
          <p:cNvSpPr/>
          <p:nvPr/>
        </p:nvSpPr>
        <p:spPr>
          <a:xfrm>
            <a:off x="6053328" y="2267712"/>
            <a:ext cx="2615184" cy="274320"/>
          </a:xfrm>
          <a:prstGeom prst="rect">
            <a:avLst/>
          </a:prstGeom>
          <a:noFill/>
          <a:ln/>
        </p:spPr>
        <p:txBody>
          <a:bodyPr wrap="square" lIns="0" tIns="0" rIns="0" bIns="0" rtlCol="0" anchor="ctr"/>
          <a:lstStyle/>
          <a:p>
            <a:pPr indent="0" marL="0">
              <a:buNone/>
            </a:pPr>
            <a:r>
              <a:rPr lang="en-US" sz="1050" b="1" dirty="0">
                <a:solidFill>
                  <a:srgbClr val="2D3A4A"/>
                </a:solidFill>
                <a:latin typeface="Trebuchet MS" pitchFamily="34" charset="0"/>
                <a:ea typeface="Trebuchet MS" pitchFamily="34" charset="-122"/>
                <a:cs typeface="Trebuchet MS" pitchFamily="34" charset="-120"/>
              </a:rPr>
              <a:t>Product &amp; Tech docs form their own cluster</a:t>
            </a:r>
            <a:endParaRPr lang="en-US" sz="1050" dirty="0"/>
          </a:p>
        </p:txBody>
      </p:sp>
      <p:sp>
        <p:nvSpPr>
          <p:cNvPr id="37" name="Text 35"/>
          <p:cNvSpPr/>
          <p:nvPr/>
        </p:nvSpPr>
        <p:spPr>
          <a:xfrm>
            <a:off x="6053328" y="2578608"/>
            <a:ext cx="2615184" cy="274320"/>
          </a:xfrm>
          <a:prstGeom prst="rect">
            <a:avLst/>
          </a:prstGeom>
          <a:noFill/>
          <a:ln/>
        </p:spPr>
        <p:txBody>
          <a:bodyPr wrap="square" lIns="0" tIns="0" rIns="0" bIns="0" rtlCol="0" anchor="ctr"/>
          <a:lstStyle/>
          <a:p>
            <a:pPr indent="0" marL="0">
              <a:buNone/>
            </a:pPr>
            <a:r>
              <a:rPr lang="en-US" sz="950" dirty="0">
                <a:solidFill>
                  <a:srgbClr val="8896AB"/>
                </a:solidFill>
                <a:latin typeface="Calibri" pitchFamily="34" charset="0"/>
                <a:ea typeface="Calibri" pitchFamily="34" charset="-122"/>
                <a:cs typeface="Calibri" pitchFamily="34" charset="-120"/>
              </a:rPr>
              <a:t>products_doc and tech_stack_doc share AI/product topics → grouped nearby</a:t>
            </a:r>
            <a:endParaRPr lang="en-US" sz="950" dirty="0"/>
          </a:p>
        </p:txBody>
      </p:sp>
      <p:sp>
        <p:nvSpPr>
          <p:cNvPr id="38" name="Shape 36"/>
          <p:cNvSpPr/>
          <p:nvPr/>
        </p:nvSpPr>
        <p:spPr>
          <a:xfrm>
            <a:off x="5852160" y="3035808"/>
            <a:ext cx="2944368" cy="713232"/>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39" name="Shape 37"/>
          <p:cNvSpPr/>
          <p:nvPr/>
        </p:nvSpPr>
        <p:spPr>
          <a:xfrm>
            <a:off x="5852160" y="3035808"/>
            <a:ext cx="64008" cy="713232"/>
          </a:xfrm>
          <a:prstGeom prst="rect">
            <a:avLst/>
          </a:prstGeom>
          <a:solidFill>
            <a:srgbClr val="D4891A"/>
          </a:solidFill>
          <a:ln w="12700">
            <a:solidFill>
              <a:srgbClr val="D4891A"/>
            </a:solidFill>
            <a:prstDash val="solid"/>
          </a:ln>
        </p:spPr>
      </p:sp>
      <p:sp>
        <p:nvSpPr>
          <p:cNvPr id="40" name="Text 38"/>
          <p:cNvSpPr/>
          <p:nvPr/>
        </p:nvSpPr>
        <p:spPr>
          <a:xfrm>
            <a:off x="6053328" y="3090672"/>
            <a:ext cx="2615184" cy="274320"/>
          </a:xfrm>
          <a:prstGeom prst="rect">
            <a:avLst/>
          </a:prstGeom>
          <a:noFill/>
          <a:ln/>
        </p:spPr>
        <p:txBody>
          <a:bodyPr wrap="square" lIns="0" tIns="0" rIns="0" bIns="0" rtlCol="0" anchor="ctr"/>
          <a:lstStyle/>
          <a:p>
            <a:pPr indent="0" marL="0">
              <a:buNone/>
            </a:pPr>
            <a:r>
              <a:rPr lang="en-US" sz="1050" b="1" dirty="0">
                <a:solidFill>
                  <a:srgbClr val="2D3A4A"/>
                </a:solidFill>
                <a:latin typeface="Trebuchet MS" pitchFamily="34" charset="0"/>
                <a:ea typeface="Trebuchet MS" pitchFamily="34" charset="-122"/>
                <a:cs typeface="Trebuchet MS" pitchFamily="34" charset="-120"/>
              </a:rPr>
              <a:t>Policy docs sit separately</a:t>
            </a:r>
            <a:endParaRPr lang="en-US" sz="1050" dirty="0"/>
          </a:p>
        </p:txBody>
      </p:sp>
      <p:sp>
        <p:nvSpPr>
          <p:cNvPr id="41" name="Text 39"/>
          <p:cNvSpPr/>
          <p:nvPr/>
        </p:nvSpPr>
        <p:spPr>
          <a:xfrm>
            <a:off x="6053328" y="3401568"/>
            <a:ext cx="2615184" cy="274320"/>
          </a:xfrm>
          <a:prstGeom prst="rect">
            <a:avLst/>
          </a:prstGeom>
          <a:noFill/>
          <a:ln/>
        </p:spPr>
        <p:txBody>
          <a:bodyPr wrap="square" lIns="0" tIns="0" rIns="0" bIns="0" rtlCol="0" anchor="ctr"/>
          <a:lstStyle/>
          <a:p>
            <a:pPr indent="0" marL="0">
              <a:buNone/>
            </a:pPr>
            <a:r>
              <a:rPr lang="en-US" sz="950" dirty="0">
                <a:solidFill>
                  <a:srgbClr val="8896AB"/>
                </a:solidFill>
                <a:latin typeface="Calibri" pitchFamily="34" charset="0"/>
                <a:ea typeface="Calibri" pitchFamily="34" charset="-122"/>
                <a:cs typeface="Calibri" pitchFamily="34" charset="-120"/>
              </a:rPr>
              <a:t>Different vocabulary and meaning from company/product docs → far from other clusters</a:t>
            </a:r>
            <a:endParaRPr lang="en-US" sz="950" dirty="0"/>
          </a:p>
        </p:txBody>
      </p:sp>
      <p:sp>
        <p:nvSpPr>
          <p:cNvPr id="42" name="Shape 40"/>
          <p:cNvSpPr/>
          <p:nvPr/>
        </p:nvSpPr>
        <p:spPr>
          <a:xfrm>
            <a:off x="5852160" y="3858768"/>
            <a:ext cx="2944368" cy="713232"/>
          </a:xfrm>
          <a:prstGeom prst="rect">
            <a:avLst/>
          </a:prstGeom>
          <a:solidFill>
            <a:srgbClr val="FFFFFF"/>
          </a:solidFill>
          <a:ln w="12700">
            <a:solidFill>
              <a:srgbClr val="E8EDF3"/>
            </a:solidFill>
            <a:prstDash val="solid"/>
          </a:ln>
          <a:effectLst>
            <a:outerShdw sx="100000" sy="100000" kx="0" ky="0" algn="bl" rotWithShape="0" blurRad="50800" dist="12700" dir="8100000">
              <a:srgbClr val="000000">
                <a:alpha val="8000"/>
              </a:srgbClr>
            </a:outerShdw>
          </a:effectLst>
        </p:spPr>
      </p:sp>
      <p:sp>
        <p:nvSpPr>
          <p:cNvPr id="43" name="Shape 41"/>
          <p:cNvSpPr/>
          <p:nvPr/>
        </p:nvSpPr>
        <p:spPr>
          <a:xfrm>
            <a:off x="5852160" y="3858768"/>
            <a:ext cx="64008" cy="713232"/>
          </a:xfrm>
          <a:prstGeom prst="rect">
            <a:avLst/>
          </a:prstGeom>
          <a:solidFill>
            <a:srgbClr val="8896AB"/>
          </a:solidFill>
          <a:ln w="12700">
            <a:solidFill>
              <a:srgbClr val="8896AB"/>
            </a:solidFill>
            <a:prstDash val="solid"/>
          </a:ln>
        </p:spPr>
      </p:sp>
      <p:sp>
        <p:nvSpPr>
          <p:cNvPr id="44" name="Text 42"/>
          <p:cNvSpPr/>
          <p:nvPr/>
        </p:nvSpPr>
        <p:spPr>
          <a:xfrm>
            <a:off x="6053328" y="3913632"/>
            <a:ext cx="2615184" cy="274320"/>
          </a:xfrm>
          <a:prstGeom prst="rect">
            <a:avLst/>
          </a:prstGeom>
          <a:noFill/>
          <a:ln/>
        </p:spPr>
        <p:txBody>
          <a:bodyPr wrap="square" lIns="0" tIns="0" rIns="0" bIns="0" rtlCol="0" anchor="ctr"/>
          <a:lstStyle/>
          <a:p>
            <a:pPr indent="0" marL="0">
              <a:buNone/>
            </a:pPr>
            <a:r>
              <a:rPr lang="en-US" sz="1050" b="1" dirty="0">
                <a:solidFill>
                  <a:srgbClr val="2D3A4A"/>
                </a:solidFill>
                <a:latin typeface="Trebuchet MS" pitchFamily="34" charset="0"/>
                <a:ea typeface="Trebuchet MS" pitchFamily="34" charset="-122"/>
                <a:cs typeface="Trebuchet MS" pitchFamily="34" charset="-120"/>
              </a:rPr>
              <a:t>You'll generate this plot live in the notebook</a:t>
            </a:r>
            <a:endParaRPr lang="en-US" sz="1050" dirty="0"/>
          </a:p>
        </p:txBody>
      </p:sp>
      <p:sp>
        <p:nvSpPr>
          <p:cNvPr id="45" name="Text 43"/>
          <p:cNvSpPr/>
          <p:nvPr/>
        </p:nvSpPr>
        <p:spPr>
          <a:xfrm>
            <a:off x="6053328" y="4224528"/>
            <a:ext cx="2615184" cy="274320"/>
          </a:xfrm>
          <a:prstGeom prst="rect">
            <a:avLst/>
          </a:prstGeom>
          <a:noFill/>
          <a:ln/>
        </p:spPr>
        <p:txBody>
          <a:bodyPr wrap="square" lIns="0" tIns="0" rIns="0" bIns="0" rtlCol="0" anchor="ctr"/>
          <a:lstStyle/>
          <a:p>
            <a:pPr indent="0" marL="0">
              <a:buNone/>
            </a:pPr>
            <a:r>
              <a:rPr lang="en-US" sz="950" dirty="0">
                <a:solidFill>
                  <a:srgbClr val="8896AB"/>
                </a:solidFill>
                <a:latin typeface="Calibri" pitchFamily="34" charset="0"/>
                <a:ea typeface="Calibri" pitchFamily="34" charset="-122"/>
                <a:cs typeface="Calibri" pitchFamily="34" charset="-120"/>
              </a:rPr>
              <a:t>matplotlib + sklearn TSNE — 3 lines of code to visualize your knowledge base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34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929"/>
          </a:solidFill>
          <a:ln w="12700">
            <a:solidFill>
              <a:srgbClr val="0A192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Key Takeaways</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Shape 4"/>
          <p:cNvSpPr/>
          <p:nvPr/>
        </p:nvSpPr>
        <p:spPr>
          <a:xfrm>
            <a:off x="0" y="4937760"/>
            <a:ext cx="9144000" cy="205740"/>
          </a:xfrm>
          <a:prstGeom prst="rect">
            <a:avLst/>
          </a:prstGeom>
          <a:solidFill>
            <a:srgbClr val="0D2349"/>
          </a:solidFill>
          <a:ln w="12700">
            <a:solidFill>
              <a:srgbClr val="0D2349"/>
            </a:solidFill>
            <a:prstDash val="solid"/>
          </a:ln>
        </p:spPr>
      </p:sp>
      <p:sp>
        <p:nvSpPr>
          <p:cNvPr id="7" name="Text 5"/>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8" name="Shape 6"/>
          <p:cNvSpPr/>
          <p:nvPr/>
        </p:nvSpPr>
        <p:spPr>
          <a:xfrm>
            <a:off x="347472" y="987552"/>
            <a:ext cx="4251960" cy="1024128"/>
          </a:xfrm>
          <a:prstGeom prst="rect">
            <a:avLst/>
          </a:prstGeom>
          <a:solidFill>
            <a:srgbClr val="000000"/>
          </a:solidFill>
          <a:ln w="12700">
            <a:solidFill>
              <a:srgbClr val="000000"/>
            </a:solidFill>
            <a:prstDash val="solid"/>
          </a:ln>
        </p:spPr>
      </p:sp>
      <p:sp>
        <p:nvSpPr>
          <p:cNvPr id="9" name="Shape 7"/>
          <p:cNvSpPr/>
          <p:nvPr/>
        </p:nvSpPr>
        <p:spPr>
          <a:xfrm>
            <a:off x="347472" y="987552"/>
            <a:ext cx="64008" cy="1024128"/>
          </a:xfrm>
          <a:prstGeom prst="rect">
            <a:avLst/>
          </a:prstGeom>
          <a:solidFill>
            <a:srgbClr val="D4891A"/>
          </a:solidFill>
          <a:ln w="12700">
            <a:solidFill>
              <a:srgbClr val="D4891A"/>
            </a:solidFill>
            <a:prstDash val="solid"/>
          </a:ln>
        </p:spPr>
      </p:sp>
      <p:sp>
        <p:nvSpPr>
          <p:cNvPr id="10" name="Text 8"/>
          <p:cNvSpPr/>
          <p:nvPr/>
        </p:nvSpPr>
        <p:spPr>
          <a:xfrm>
            <a:off x="475488" y="1152144"/>
            <a:ext cx="502920" cy="502920"/>
          </a:xfrm>
          <a:prstGeom prst="rect">
            <a:avLst/>
          </a:prstGeom>
          <a:noFill/>
          <a:ln/>
        </p:spPr>
        <p:txBody>
          <a:bodyPr wrap="square" lIns="0" tIns="0" rIns="0" bIns="0" rtlCol="0" anchor="ctr"/>
          <a:lstStyle/>
          <a:p>
            <a:pPr algn="ctr" indent="0" marL="0">
              <a:buNone/>
            </a:pPr>
            <a:r>
              <a:rPr lang="en-US" sz="1800" b="1" dirty="0">
                <a:solidFill>
                  <a:srgbClr val="D4891A"/>
                </a:solidFill>
                <a:latin typeface="Trebuchet MS" pitchFamily="34" charset="0"/>
                <a:ea typeface="Trebuchet MS" pitchFamily="34" charset="-122"/>
                <a:cs typeface="Trebuchet MS" pitchFamily="34" charset="-120"/>
              </a:rPr>
              <a:t>01</a:t>
            </a:r>
            <a:endParaRPr lang="en-US" sz="1800" dirty="0"/>
          </a:p>
        </p:txBody>
      </p:sp>
      <p:sp>
        <p:nvSpPr>
          <p:cNvPr id="11" name="Text 9"/>
          <p:cNvSpPr/>
          <p:nvPr/>
        </p:nvSpPr>
        <p:spPr>
          <a:xfrm>
            <a:off x="1060704" y="1060704"/>
            <a:ext cx="3438144" cy="329184"/>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Embeddings capture meaning as numbers</a:t>
            </a:r>
            <a:endParaRPr lang="en-US" sz="1100" dirty="0"/>
          </a:p>
        </p:txBody>
      </p:sp>
      <p:sp>
        <p:nvSpPr>
          <p:cNvPr id="12" name="Text 10"/>
          <p:cNvSpPr/>
          <p:nvPr/>
        </p:nvSpPr>
        <p:spPr>
          <a:xfrm>
            <a:off x="1060704" y="1426464"/>
            <a:ext cx="3438144" cy="493776"/>
          </a:xfrm>
          <a:prstGeom prst="rect">
            <a:avLst/>
          </a:prstGeom>
          <a:noFill/>
          <a:ln/>
        </p:spPr>
        <p:txBody>
          <a:bodyPr wrap="square" lIns="0" tIns="0" rIns="0" bIns="0" rtlCol="0" anchor="ctr"/>
          <a:lstStyle/>
          <a:p>
            <a:pPr indent="0" marL="0">
              <a:buNone/>
            </a:pPr>
            <a:r>
              <a:rPr lang="en-US" sz="950" dirty="0">
                <a:solidFill>
                  <a:srgbClr val="8896AB"/>
                </a:solidFill>
                <a:latin typeface="Calibri" pitchFamily="34" charset="0"/>
                <a:ea typeface="Calibri" pitchFamily="34" charset="-122"/>
                <a:cs typeface="Calibri" pitchFamily="34" charset="-120"/>
              </a:rPr>
              <a:t>Similar text → similar vectors. The 'fingerprint' of meaning.</a:t>
            </a:r>
            <a:endParaRPr lang="en-US" sz="950" dirty="0"/>
          </a:p>
        </p:txBody>
      </p:sp>
      <p:sp>
        <p:nvSpPr>
          <p:cNvPr id="13" name="Shape 11"/>
          <p:cNvSpPr/>
          <p:nvPr/>
        </p:nvSpPr>
        <p:spPr>
          <a:xfrm>
            <a:off x="347472" y="2176272"/>
            <a:ext cx="4251960" cy="1024128"/>
          </a:xfrm>
          <a:prstGeom prst="rect">
            <a:avLst/>
          </a:prstGeom>
          <a:solidFill>
            <a:srgbClr val="000000"/>
          </a:solidFill>
          <a:ln w="12700">
            <a:solidFill>
              <a:srgbClr val="000000"/>
            </a:solidFill>
            <a:prstDash val="solid"/>
          </a:ln>
        </p:spPr>
      </p:sp>
      <p:sp>
        <p:nvSpPr>
          <p:cNvPr id="14" name="Shape 12"/>
          <p:cNvSpPr/>
          <p:nvPr/>
        </p:nvSpPr>
        <p:spPr>
          <a:xfrm>
            <a:off x="347472" y="2176272"/>
            <a:ext cx="64008" cy="1024128"/>
          </a:xfrm>
          <a:prstGeom prst="rect">
            <a:avLst/>
          </a:prstGeom>
          <a:solidFill>
            <a:srgbClr val="00879E"/>
          </a:solidFill>
          <a:ln w="12700">
            <a:solidFill>
              <a:srgbClr val="00879E"/>
            </a:solidFill>
            <a:prstDash val="solid"/>
          </a:ln>
        </p:spPr>
      </p:sp>
      <p:sp>
        <p:nvSpPr>
          <p:cNvPr id="15" name="Text 13"/>
          <p:cNvSpPr/>
          <p:nvPr/>
        </p:nvSpPr>
        <p:spPr>
          <a:xfrm>
            <a:off x="475488" y="2340864"/>
            <a:ext cx="502920" cy="502920"/>
          </a:xfrm>
          <a:prstGeom prst="rect">
            <a:avLst/>
          </a:prstGeom>
          <a:noFill/>
          <a:ln/>
        </p:spPr>
        <p:txBody>
          <a:bodyPr wrap="square" lIns="0" tIns="0" rIns="0" bIns="0" rtlCol="0" anchor="ctr"/>
          <a:lstStyle/>
          <a:p>
            <a:pPr algn="ctr" indent="0" marL="0">
              <a:buNone/>
            </a:pPr>
            <a:r>
              <a:rPr lang="en-US" sz="1800" b="1" dirty="0">
                <a:solidFill>
                  <a:srgbClr val="00879E"/>
                </a:solidFill>
                <a:latin typeface="Trebuchet MS" pitchFamily="34" charset="0"/>
                <a:ea typeface="Trebuchet MS" pitchFamily="34" charset="-122"/>
                <a:cs typeface="Trebuchet MS" pitchFamily="34" charset="-120"/>
              </a:rPr>
              <a:t>02</a:t>
            </a:r>
            <a:endParaRPr lang="en-US" sz="1800" dirty="0"/>
          </a:p>
        </p:txBody>
      </p:sp>
      <p:sp>
        <p:nvSpPr>
          <p:cNvPr id="16" name="Text 14"/>
          <p:cNvSpPr/>
          <p:nvPr/>
        </p:nvSpPr>
        <p:spPr>
          <a:xfrm>
            <a:off x="1060704" y="2249424"/>
            <a:ext cx="3438144" cy="329184"/>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Cosine similarity measures closeness</a:t>
            </a:r>
            <a:endParaRPr lang="en-US" sz="1100" dirty="0"/>
          </a:p>
        </p:txBody>
      </p:sp>
      <p:sp>
        <p:nvSpPr>
          <p:cNvPr id="17" name="Text 15"/>
          <p:cNvSpPr/>
          <p:nvPr/>
        </p:nvSpPr>
        <p:spPr>
          <a:xfrm>
            <a:off x="1060704" y="2615184"/>
            <a:ext cx="3438144" cy="493776"/>
          </a:xfrm>
          <a:prstGeom prst="rect">
            <a:avLst/>
          </a:prstGeom>
          <a:noFill/>
          <a:ln/>
        </p:spPr>
        <p:txBody>
          <a:bodyPr wrap="square" lIns="0" tIns="0" rIns="0" bIns="0" rtlCol="0" anchor="ctr"/>
          <a:lstStyle/>
          <a:p>
            <a:pPr indent="0" marL="0">
              <a:buNone/>
            </a:pPr>
            <a:r>
              <a:rPr lang="en-US" sz="950" dirty="0">
                <a:solidFill>
                  <a:srgbClr val="8896AB"/>
                </a:solidFill>
                <a:latin typeface="Calibri" pitchFamily="34" charset="0"/>
                <a:ea typeface="Calibri" pitchFamily="34" charset="-122"/>
                <a:cs typeface="Calibri" pitchFamily="34" charset="-120"/>
              </a:rPr>
              <a:t>Score from 0 (unrelated) to 1 (identical). No shared keywords needed.</a:t>
            </a:r>
            <a:endParaRPr lang="en-US" sz="950" dirty="0"/>
          </a:p>
        </p:txBody>
      </p:sp>
      <p:sp>
        <p:nvSpPr>
          <p:cNvPr id="18" name="Shape 16"/>
          <p:cNvSpPr/>
          <p:nvPr/>
        </p:nvSpPr>
        <p:spPr>
          <a:xfrm>
            <a:off x="347472" y="3364992"/>
            <a:ext cx="4251960" cy="1024128"/>
          </a:xfrm>
          <a:prstGeom prst="rect">
            <a:avLst/>
          </a:prstGeom>
          <a:solidFill>
            <a:srgbClr val="000000"/>
          </a:solidFill>
          <a:ln w="12700">
            <a:solidFill>
              <a:srgbClr val="000000"/>
            </a:solidFill>
            <a:prstDash val="solid"/>
          </a:ln>
        </p:spPr>
      </p:sp>
      <p:sp>
        <p:nvSpPr>
          <p:cNvPr id="19" name="Shape 17"/>
          <p:cNvSpPr/>
          <p:nvPr/>
        </p:nvSpPr>
        <p:spPr>
          <a:xfrm>
            <a:off x="347472" y="3364992"/>
            <a:ext cx="64008" cy="1024128"/>
          </a:xfrm>
          <a:prstGeom prst="rect">
            <a:avLst/>
          </a:prstGeom>
          <a:solidFill>
            <a:srgbClr val="1A4B8C"/>
          </a:solidFill>
          <a:ln w="12700">
            <a:solidFill>
              <a:srgbClr val="1A4B8C"/>
            </a:solidFill>
            <a:prstDash val="solid"/>
          </a:ln>
        </p:spPr>
      </p:sp>
      <p:sp>
        <p:nvSpPr>
          <p:cNvPr id="20" name="Text 18"/>
          <p:cNvSpPr/>
          <p:nvPr/>
        </p:nvSpPr>
        <p:spPr>
          <a:xfrm>
            <a:off x="475488" y="3529584"/>
            <a:ext cx="502920" cy="502920"/>
          </a:xfrm>
          <a:prstGeom prst="rect">
            <a:avLst/>
          </a:prstGeom>
          <a:noFill/>
          <a:ln/>
        </p:spPr>
        <p:txBody>
          <a:bodyPr wrap="square" lIns="0" tIns="0" rIns="0" bIns="0" rtlCol="0" anchor="ctr"/>
          <a:lstStyle/>
          <a:p>
            <a:pPr algn="ctr" indent="0" marL="0">
              <a:buNone/>
            </a:pPr>
            <a:r>
              <a:rPr lang="en-US" sz="1800" b="1" dirty="0">
                <a:solidFill>
                  <a:srgbClr val="1A4B8C"/>
                </a:solidFill>
                <a:latin typeface="Trebuchet MS" pitchFamily="34" charset="0"/>
                <a:ea typeface="Trebuchet MS" pitchFamily="34" charset="-122"/>
                <a:cs typeface="Trebuchet MS" pitchFamily="34" charset="-120"/>
              </a:rPr>
              <a:t>03</a:t>
            </a:r>
            <a:endParaRPr lang="en-US" sz="1800" dirty="0"/>
          </a:p>
        </p:txBody>
      </p:sp>
      <p:sp>
        <p:nvSpPr>
          <p:cNvPr id="21" name="Text 19"/>
          <p:cNvSpPr/>
          <p:nvPr/>
        </p:nvSpPr>
        <p:spPr>
          <a:xfrm>
            <a:off x="1060704" y="3438144"/>
            <a:ext cx="3438144" cy="329184"/>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Semantic search finds by meaning, not keywords</a:t>
            </a:r>
            <a:endParaRPr lang="en-US" sz="1100" dirty="0"/>
          </a:p>
        </p:txBody>
      </p:sp>
      <p:sp>
        <p:nvSpPr>
          <p:cNvPr id="22" name="Text 20"/>
          <p:cNvSpPr/>
          <p:nvPr/>
        </p:nvSpPr>
        <p:spPr>
          <a:xfrm>
            <a:off x="1060704" y="3803904"/>
            <a:ext cx="3438144" cy="493776"/>
          </a:xfrm>
          <a:prstGeom prst="rect">
            <a:avLst/>
          </a:prstGeom>
          <a:noFill/>
          <a:ln/>
        </p:spPr>
        <p:txBody>
          <a:bodyPr wrap="square" lIns="0" tIns="0" rIns="0" bIns="0" rtlCol="0" anchor="ctr"/>
          <a:lstStyle/>
          <a:p>
            <a:pPr indent="0" marL="0">
              <a:buNone/>
            </a:pPr>
            <a:r>
              <a:rPr lang="en-US" sz="950" dirty="0">
                <a:solidFill>
                  <a:srgbClr val="8896AB"/>
                </a:solidFill>
                <a:latin typeface="Calibri" pitchFamily="34" charset="0"/>
                <a:ea typeface="Calibri" pitchFamily="34" charset="-122"/>
                <a:cs typeface="Calibri" pitchFamily="34" charset="-120"/>
              </a:rPr>
              <a:t>"founded" matches "CEO and founder" — the fix for our RAG limitation.</a:t>
            </a:r>
            <a:endParaRPr lang="en-US" sz="950" dirty="0"/>
          </a:p>
        </p:txBody>
      </p:sp>
      <p:sp>
        <p:nvSpPr>
          <p:cNvPr id="23" name="Shape 21"/>
          <p:cNvSpPr/>
          <p:nvPr/>
        </p:nvSpPr>
        <p:spPr>
          <a:xfrm>
            <a:off x="4809744" y="987552"/>
            <a:ext cx="4251960" cy="1024128"/>
          </a:xfrm>
          <a:prstGeom prst="rect">
            <a:avLst/>
          </a:prstGeom>
          <a:solidFill>
            <a:srgbClr val="000000"/>
          </a:solidFill>
          <a:ln w="12700">
            <a:solidFill>
              <a:srgbClr val="000000"/>
            </a:solidFill>
            <a:prstDash val="solid"/>
          </a:ln>
        </p:spPr>
      </p:sp>
      <p:sp>
        <p:nvSpPr>
          <p:cNvPr id="24" name="Shape 22"/>
          <p:cNvSpPr/>
          <p:nvPr/>
        </p:nvSpPr>
        <p:spPr>
          <a:xfrm>
            <a:off x="4809744" y="987552"/>
            <a:ext cx="64008" cy="1024128"/>
          </a:xfrm>
          <a:prstGeom prst="rect">
            <a:avLst/>
          </a:prstGeom>
          <a:solidFill>
            <a:srgbClr val="D4891A"/>
          </a:solidFill>
          <a:ln w="12700">
            <a:solidFill>
              <a:srgbClr val="D4891A"/>
            </a:solidFill>
            <a:prstDash val="solid"/>
          </a:ln>
        </p:spPr>
      </p:sp>
      <p:sp>
        <p:nvSpPr>
          <p:cNvPr id="25" name="Text 23"/>
          <p:cNvSpPr/>
          <p:nvPr/>
        </p:nvSpPr>
        <p:spPr>
          <a:xfrm>
            <a:off x="4937760" y="1152144"/>
            <a:ext cx="502920" cy="502920"/>
          </a:xfrm>
          <a:prstGeom prst="rect">
            <a:avLst/>
          </a:prstGeom>
          <a:noFill/>
          <a:ln/>
        </p:spPr>
        <p:txBody>
          <a:bodyPr wrap="square" lIns="0" tIns="0" rIns="0" bIns="0" rtlCol="0" anchor="ctr"/>
          <a:lstStyle/>
          <a:p>
            <a:pPr algn="ctr" indent="0" marL="0">
              <a:buNone/>
            </a:pPr>
            <a:r>
              <a:rPr lang="en-US" sz="1800" b="1" dirty="0">
                <a:solidFill>
                  <a:srgbClr val="D4891A"/>
                </a:solidFill>
                <a:latin typeface="Trebuchet MS" pitchFamily="34" charset="0"/>
                <a:ea typeface="Trebuchet MS" pitchFamily="34" charset="-122"/>
                <a:cs typeface="Trebuchet MS" pitchFamily="34" charset="-120"/>
              </a:rPr>
              <a:t>04</a:t>
            </a:r>
            <a:endParaRPr lang="en-US" sz="1800" dirty="0"/>
          </a:p>
        </p:txBody>
      </p:sp>
      <p:sp>
        <p:nvSpPr>
          <p:cNvPr id="26" name="Text 24"/>
          <p:cNvSpPr/>
          <p:nvPr/>
        </p:nvSpPr>
        <p:spPr>
          <a:xfrm>
            <a:off x="5522976" y="1060704"/>
            <a:ext cx="3438144" cy="329184"/>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Chunking splits documents for precise retrieval</a:t>
            </a:r>
            <a:endParaRPr lang="en-US" sz="1100" dirty="0"/>
          </a:p>
        </p:txBody>
      </p:sp>
      <p:sp>
        <p:nvSpPr>
          <p:cNvPr id="27" name="Text 25"/>
          <p:cNvSpPr/>
          <p:nvPr/>
        </p:nvSpPr>
        <p:spPr>
          <a:xfrm>
            <a:off x="5522976" y="1426464"/>
            <a:ext cx="3438144" cy="493776"/>
          </a:xfrm>
          <a:prstGeom prst="rect">
            <a:avLst/>
          </a:prstGeom>
          <a:noFill/>
          <a:ln/>
        </p:spPr>
        <p:txBody>
          <a:bodyPr wrap="square" lIns="0" tIns="0" rIns="0" bIns="0" rtlCol="0" anchor="ctr"/>
          <a:lstStyle/>
          <a:p>
            <a:pPr indent="0" marL="0">
              <a:buNone/>
            </a:pPr>
            <a:r>
              <a:rPr lang="en-US" sz="950" dirty="0">
                <a:solidFill>
                  <a:srgbClr val="8896AB"/>
                </a:solidFill>
                <a:latin typeface="Calibri" pitchFamily="34" charset="0"/>
                <a:ea typeface="Calibri" pitchFamily="34" charset="-122"/>
                <a:cs typeface="Calibri" pitchFamily="34" charset="-120"/>
              </a:rPr>
              <a:t>chunk_size and overlap control how granular your knowledge base is.</a:t>
            </a:r>
            <a:endParaRPr lang="en-US" sz="950" dirty="0"/>
          </a:p>
        </p:txBody>
      </p:sp>
      <p:sp>
        <p:nvSpPr>
          <p:cNvPr id="28" name="Shape 26"/>
          <p:cNvSpPr/>
          <p:nvPr/>
        </p:nvSpPr>
        <p:spPr>
          <a:xfrm>
            <a:off x="4809744" y="2176272"/>
            <a:ext cx="4251960" cy="1024128"/>
          </a:xfrm>
          <a:prstGeom prst="rect">
            <a:avLst/>
          </a:prstGeom>
          <a:solidFill>
            <a:srgbClr val="000000"/>
          </a:solidFill>
          <a:ln w="12700">
            <a:solidFill>
              <a:srgbClr val="000000"/>
            </a:solidFill>
            <a:prstDash val="solid"/>
          </a:ln>
        </p:spPr>
      </p:sp>
      <p:sp>
        <p:nvSpPr>
          <p:cNvPr id="29" name="Shape 27"/>
          <p:cNvSpPr/>
          <p:nvPr/>
        </p:nvSpPr>
        <p:spPr>
          <a:xfrm>
            <a:off x="4809744" y="2176272"/>
            <a:ext cx="64008" cy="1024128"/>
          </a:xfrm>
          <a:prstGeom prst="rect">
            <a:avLst/>
          </a:prstGeom>
          <a:solidFill>
            <a:srgbClr val="00879E"/>
          </a:solidFill>
          <a:ln w="12700">
            <a:solidFill>
              <a:srgbClr val="00879E"/>
            </a:solidFill>
            <a:prstDash val="solid"/>
          </a:ln>
        </p:spPr>
      </p:sp>
      <p:sp>
        <p:nvSpPr>
          <p:cNvPr id="30" name="Text 28"/>
          <p:cNvSpPr/>
          <p:nvPr/>
        </p:nvSpPr>
        <p:spPr>
          <a:xfrm>
            <a:off x="4937760" y="2340864"/>
            <a:ext cx="502920" cy="502920"/>
          </a:xfrm>
          <a:prstGeom prst="rect">
            <a:avLst/>
          </a:prstGeom>
          <a:noFill/>
          <a:ln/>
        </p:spPr>
        <p:txBody>
          <a:bodyPr wrap="square" lIns="0" tIns="0" rIns="0" bIns="0" rtlCol="0" anchor="ctr"/>
          <a:lstStyle/>
          <a:p>
            <a:pPr algn="ctr" indent="0" marL="0">
              <a:buNone/>
            </a:pPr>
            <a:r>
              <a:rPr lang="en-US" sz="1800" b="1" dirty="0">
                <a:solidFill>
                  <a:srgbClr val="00879E"/>
                </a:solidFill>
                <a:latin typeface="Trebuchet MS" pitchFamily="34" charset="0"/>
                <a:ea typeface="Trebuchet MS" pitchFamily="34" charset="-122"/>
                <a:cs typeface="Trebuchet MS" pitchFamily="34" charset="-120"/>
              </a:rPr>
              <a:t>05</a:t>
            </a:r>
            <a:endParaRPr lang="en-US" sz="1800" dirty="0"/>
          </a:p>
        </p:txBody>
      </p:sp>
      <p:sp>
        <p:nvSpPr>
          <p:cNvPr id="31" name="Text 29"/>
          <p:cNvSpPr/>
          <p:nvPr/>
        </p:nvSpPr>
        <p:spPr>
          <a:xfrm>
            <a:off x="5522976" y="2249424"/>
            <a:ext cx="3438144" cy="329184"/>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Chroma stores and searches embeddings efficiently</a:t>
            </a:r>
            <a:endParaRPr lang="en-US" sz="1100" dirty="0"/>
          </a:p>
        </p:txBody>
      </p:sp>
      <p:sp>
        <p:nvSpPr>
          <p:cNvPr id="32" name="Text 30"/>
          <p:cNvSpPr/>
          <p:nvPr/>
        </p:nvSpPr>
        <p:spPr>
          <a:xfrm>
            <a:off x="5522976" y="2615184"/>
            <a:ext cx="3438144" cy="493776"/>
          </a:xfrm>
          <a:prstGeom prst="rect">
            <a:avLst/>
          </a:prstGeom>
          <a:noFill/>
          <a:ln/>
        </p:spPr>
        <p:txBody>
          <a:bodyPr wrap="square" lIns="0" tIns="0" rIns="0" bIns="0" rtlCol="0" anchor="ctr"/>
          <a:lstStyle/>
          <a:p>
            <a:pPr indent="0" marL="0">
              <a:buNone/>
            </a:pPr>
            <a:r>
              <a:rPr lang="en-US" sz="950" dirty="0">
                <a:solidFill>
                  <a:srgbClr val="8896AB"/>
                </a:solidFill>
                <a:latin typeface="Calibri" pitchFamily="34" charset="0"/>
                <a:ea typeface="Calibri" pitchFamily="34" charset="-122"/>
                <a:cs typeface="Calibri" pitchFamily="34" charset="-120"/>
              </a:rPr>
              <a:t>Vector DBs are purpose-built for similarity search — not exact match.</a:t>
            </a:r>
            <a:endParaRPr lang="en-US" sz="950" dirty="0"/>
          </a:p>
        </p:txBody>
      </p:sp>
      <p:sp>
        <p:nvSpPr>
          <p:cNvPr id="33" name="Shape 31"/>
          <p:cNvSpPr/>
          <p:nvPr/>
        </p:nvSpPr>
        <p:spPr>
          <a:xfrm>
            <a:off x="4809744" y="3364992"/>
            <a:ext cx="4251960" cy="1024128"/>
          </a:xfrm>
          <a:prstGeom prst="rect">
            <a:avLst/>
          </a:prstGeom>
          <a:solidFill>
            <a:srgbClr val="000000"/>
          </a:solidFill>
          <a:ln w="12700">
            <a:solidFill>
              <a:srgbClr val="000000"/>
            </a:solidFill>
            <a:prstDash val="solid"/>
          </a:ln>
        </p:spPr>
      </p:sp>
      <p:sp>
        <p:nvSpPr>
          <p:cNvPr id="34" name="Shape 32"/>
          <p:cNvSpPr/>
          <p:nvPr/>
        </p:nvSpPr>
        <p:spPr>
          <a:xfrm>
            <a:off x="4809744" y="3364992"/>
            <a:ext cx="64008" cy="1024128"/>
          </a:xfrm>
          <a:prstGeom prst="rect">
            <a:avLst/>
          </a:prstGeom>
          <a:solidFill>
            <a:srgbClr val="1A4B8C"/>
          </a:solidFill>
          <a:ln w="12700">
            <a:solidFill>
              <a:srgbClr val="1A4B8C"/>
            </a:solidFill>
            <a:prstDash val="solid"/>
          </a:ln>
        </p:spPr>
      </p:sp>
      <p:sp>
        <p:nvSpPr>
          <p:cNvPr id="35" name="Text 33"/>
          <p:cNvSpPr/>
          <p:nvPr/>
        </p:nvSpPr>
        <p:spPr>
          <a:xfrm>
            <a:off x="4937760" y="3529584"/>
            <a:ext cx="502920" cy="502920"/>
          </a:xfrm>
          <a:prstGeom prst="rect">
            <a:avLst/>
          </a:prstGeom>
          <a:noFill/>
          <a:ln/>
        </p:spPr>
        <p:txBody>
          <a:bodyPr wrap="square" lIns="0" tIns="0" rIns="0" bIns="0" rtlCol="0" anchor="ctr"/>
          <a:lstStyle/>
          <a:p>
            <a:pPr algn="ctr" indent="0" marL="0">
              <a:buNone/>
            </a:pPr>
            <a:r>
              <a:rPr lang="en-US" sz="1800" b="1" dirty="0">
                <a:solidFill>
                  <a:srgbClr val="1A4B8C"/>
                </a:solidFill>
                <a:latin typeface="Trebuchet MS" pitchFamily="34" charset="0"/>
                <a:ea typeface="Trebuchet MS" pitchFamily="34" charset="-122"/>
                <a:cs typeface="Trebuchet MS" pitchFamily="34" charset="-120"/>
              </a:rPr>
              <a:t>06</a:t>
            </a:r>
            <a:endParaRPr lang="en-US" sz="1800" dirty="0"/>
          </a:p>
        </p:txBody>
      </p:sp>
      <p:sp>
        <p:nvSpPr>
          <p:cNvPr id="36" name="Text 34"/>
          <p:cNvSpPr/>
          <p:nvPr/>
        </p:nvSpPr>
        <p:spPr>
          <a:xfrm>
            <a:off x="5522976" y="3438144"/>
            <a:ext cx="3438144" cy="329184"/>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t-SNE visualizes 384D clusters in 2D</a:t>
            </a:r>
            <a:endParaRPr lang="en-US" sz="1100" dirty="0"/>
          </a:p>
        </p:txBody>
      </p:sp>
      <p:sp>
        <p:nvSpPr>
          <p:cNvPr id="37" name="Text 35"/>
          <p:cNvSpPr/>
          <p:nvPr/>
        </p:nvSpPr>
        <p:spPr>
          <a:xfrm>
            <a:off x="5522976" y="3803904"/>
            <a:ext cx="3438144" cy="493776"/>
          </a:xfrm>
          <a:prstGeom prst="rect">
            <a:avLst/>
          </a:prstGeom>
          <a:noFill/>
          <a:ln/>
        </p:spPr>
        <p:txBody>
          <a:bodyPr wrap="square" lIns="0" tIns="0" rIns="0" bIns="0" rtlCol="0" anchor="ctr"/>
          <a:lstStyle/>
          <a:p>
            <a:pPr indent="0" marL="0">
              <a:buNone/>
            </a:pPr>
            <a:r>
              <a:rPr lang="en-US" sz="950" dirty="0">
                <a:solidFill>
                  <a:srgbClr val="8896AB"/>
                </a:solidFill>
                <a:latin typeface="Calibri" pitchFamily="34" charset="0"/>
                <a:ea typeface="Calibri" pitchFamily="34" charset="-122"/>
                <a:cs typeface="Calibri" pitchFamily="34" charset="-120"/>
              </a:rPr>
              <a:t>Proof you can see: similar documents cluster together automatically.</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92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929"/>
          </a:solidFill>
          <a:ln w="12700">
            <a:solidFill>
              <a:srgbClr val="0A1929"/>
            </a:solidFill>
            <a:prstDash val="solid"/>
          </a:ln>
        </p:spPr>
      </p:sp>
      <p:sp>
        <p:nvSpPr>
          <p:cNvPr id="3" name="Shape 1"/>
          <p:cNvSpPr/>
          <p:nvPr/>
        </p:nvSpPr>
        <p:spPr>
          <a:xfrm>
            <a:off x="0" y="658368"/>
            <a:ext cx="9144000" cy="50292"/>
          </a:xfrm>
          <a:prstGeom prst="rect">
            <a:avLst/>
          </a:prstGeom>
          <a:solidFill>
            <a:srgbClr val="D4891A"/>
          </a:solidFill>
          <a:ln w="12700">
            <a:solidFill>
              <a:srgbClr val="D4891A"/>
            </a:solidFill>
            <a:prstDash val="solid"/>
          </a:ln>
        </p:spPr>
      </p:sp>
      <p:sp>
        <p:nvSpPr>
          <p:cNvPr id="4" name="Text 2"/>
          <p:cNvSpPr/>
          <p:nvPr/>
        </p:nvSpPr>
        <p:spPr>
          <a:xfrm>
            <a:off x="384048" y="36576"/>
            <a:ext cx="7863840" cy="59436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Let's Code!</a:t>
            </a:r>
            <a:endParaRPr lang="en-US" sz="2200" dirty="0"/>
          </a:p>
        </p:txBody>
      </p:sp>
      <p:sp>
        <p:nvSpPr>
          <p:cNvPr id="5" name="Text 3"/>
          <p:cNvSpPr/>
          <p:nvPr/>
        </p:nvSpPr>
        <p:spPr>
          <a:xfrm>
            <a:off x="5577840" y="36576"/>
            <a:ext cx="3383280" cy="594360"/>
          </a:xfrm>
          <a:prstGeom prst="rect">
            <a:avLst/>
          </a:prstGeom>
          <a:noFill/>
          <a:ln/>
        </p:spPr>
        <p:txBody>
          <a:bodyPr wrap="square" lIns="0" tIns="0" rIns="0" bIns="0" rtlCol="0" anchor="ctr"/>
          <a:lstStyle/>
          <a:p>
            <a:pPr algn="r" indent="0" marL="0">
              <a:buNone/>
            </a:pPr>
            <a:r>
              <a:rPr lang="en-US" sz="900" dirty="0">
                <a:solidFill>
                  <a:srgbClr val="F2A829"/>
                </a:solidFill>
                <a:latin typeface="Calibri" pitchFamily="34" charset="0"/>
                <a:ea typeface="Calibri" pitchFamily="34" charset="-122"/>
                <a:cs typeface="Calibri" pitchFamily="34" charset="-120"/>
              </a:rPr>
              <a:t>Unit 4  ·  AI Systems Engineering 1</a:t>
            </a:r>
            <a:endParaRPr lang="en-US" sz="900" dirty="0"/>
          </a:p>
        </p:txBody>
      </p:sp>
      <p:sp>
        <p:nvSpPr>
          <p:cNvPr id="6" name="Shape 4"/>
          <p:cNvSpPr/>
          <p:nvPr/>
        </p:nvSpPr>
        <p:spPr>
          <a:xfrm>
            <a:off x="0" y="4937760"/>
            <a:ext cx="9144000" cy="205740"/>
          </a:xfrm>
          <a:prstGeom prst="rect">
            <a:avLst/>
          </a:prstGeom>
          <a:solidFill>
            <a:srgbClr val="0D2349"/>
          </a:solidFill>
          <a:ln w="12700">
            <a:solidFill>
              <a:srgbClr val="0D2349"/>
            </a:solidFill>
            <a:prstDash val="solid"/>
          </a:ln>
        </p:spPr>
      </p:sp>
      <p:sp>
        <p:nvSpPr>
          <p:cNvPr id="7" name="Text 5"/>
          <p:cNvSpPr/>
          <p:nvPr/>
        </p:nvSpPr>
        <p:spPr>
          <a:xfrm>
            <a:off x="365760" y="4946904"/>
            <a:ext cx="8412480" cy="173736"/>
          </a:xfrm>
          <a:prstGeom prst="rect">
            <a:avLst/>
          </a:prstGeom>
          <a:noFill/>
          <a:ln/>
        </p:spPr>
        <p:txBody>
          <a:bodyPr wrap="square" lIns="0" tIns="0" rIns="0" bIns="0" rtlCol="0" anchor="ctr"/>
          <a:lstStyle/>
          <a:p>
            <a:pPr algn="ctr" indent="0" marL="0">
              <a:buNone/>
            </a:pPr>
            <a:r>
              <a:rPr lang="en-US" sz="750" dirty="0">
                <a:solidFill>
                  <a:srgbClr val="8896AB"/>
                </a:solidFill>
                <a:latin typeface="Calibri" pitchFamily="34" charset="0"/>
                <a:ea typeface="Calibri" pitchFamily="34" charset="-122"/>
                <a:cs typeface="Calibri" pitchFamily="34" charset="-120"/>
              </a:rPr>
              <a:t>CV Raman Global University  ·  AI Centre of Excellence  ·  Vector Embeddings &amp; Semantic Search</a:t>
            </a:r>
            <a:endParaRPr lang="en-US" sz="750" dirty="0"/>
          </a:p>
        </p:txBody>
      </p:sp>
      <p:sp>
        <p:nvSpPr>
          <p:cNvPr id="8" name="Text 6"/>
          <p:cNvSpPr/>
          <p:nvPr/>
        </p:nvSpPr>
        <p:spPr>
          <a:xfrm>
            <a:off x="457200" y="914400"/>
            <a:ext cx="8229600" cy="329184"/>
          </a:xfrm>
          <a:prstGeom prst="rect">
            <a:avLst/>
          </a:prstGeom>
          <a:noFill/>
          <a:ln/>
        </p:spPr>
        <p:txBody>
          <a:bodyPr wrap="square" lIns="0" tIns="0" rIns="0" bIns="0" rtlCol="0" anchor="ctr"/>
          <a:lstStyle/>
          <a:p>
            <a:pPr indent="0" marL="0">
              <a:buNone/>
            </a:pPr>
            <a:r>
              <a:rPr lang="en-US" sz="1300" i="1" dirty="0">
                <a:solidFill>
                  <a:srgbClr val="8896AB"/>
                </a:solidFill>
                <a:latin typeface="Calibri" pitchFamily="34" charset="0"/>
                <a:ea typeface="Calibri" pitchFamily="34" charset="-122"/>
                <a:cs typeface="Calibri" pitchFamily="34" charset="-120"/>
              </a:rPr>
              <a:t>Open the notebook and build your own semantic search engine →</a:t>
            </a:r>
            <a:endParaRPr lang="en-US" sz="1300" dirty="0"/>
          </a:p>
        </p:txBody>
      </p:sp>
      <p:sp>
        <p:nvSpPr>
          <p:cNvPr id="9" name="Shape 7"/>
          <p:cNvSpPr/>
          <p:nvPr/>
        </p:nvSpPr>
        <p:spPr>
          <a:xfrm>
            <a:off x="457200" y="1353312"/>
            <a:ext cx="713232" cy="475488"/>
          </a:xfrm>
          <a:prstGeom prst="rect">
            <a:avLst/>
          </a:prstGeom>
          <a:solidFill>
            <a:srgbClr val="1A4B8C"/>
          </a:solidFill>
          <a:ln w="12700">
            <a:solidFill>
              <a:srgbClr val="1A4B8C"/>
            </a:solidFill>
            <a:prstDash val="solid"/>
          </a:ln>
        </p:spPr>
      </p:sp>
      <p:sp>
        <p:nvSpPr>
          <p:cNvPr id="10" name="Text 8"/>
          <p:cNvSpPr/>
          <p:nvPr/>
        </p:nvSpPr>
        <p:spPr>
          <a:xfrm>
            <a:off x="457200" y="1353312"/>
            <a:ext cx="713232"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Sec 1-2</a:t>
            </a:r>
            <a:endParaRPr lang="en-US" sz="900" dirty="0"/>
          </a:p>
        </p:txBody>
      </p:sp>
      <p:sp>
        <p:nvSpPr>
          <p:cNvPr id="11" name="Text 9"/>
          <p:cNvSpPr/>
          <p:nvPr/>
        </p:nvSpPr>
        <p:spPr>
          <a:xfrm>
            <a:off x="1261872" y="1408176"/>
            <a:ext cx="7315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Embed TechSolutions documents with SentenceTransformer</a:t>
            </a:r>
            <a:endParaRPr lang="en-US" sz="1300" dirty="0"/>
          </a:p>
        </p:txBody>
      </p:sp>
      <p:sp>
        <p:nvSpPr>
          <p:cNvPr id="12" name="Shape 10"/>
          <p:cNvSpPr/>
          <p:nvPr/>
        </p:nvSpPr>
        <p:spPr>
          <a:xfrm>
            <a:off x="457200" y="1938528"/>
            <a:ext cx="713232" cy="475488"/>
          </a:xfrm>
          <a:prstGeom prst="rect">
            <a:avLst/>
          </a:prstGeom>
          <a:solidFill>
            <a:srgbClr val="00879E"/>
          </a:solidFill>
          <a:ln w="12700">
            <a:solidFill>
              <a:srgbClr val="00879E"/>
            </a:solidFill>
            <a:prstDash val="solid"/>
          </a:ln>
        </p:spPr>
      </p:sp>
      <p:sp>
        <p:nvSpPr>
          <p:cNvPr id="13" name="Text 11"/>
          <p:cNvSpPr/>
          <p:nvPr/>
        </p:nvSpPr>
        <p:spPr>
          <a:xfrm>
            <a:off x="457200" y="1938528"/>
            <a:ext cx="713232"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Sec 3</a:t>
            </a:r>
            <a:endParaRPr lang="en-US" sz="900" dirty="0"/>
          </a:p>
        </p:txBody>
      </p:sp>
      <p:sp>
        <p:nvSpPr>
          <p:cNvPr id="14" name="Text 12"/>
          <p:cNvSpPr/>
          <p:nvPr/>
        </p:nvSpPr>
        <p:spPr>
          <a:xfrm>
            <a:off x="1261872" y="1993392"/>
            <a:ext cx="7315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Calculate cosine similarity — see 'CEO' match 'founded'</a:t>
            </a:r>
            <a:endParaRPr lang="en-US" sz="1300" dirty="0"/>
          </a:p>
        </p:txBody>
      </p:sp>
      <p:sp>
        <p:nvSpPr>
          <p:cNvPr id="15" name="Shape 13"/>
          <p:cNvSpPr/>
          <p:nvPr/>
        </p:nvSpPr>
        <p:spPr>
          <a:xfrm>
            <a:off x="457200" y="2523744"/>
            <a:ext cx="713232" cy="475488"/>
          </a:xfrm>
          <a:prstGeom prst="rect">
            <a:avLst/>
          </a:prstGeom>
          <a:solidFill>
            <a:srgbClr val="D4891A"/>
          </a:solidFill>
          <a:ln w="12700">
            <a:solidFill>
              <a:srgbClr val="D4891A"/>
            </a:solidFill>
            <a:prstDash val="solid"/>
          </a:ln>
        </p:spPr>
      </p:sp>
      <p:sp>
        <p:nvSpPr>
          <p:cNvPr id="16" name="Text 14"/>
          <p:cNvSpPr/>
          <p:nvPr/>
        </p:nvSpPr>
        <p:spPr>
          <a:xfrm>
            <a:off x="457200" y="2523744"/>
            <a:ext cx="713232" cy="475488"/>
          </a:xfrm>
          <a:prstGeom prst="rect">
            <a:avLst/>
          </a:prstGeom>
          <a:noFill/>
          <a:ln/>
        </p:spPr>
        <p:txBody>
          <a:bodyPr wrap="square" lIns="0" tIns="0" rIns="0" bIns="0" rtlCol="0" anchor="ctr"/>
          <a:lstStyle/>
          <a:p>
            <a:pPr algn="ctr" indent="0" marL="0">
              <a:buNone/>
            </a:pPr>
            <a:r>
              <a:rPr lang="en-US" sz="900" b="1" dirty="0">
                <a:solidFill>
                  <a:srgbClr val="0D2349"/>
                </a:solidFill>
                <a:latin typeface="Trebuchet MS" pitchFamily="34" charset="0"/>
                <a:ea typeface="Trebuchet MS" pitchFamily="34" charset="-122"/>
                <a:cs typeface="Trebuchet MS" pitchFamily="34" charset="-120"/>
              </a:rPr>
              <a:t>Sec 4</a:t>
            </a:r>
            <a:endParaRPr lang="en-US" sz="900" dirty="0"/>
          </a:p>
        </p:txBody>
      </p:sp>
      <p:sp>
        <p:nvSpPr>
          <p:cNvPr id="17" name="Text 15"/>
          <p:cNvSpPr/>
          <p:nvPr/>
        </p:nvSpPr>
        <p:spPr>
          <a:xfrm>
            <a:off x="1261872" y="2578608"/>
            <a:ext cx="7315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Build a Chroma vector database from your documents</a:t>
            </a:r>
            <a:endParaRPr lang="en-US" sz="1300" dirty="0"/>
          </a:p>
        </p:txBody>
      </p:sp>
      <p:sp>
        <p:nvSpPr>
          <p:cNvPr id="18" name="Shape 16"/>
          <p:cNvSpPr/>
          <p:nvPr/>
        </p:nvSpPr>
        <p:spPr>
          <a:xfrm>
            <a:off x="457200" y="3108960"/>
            <a:ext cx="713232" cy="475488"/>
          </a:xfrm>
          <a:prstGeom prst="rect">
            <a:avLst/>
          </a:prstGeom>
          <a:solidFill>
            <a:srgbClr val="00879E"/>
          </a:solidFill>
          <a:ln w="12700">
            <a:solidFill>
              <a:srgbClr val="00879E"/>
            </a:solidFill>
            <a:prstDash val="solid"/>
          </a:ln>
        </p:spPr>
      </p:sp>
      <p:sp>
        <p:nvSpPr>
          <p:cNvPr id="19" name="Text 17"/>
          <p:cNvSpPr/>
          <p:nvPr/>
        </p:nvSpPr>
        <p:spPr>
          <a:xfrm>
            <a:off x="457200" y="3108960"/>
            <a:ext cx="713232"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Sec 5</a:t>
            </a:r>
            <a:endParaRPr lang="en-US" sz="900" dirty="0"/>
          </a:p>
        </p:txBody>
      </p:sp>
      <p:sp>
        <p:nvSpPr>
          <p:cNvPr id="20" name="Text 18"/>
          <p:cNvSpPr/>
          <p:nvPr/>
        </p:nvSpPr>
        <p:spPr>
          <a:xfrm>
            <a:off x="1261872" y="3163824"/>
            <a:ext cx="7315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Run semantic search — watch 'Who founded?' return Priya</a:t>
            </a:r>
            <a:endParaRPr lang="en-US" sz="1300" dirty="0"/>
          </a:p>
        </p:txBody>
      </p:sp>
      <p:sp>
        <p:nvSpPr>
          <p:cNvPr id="21" name="Shape 19"/>
          <p:cNvSpPr/>
          <p:nvPr/>
        </p:nvSpPr>
        <p:spPr>
          <a:xfrm>
            <a:off x="457200" y="3694176"/>
            <a:ext cx="713232" cy="475488"/>
          </a:xfrm>
          <a:prstGeom prst="rect">
            <a:avLst/>
          </a:prstGeom>
          <a:solidFill>
            <a:srgbClr val="1A4B8C"/>
          </a:solidFill>
          <a:ln w="12700">
            <a:solidFill>
              <a:srgbClr val="1A4B8C"/>
            </a:solidFill>
            <a:prstDash val="solid"/>
          </a:ln>
        </p:spPr>
      </p:sp>
      <p:sp>
        <p:nvSpPr>
          <p:cNvPr id="22" name="Text 20"/>
          <p:cNvSpPr/>
          <p:nvPr/>
        </p:nvSpPr>
        <p:spPr>
          <a:xfrm>
            <a:off x="457200" y="3694176"/>
            <a:ext cx="713232"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Sec 6</a:t>
            </a:r>
            <a:endParaRPr lang="en-US" sz="900" dirty="0"/>
          </a:p>
        </p:txBody>
      </p:sp>
      <p:sp>
        <p:nvSpPr>
          <p:cNvPr id="23" name="Text 21"/>
          <p:cNvSpPr/>
          <p:nvPr/>
        </p:nvSpPr>
        <p:spPr>
          <a:xfrm>
            <a:off x="1261872" y="3749040"/>
            <a:ext cx="7315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Visualize document clusters with t-SNE (matplotlib)</a:t>
            </a:r>
            <a:endParaRPr lang="en-US" sz="1300" dirty="0"/>
          </a:p>
        </p:txBody>
      </p:sp>
      <p:sp>
        <p:nvSpPr>
          <p:cNvPr id="24" name="Shape 22"/>
          <p:cNvSpPr/>
          <p:nvPr/>
        </p:nvSpPr>
        <p:spPr>
          <a:xfrm>
            <a:off x="457200" y="4279392"/>
            <a:ext cx="713232" cy="475488"/>
          </a:xfrm>
          <a:prstGeom prst="rect">
            <a:avLst/>
          </a:prstGeom>
          <a:solidFill>
            <a:srgbClr val="8896AB"/>
          </a:solidFill>
          <a:ln w="12700">
            <a:solidFill>
              <a:srgbClr val="8896AB"/>
            </a:solidFill>
            <a:prstDash val="solid"/>
          </a:ln>
        </p:spPr>
      </p:sp>
      <p:sp>
        <p:nvSpPr>
          <p:cNvPr id="25" name="Text 23"/>
          <p:cNvSpPr/>
          <p:nvPr/>
        </p:nvSpPr>
        <p:spPr>
          <a:xfrm>
            <a:off x="457200" y="4279392"/>
            <a:ext cx="713232"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Sec 7</a:t>
            </a:r>
            <a:endParaRPr lang="en-US" sz="900" dirty="0"/>
          </a:p>
        </p:txBody>
      </p:sp>
      <p:sp>
        <p:nvSpPr>
          <p:cNvPr id="26" name="Text 24"/>
          <p:cNvSpPr/>
          <p:nvPr/>
        </p:nvSpPr>
        <p:spPr>
          <a:xfrm>
            <a:off x="1261872" y="4334256"/>
            <a:ext cx="7315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Compare with keyword search from the RAG notebook</a:t>
            </a:r>
            <a:endParaRPr lang="en-US" sz="1300" dirty="0"/>
          </a:p>
        </p:txBody>
      </p:sp>
      <p:sp>
        <p:nvSpPr>
          <p:cNvPr id="27" name="Shape 25"/>
          <p:cNvSpPr/>
          <p:nvPr/>
        </p:nvSpPr>
        <p:spPr>
          <a:xfrm>
            <a:off x="457200" y="4645152"/>
            <a:ext cx="8229600" cy="402336"/>
          </a:xfrm>
          <a:prstGeom prst="rect">
            <a:avLst/>
          </a:prstGeom>
          <a:solidFill>
            <a:srgbClr val="0D2349"/>
          </a:solidFill>
          <a:ln w="12700">
            <a:solidFill>
              <a:srgbClr val="1A4B8C"/>
            </a:solidFill>
            <a:prstDash val="solid"/>
          </a:ln>
        </p:spPr>
      </p:sp>
      <p:sp>
        <p:nvSpPr>
          <p:cNvPr id="28" name="Text 26"/>
          <p:cNvSpPr/>
          <p:nvPr/>
        </p:nvSpPr>
        <p:spPr>
          <a:xfrm>
            <a:off x="594360" y="4645152"/>
            <a:ext cx="8046720" cy="402336"/>
          </a:xfrm>
          <a:prstGeom prst="rect">
            <a:avLst/>
          </a:prstGeom>
          <a:noFill/>
          <a:ln/>
        </p:spPr>
        <p:txBody>
          <a:bodyPr wrap="square" lIns="0" tIns="0" rIns="0" bIns="0" rtlCol="0" anchor="ctr"/>
          <a:lstStyle/>
          <a:p>
            <a:pPr indent="0" marL="0">
              <a:buNone/>
            </a:pPr>
            <a:r>
              <a:rPr lang="en-US" sz="1050" b="1" dirty="0">
                <a:solidFill>
                  <a:srgbClr val="F2A829"/>
                </a:solidFill>
                <a:latin typeface="Calibri" pitchFamily="34" charset="0"/>
                <a:ea typeface="Calibri" pitchFamily="34" charset="-122"/>
                <a:cs typeface="Calibri" pitchFamily="34" charset="-120"/>
              </a:rPr>
              <a:t>The big test: </a:t>
            </a:r>
            <a:pPr indent="0" marL="0">
              <a:buNone/>
            </a:pPr>
            <a:r>
              <a:rPr lang="en-US" sz="1050" dirty="0">
                <a:solidFill>
                  <a:srgbClr val="8896AB"/>
                </a:solidFill>
                <a:latin typeface="Calibri" pitchFamily="34" charset="0"/>
                <a:ea typeface="Calibri" pitchFamily="34" charset="-122"/>
                <a:cs typeface="Calibri" pitchFamily="34" charset="-120"/>
              </a:rPr>
              <a:t>ask </a:t>
            </a:r>
            <a:pPr indent="0" marL="0">
              <a:buNone/>
            </a:pPr>
            <a:r>
              <a:rPr lang="en-US" sz="1050" dirty="0">
                <a:solidFill>
                  <a:srgbClr val="4EC9B0"/>
                </a:solidFill>
                <a:latin typeface="Calibri" pitchFamily="34" charset="0"/>
                <a:ea typeface="Calibri" pitchFamily="34" charset="-122"/>
                <a:cs typeface="Calibri" pitchFamily="34" charset="-120"/>
              </a:rPr>
              <a:t>"Who founded the company?"</a:t>
            </a:r>
            <a:pPr indent="0" marL="0">
              <a:buNone/>
            </a:pPr>
            <a:r>
              <a:rPr lang="en-US" sz="1050" dirty="0">
                <a:solidFill>
                  <a:srgbClr val="8896AB"/>
                </a:solidFill>
                <a:latin typeface="Calibri" pitchFamily="34" charset="0"/>
                <a:ea typeface="Calibri" pitchFamily="34" charset="-122"/>
                <a:cs typeface="Calibri" pitchFamily="34" charset="-120"/>
              </a:rPr>
              <a:t> — watch semantic search find Priya when keyword search couldn't.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Vector Embeddings &amp; Semantic Search</dc:title>
  <dc:subject>PptxGenJS Presentation</dc:subject>
  <dc:creator>AI CoE – CV Raman Global University</dc:creator>
  <cp:lastModifiedBy>AI CoE – CV Raman Global University</cp:lastModifiedBy>
  <cp:revision>1</cp:revision>
  <dcterms:created xsi:type="dcterms:W3CDTF">2026-03-03T02:07:42Z</dcterms:created>
  <dcterms:modified xsi:type="dcterms:W3CDTF">2026-03-03T02:07:42Z</dcterms:modified>
</cp:coreProperties>
</file>