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UNIT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RAG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Systems Engineering 1</a:t>
            </a:r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  |  </a:t>
            </a:r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CV Raman Global University, Bhubaneswar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4930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AI Center of Excellence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114800"/>
            <a:ext cx="256032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11480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97280" y="4114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Retrieval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4114800"/>
            <a:ext cx="256032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411480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931920" y="4114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Augmented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0" y="4114800"/>
            <a:ext cx="256032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411480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G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4114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" cy="6766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06070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Why LLMs need help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3350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Understanding the limitations of large language models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10512"/>
            <a:ext cx="502920" cy="6766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10512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8653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What RAG 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21396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Definition, acronym, and three intuitive analogies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15184"/>
            <a:ext cx="502920" cy="6766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15184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67004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How the RAG pipeline works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294436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Retrieval → Augmentation → Generation — step by step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419856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19856"/>
            <a:ext cx="502920" cy="6766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19856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Temperature &amp; LLM parameters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37490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Why factual tasks use temperature = 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224528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24528"/>
            <a:ext cx="502920" cy="6766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24528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27939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What we'll build in the notebook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45537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complete RAG chatbot with pipeline visibility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 Are Impressive, But...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LLMs can write essays, translate languages, generate code — they're incredibly capable. But they have blind spots: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  Company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Employee details, policies, pricing, internal documents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716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  Recent Events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84708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News and information after the training cutoff date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63240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63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  Private Documents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35387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Internal reports, meeting notes, proprietary 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63240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063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  Domain Knowledge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5387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Niche industry data, local context, specialized fields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Ask students: If you asked ChatGPT about our university's exam schedule, would it know?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Hallucination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When LLMs don't know the answer, they don't say "I don't know." — They guess, confidently.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8412480" cy="502920"/>
          </a:xfrm>
          <a:prstGeom prst="rect">
            <a:avLst/>
          </a:prstGeom>
          <a:solidFill>
            <a:srgbClr val="CCE9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Q: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"Who is the CEO of TechSolutions India?"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502920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86000"/>
            <a:ext cx="502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359152"/>
            <a:ext cx="7589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CEO of TechSolutions India is Rajesh Kumar. He has over 20 years of experience in the IT industry and holds an MBA from IIM Ahmedabad."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⚠  Every detail above is fabricated — but it sounds completely believable.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526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2626"/>
                </a:solidFill>
              </a:rPr>
              <a:t>This behavior is called HALLUCINATION — and it's dangerous in production systems.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 — Give It the Right Information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What if we could give the LLM a cheat sheet before it answers?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402336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WITHOUT CONTEXT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Q: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"Who is the CEO?"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65760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688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2626"/>
                </a:solidFill>
              </a:rPr>
              <a:t>"The CEO is Rajesh Kumar, MBA from IIM..." ❌ Hallucination!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365760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661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Result: Wrong, fabricated answer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834640"/>
            <a:ext cx="4572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2606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84632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280160"/>
            <a:ext cx="402336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80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WITH CONTEXT (RAG)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874520"/>
            <a:ext cx="365760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901952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6534"/>
                </a:solidFill>
              </a:rPr>
              <a:t>Context: "TechSolutions India... CEO: Priya Sharma..."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Q: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"Who is the CEO?"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2971800"/>
            <a:ext cx="36576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99923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</a:rPr>
              <a:t>"The CEO is Priya Sharma." ✅ Correct!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3657600"/>
            <a:ext cx="365760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7033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</a:rPr>
              <a:t>Result: Accurate, grounded answer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28090"/>
                </a:solidFill>
              </a:rPr>
              <a:t>Provide the right documents → get the right answer. This is the core insight behind RAG.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Analogy 1 — Open-Book vs Closed-Book Exam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96112"/>
            <a:ext cx="393192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9611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📚  Closed-Book (LLM Alone)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896112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896112"/>
            <a:ext cx="393192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89611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📖  Open-Book (LLM + RAG)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554480"/>
            <a:ext cx="393192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554480"/>
            <a:ext cx="393192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Knowledge source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1847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Only what's memorized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(training data)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6002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Can look 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reference materials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04288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2304288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50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Accuracy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5968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May guess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hallucinate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3500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Answers grounded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in real documents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054096"/>
            <a:ext cx="393192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3054096"/>
            <a:ext cx="393192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099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Current info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3467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Frozen 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training cutoff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09981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Can access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up-to-date info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80390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380390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8496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Domain knowledge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0965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General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knowledge only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84962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Can use specialized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documents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Which exam would you prefer for a subject you haven't studied? That's exactly the choice we're making for the LLM.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3774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Analogy 2 — The New Employee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Imagine a smart new employee on their first day at work. Someone asks: "What's our company's leave policy?"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764792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64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7007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🔍  SEARCH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0482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employee searches the company wiki for "leave policy"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792224"/>
            <a:ext cx="1691640" cy="502920"/>
          </a:xfrm>
          <a:prstGeom prst="rect">
            <a:avLst/>
          </a:prstGeom>
          <a:solidFill>
            <a:srgbClr val="CCE9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79222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Retrieval Step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752344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523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26883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📄  READ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0358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employee reads the relevant page from the wiki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2779776"/>
            <a:ext cx="1691640" cy="502920"/>
          </a:xfrm>
          <a:prstGeom prst="rect">
            <a:avLst/>
          </a:prstGeom>
          <a:solidFill>
            <a:srgbClr val="CCE9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779776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Augmentation Step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02736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739896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39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88720" y="3675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💬  ANSWER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employee answers the question using what they found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3767328"/>
            <a:ext cx="1691640" cy="502920"/>
          </a:xfrm>
          <a:prstGeom prst="rect">
            <a:avLst/>
          </a:prstGeom>
          <a:solidFill>
            <a:srgbClr val="CCE9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7673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Generation Step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CCE9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That's exactly what RAG does — but with an LLM instead of an employee.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Analogy 3 — The Librarian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You walk into a library and ask a question. The librarian doesn't have every book memorized. Instead: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630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1. FINDS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Locates the right books on the shelf that answer your question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4630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👁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46120" y="22402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2. READS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Reads the relevant sections and extracts key information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37160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4630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🗣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72200" y="22402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3. ANSWERS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697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Gives you the answer based on what she read from the books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096512"/>
            <a:ext cx="8412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9651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 librarian is </a:t>
            </a:r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SMART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(like an LLM) but still needs to </a:t>
            </a:r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LOOK THINGS UP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(like RAG)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Three analogies — same pattern: Search → Read → Answer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5303520" cy="1051560"/>
          </a:xfrm>
          <a:prstGeom prst="rect">
            <a:avLst/>
          </a:prstGeom>
          <a:solidFill>
            <a:srgbClr val="0D225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777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325880" y="54864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etrieval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5303520" cy="1051560"/>
          </a:xfrm>
          <a:prstGeom prst="rect">
            <a:avLst/>
          </a:prstGeom>
          <a:solidFill>
            <a:srgbClr val="0D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777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ugmented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5303520" cy="1051560"/>
          </a:xfrm>
          <a:prstGeom prst="rect">
            <a:avLst/>
          </a:prstGeom>
          <a:solidFill>
            <a:srgbClr val="0D2255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777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A8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325880" y="310896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eneration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65760" y="4297680"/>
            <a:ext cx="530352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9768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Find relevant docs → Add to prompt → Generate accurate answer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365760"/>
            <a:ext cx="3063240" cy="4572000"/>
          </a:xfrm>
          <a:prstGeom prst="rect">
            <a:avLst/>
          </a:prstGeom>
          <a:solidFill>
            <a:srgbClr val="0D225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5029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One-Line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Definition: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12344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 technique that gives LLMs access to external knowledge by finding relevant information and injecting it into the prompt.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3200400"/>
            <a:ext cx="283464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337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In short: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36576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Smarter answers through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external knowledge.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234440"/>
            <a:ext cx="19202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8105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❓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2560320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User asks a question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48840" y="22860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23160" y="12344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234440"/>
            <a:ext cx="19202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18105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14600" y="2560320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Search the knowledge base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43400" y="22860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234440"/>
            <a:ext cx="19202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AUGMENTATION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18105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📎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09160" y="2560320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Add retrieved docs to the prompt as context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22860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12280" y="12344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234440"/>
            <a:ext cx="192024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18105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✨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903720" y="2560320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LLM generates answer using the context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160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Each step is distinct — and each step can be improved independently.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Q → Retrieval → Augmentation → Generation → Answer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Pipeline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868680"/>
            <a:ext cx="4572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868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User: "Who is the CEO?"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44568" y="1417320"/>
            <a:ext cx="54864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45920" y="1920240"/>
            <a:ext cx="5852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0" y="1920240"/>
            <a:ext cx="164592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920240"/>
            <a:ext cx="1645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9339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Searches knowledge base → finds company doc: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"TechSolutions India... CEO: Priya Sharma..."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06240" y="27432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45920" y="2926080"/>
            <a:ext cx="5852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45920" y="2926080"/>
            <a:ext cx="164592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926080"/>
            <a:ext cx="1645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AUGMENTATION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99923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Adds the found document to the system prompt as context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06240" y="37490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45920" y="3931920"/>
            <a:ext cx="5852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645920" y="3931920"/>
            <a:ext cx="164592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3931920"/>
            <a:ext cx="1645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40050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LLM reads context + question → "The CEO is Priya Sharma." ✅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This exact flow is what the notebook's answer_question_verbose() function makes visible.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RAG?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4747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868680"/>
            <a:ext cx="475488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86868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RAG SOLUTION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8988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Knowledge cutoff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1389888"/>
            <a:ext cx="36576" cy="6217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389888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</a:rPr>
              <a:t>Provide up-to-date documents at query time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084832"/>
            <a:ext cx="841248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49424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84832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Hallucinations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31920" y="2084832"/>
            <a:ext cx="36576" cy="6217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2084832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</a:rPr>
              <a:t>Ground answers in real, retrieved documents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2779776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44368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779776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Domain expertise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31920" y="2779776"/>
            <a:ext cx="36576" cy="6217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2779776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</a:rPr>
              <a:t>Add company-specific or niche knowledge instantly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841248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3931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474720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31920" y="3474720"/>
            <a:ext cx="36576" cy="6217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347472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</a:rPr>
              <a:t>Far cheaper than fine-tuning — any company can build RAG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" y="4169664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334256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169664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Transparency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931920" y="4169664"/>
            <a:ext cx="36576" cy="6217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4169664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</a:rPr>
              <a:t>Can cite sources — users see where answers come from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Key point: Fine-tuning is expensive and needs ML expertise. RAG just needs good documents.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Temperature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Temperature controls how random or deterministic the LLM's output 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627632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1261872"/>
            <a:ext cx="1627632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12464" y="1261872"/>
            <a:ext cx="162763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0096" y="1261872"/>
            <a:ext cx="16276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67728" y="1261872"/>
            <a:ext cx="162763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3619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0.0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81051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Deterministic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153619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0.5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84832" y="181051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Balanced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12464" y="153619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1.0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12464" y="181051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Creative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0096" y="153619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1.5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0096" y="181051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Wild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67728" y="153619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2.0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67728" y="181051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Chaotic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176272"/>
            <a:ext cx="10972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2176272"/>
            <a:ext cx="43891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2176272"/>
            <a:ext cx="29260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17627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217627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Behavior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217627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For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2560320"/>
            <a:ext cx="841248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560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0.0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08760" y="256032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Always picks the most likely word. Same input = same output every time.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9788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Factual Q&amp;A, RAG, data extraction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035808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0358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0.3–0.5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08760" y="30358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Mostly deterministic with slight variation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97880" y="30358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Summarization, translation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511296"/>
            <a:ext cx="841248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5112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0.7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508760" y="351129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Balanced creativity (OpenAI's default setting)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97880" y="351129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General conversation, writing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986784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98678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1.0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508760" y="39867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More diverse and creative outputs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97880" y="39867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Brainstorming, creative writing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462272"/>
            <a:ext cx="841248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4622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&gt; 1.0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508760" y="446227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Increasingly random and unpredictable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97880" y="44622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Rarely useful in practice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Prompt: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"Suggest a tagline for a tech company in Bhubaneswar."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44752"/>
            <a:ext cx="173736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temp = 0.0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Deterministic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53619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Attempt 1: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"Innovating Tomorrow from the Temple City"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1956816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Attempt 2: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"Innovating Tomorrow from the Temple City"  ← SAME!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87752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87752"/>
            <a:ext cx="173736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060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temp = 0.7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0815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Balanced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67919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Attempt 1: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"Innovating Tomorrow from the Temple City"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3099816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Attempt 2: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"Where Heritage Meets Innovation"  ← slight variation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730752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30752"/>
            <a:ext cx="173736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490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temp = 1.0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42245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Creative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382219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Attempt 1: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"Code Meets Culture in the Heart of Odisha"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94560" y="4242816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Attempt 2: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"Silicon Shores of the Eastern Coast"  ← very different!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The notebook has a live demo — students run this and see the difference themselves.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RAG Uses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= 0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2560320" cy="2286000"/>
          </a:xfrm>
          <a:prstGeom prst="rect">
            <a:avLst/>
          </a:prstGeom>
          <a:solidFill>
            <a:srgbClr val="0D225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65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6700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Faithfully Report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2724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LLM reports exactly what's in the document — no embellishments or additions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874520"/>
            <a:ext cx="2560320" cy="2286000"/>
          </a:xfrm>
          <a:prstGeom prst="rect">
            <a:avLst/>
          </a:prstGeom>
          <a:solidFill>
            <a:srgbClr val="0D225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965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🚫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91840" y="26700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Don't Add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312724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Creative improvisation is the enemy of factual answers — temperature = 0 prevents 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874520"/>
            <a:ext cx="2560320" cy="2286000"/>
          </a:xfrm>
          <a:prstGeom prst="rect">
            <a:avLst/>
          </a:prstGeom>
          <a:solidFill>
            <a:srgbClr val="0D225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965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🔁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26700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Consistent Answers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312724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Same question always gets the same answer — reliability is critical in production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15968"/>
            <a:ext cx="804672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1596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temp = 0 means: "Just read the context and answer accurately."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Build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In the notebook, you'll build a complete RAG system from scratch: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47548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3075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Section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1353312"/>
            <a:ext cx="18288" cy="4754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26187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Create a set of documents about TechSolutions India — the LLM's external memory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11680"/>
            <a:ext cx="47548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11680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057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Section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Temperature Demo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71800" y="2103120"/>
            <a:ext cx="18288" cy="4754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0116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Compare temperature settings live — see deterministic vs creative outputs in real time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276148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61488"/>
            <a:ext cx="47548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61488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28072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Sections 5–6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035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Keyword Retrieval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971800" y="2852928"/>
            <a:ext cx="18288" cy="4754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76148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Build a search function to find relevant documents from the knowledge base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" y="351129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511296"/>
            <a:ext cx="47548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11296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120" y="35570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Sections 7–8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7856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Gradio Chatbot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971800" y="3602736"/>
            <a:ext cx="18288" cy="4754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511296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Create an interactive chat interface powered by your complete RAG pipeline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65760" y="42611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4261104"/>
            <a:ext cx="47548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261104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60120" y="43068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Section 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0120" y="45354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Pipeline Visibility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971800" y="4352544"/>
            <a:ext cx="18288" cy="4754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4680" y="4261104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Watch each RAG step run in real time — Retrieval → Augmentation → Generation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Preview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⚠  Our retrieval today is intentionally simple — keyword matching only.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2976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389888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8988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3898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Happens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83664"/>
            <a:ext cx="84124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8366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</a:rPr>
              <a:t>"Who is Priya?"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8836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</a:rPr>
              <a:t>✅ Matches 'priya' document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84124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9572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</a:rPr>
              <a:t>"Who is the CEO?"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3957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</a:rPr>
              <a:t>✅ Matches 'company' doc (has 'CEO' keyword)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841248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0779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</a:rPr>
              <a:t>"Who founded the company?"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9077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❌ May MISS the 'priya' doc entirely — wrong keyword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419856"/>
            <a:ext cx="84124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198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</a:rPr>
              <a:t>"What's the leave policy?"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4198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</a:rPr>
              <a:t>✅ Matches 'policies' doc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841248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319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</a:rPr>
              <a:t>"Tell me about company leadership"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931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❌ Vague query — keyword match fails silently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480560"/>
            <a:ext cx="841248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8056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Next notebook: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Vector embeddings &amp; semantic search — finding documents by MEANING, not just keywords.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Demos &amp; Resources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34440" y="1024128"/>
            <a:ext cx="868680" cy="256032"/>
          </a:xfrm>
          <a:prstGeom prst="rect">
            <a:avLst/>
          </a:prstGeom>
          <a:solidFill>
            <a:srgbClr val="CCE9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02412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Video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IBM: What is RAG?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9601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ibm.com/think/videos/rag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26187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Clear video overview of RAG — great as a pre-class assignment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70078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🛝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4440" y="1810512"/>
            <a:ext cx="868680" cy="256032"/>
          </a:xfrm>
          <a:prstGeom prst="rect">
            <a:avLst/>
          </a:prstGeom>
          <a:solidFill>
            <a:srgbClr val="CCE9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181051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Interactive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20482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RAG Playground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174650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ragplay.vercel.app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04825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Live demo of chunking, embeddings, and retrieval happening in real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48716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4871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234440" y="2596896"/>
            <a:ext cx="868680" cy="256032"/>
          </a:xfrm>
          <a:prstGeom prst="rect">
            <a:avLst/>
          </a:prstGeom>
          <a:solidFill>
            <a:srgbClr val="CCE9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259689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Reference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3444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RAG Pipeline Diagrams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253288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designveloper.com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28346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Visual diagrams of the full RAG architecture for reference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2735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234440" y="3383280"/>
            <a:ext cx="868680" cy="256032"/>
          </a:xfrm>
          <a:prstGeom prst="rect">
            <a:avLst/>
          </a:prstGeom>
          <a:solidFill>
            <a:srgbClr val="CCE9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33832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Course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34440" y="3621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DeepLearning.AI RAG Course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0" y="331927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learn.deeplearning.ai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362102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Full course on building RAG systems from the team at DeepLearning.AI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59936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405993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234440" y="4169664"/>
            <a:ext cx="868680" cy="256032"/>
          </a:xfrm>
          <a:prstGeom prst="rect">
            <a:avLst/>
          </a:prstGeom>
          <a:solidFill>
            <a:srgbClr val="CCE9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4440" y="416966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Guide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34440" y="4407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RAG Architecture Guide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0" y="410565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clickittech.com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0" y="440740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Detailed architecture diagrams and implementation patterns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8920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Tip: Live-demo the RAG Playground in class — students can see chunking and retrieval in action.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676656"/>
          </a:xfrm>
          <a:prstGeom prst="rect">
            <a:avLst/>
          </a:prstGeom>
          <a:solidFill>
            <a:srgbClr val="0D225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78992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0424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LLMs hallucinate without context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33502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RAG fixes this by providing real, retrieved documents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8229600" cy="676656"/>
          </a:xfrm>
          <a:prstGeom prst="rect">
            <a:avLst/>
          </a:prstGeom>
          <a:solidFill>
            <a:srgbClr val="0D225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83664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8366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847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RAG = Retrieval + Augmentation + Generation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1396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Find the docs → inject them → generate accurate answers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8229600" cy="676656"/>
          </a:xfrm>
          <a:prstGeom prst="rect">
            <a:avLst/>
          </a:prstGeom>
          <a:solidFill>
            <a:srgbClr val="0D225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88336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8833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Temperature = 0 for factual answers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29443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Deterministic, consistent output — no creative guessing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01568"/>
            <a:ext cx="8229600" cy="676656"/>
          </a:xfrm>
          <a:prstGeom prst="rect">
            <a:avLst/>
          </a:prstGeom>
          <a:solidFill>
            <a:srgbClr val="0D225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93008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930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456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Simple keyword retrieval works — but has limits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3749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"CEO" won't match the Priya doc — meaning matters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676656"/>
          </a:xfrm>
          <a:prstGeom prst="rect">
            <a:avLst/>
          </a:prstGeom>
          <a:solidFill>
            <a:srgbClr val="0D225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97680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9768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261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Next: Embeddings &amp; semantic search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88720" y="45537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Finding documents by meaning, not just exact keywords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983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Ask students to explain RAG using one of the three analogies. If they can explain it, they've got it.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4: Introduction to RAG</dc:title>
  <dc:subject>PptxGenJS Presentation</dc:subject>
  <dc:creator>CV Raman Global University — AI CoE</dc:creator>
  <cp:lastModifiedBy>CV Raman Global University — AI CoE</cp:lastModifiedBy>
  <cp:revision>1</cp:revision>
  <dcterms:created xsi:type="dcterms:W3CDTF">2026-02-28T01:46:01Z</dcterms:created>
  <dcterms:modified xsi:type="dcterms:W3CDTF">2026-02-28T01:46:01Z</dcterms:modified>
</cp:coreProperties>
</file>